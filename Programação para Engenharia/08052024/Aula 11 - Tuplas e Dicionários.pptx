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314" r:id="rId2"/>
    <p:sldId id="365" r:id="rId3"/>
    <p:sldId id="353" r:id="rId4"/>
    <p:sldId id="354" r:id="rId5"/>
    <p:sldId id="455" r:id="rId6"/>
    <p:sldId id="456" r:id="rId7"/>
    <p:sldId id="459" r:id="rId8"/>
    <p:sldId id="460" r:id="rId9"/>
    <p:sldId id="458" r:id="rId10"/>
    <p:sldId id="355" r:id="rId11"/>
    <p:sldId id="428" r:id="rId12"/>
    <p:sldId id="453" r:id="rId13"/>
    <p:sldId id="461" r:id="rId14"/>
    <p:sldId id="454" r:id="rId15"/>
    <p:sldId id="432" r:id="rId16"/>
    <p:sldId id="452" r:id="rId17"/>
    <p:sldId id="356" r:id="rId18"/>
    <p:sldId id="357" r:id="rId19"/>
    <p:sldId id="358" r:id="rId20"/>
    <p:sldId id="437" r:id="rId21"/>
    <p:sldId id="364" r:id="rId22"/>
    <p:sldId id="436" r:id="rId23"/>
    <p:sldId id="438" r:id="rId24"/>
    <p:sldId id="435" r:id="rId25"/>
    <p:sldId id="439" r:id="rId26"/>
    <p:sldId id="359" r:id="rId27"/>
    <p:sldId id="440" r:id="rId28"/>
    <p:sldId id="361" r:id="rId29"/>
    <p:sldId id="441" r:id="rId30"/>
    <p:sldId id="362" r:id="rId31"/>
    <p:sldId id="442" r:id="rId32"/>
    <p:sldId id="443" r:id="rId33"/>
    <p:sldId id="363" r:id="rId34"/>
    <p:sldId id="444" r:id="rId35"/>
    <p:sldId id="449" r:id="rId36"/>
    <p:sldId id="445" r:id="rId37"/>
    <p:sldId id="424" r:id="rId38"/>
    <p:sldId id="450" r:id="rId39"/>
    <p:sldId id="451" r:id="rId40"/>
    <p:sldId id="446" r:id="rId41"/>
    <p:sldId id="447" r:id="rId42"/>
    <p:sldId id="448" r:id="rId43"/>
    <p:sldId id="433" r:id="rId44"/>
    <p:sldId id="434" r:id="rId45"/>
    <p:sldId id="289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96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08/05/2024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427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474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883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313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810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077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785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096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91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926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515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200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455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044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154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009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6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899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924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487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623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9244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803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44548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023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6311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428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709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6388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2992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1434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4215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9895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8624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Tuplas e Dicionários em Python</a:t>
            </a:r>
            <a:br>
              <a:rPr lang="pt-BR" b="1" dirty="0"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8D5C123D-79DD-84D0-C40E-346BFA23D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7250"/>
          </a:xfrm>
        </p:spPr>
        <p:txBody>
          <a:bodyPr>
            <a:normAutofit fontScale="70000" lnSpcReduction="20000"/>
          </a:bodyPr>
          <a:lstStyle/>
          <a:p>
            <a:r>
              <a:rPr lang="pt-BR" altLang="pt-BR" sz="28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E0F18AD-AB9F-4427-983D-D5356293741F}"/>
              </a:ext>
            </a:extLst>
          </p:cNvPr>
          <p:cNvSpPr txBox="1"/>
          <p:nvPr/>
        </p:nvSpPr>
        <p:spPr>
          <a:xfrm>
            <a:off x="657496" y="488236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Variáveis de estrutura de dados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872585-2DA2-4D56-9B07-E82FDFEAE8E5}"/>
              </a:ext>
            </a:extLst>
          </p:cNvPr>
          <p:cNvSpPr txBox="1"/>
          <p:nvPr/>
        </p:nvSpPr>
        <p:spPr>
          <a:xfrm>
            <a:off x="752498" y="1451317"/>
            <a:ext cx="1068700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Em Python é possível compor estruturas de dados primitivas, e armazená-las em outras estruturas, chamadas de estruturas compostas.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75000"/>
                  </a:schemeClr>
                </a:solidFill>
              </a:rPr>
              <a:t>Listas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Tuplas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Dicionários </a:t>
            </a:r>
          </a:p>
        </p:txBody>
      </p:sp>
    </p:spTree>
    <p:extLst>
      <p:ext uri="{BB962C8B-B14F-4D97-AF65-F5344CB8AC3E}">
        <p14:creationId xmlns:p14="http://schemas.microsoft.com/office/powerpoint/2010/main" val="398407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Tuplas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Tupla</a:t>
            </a:r>
            <a:r>
              <a:rPr lang="pt-BR" sz="2800" dirty="0"/>
              <a:t>, assim como a </a:t>
            </a:r>
            <a:r>
              <a:rPr lang="pt-BR" sz="2800" b="1" dirty="0"/>
              <a:t>Lista</a:t>
            </a:r>
            <a:r>
              <a:rPr lang="pt-BR" sz="2800" dirty="0"/>
              <a:t> é um conjunto sequencial de valores, onde cada valor é identificado através de um índice.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A principal diferença entre elas é que as </a:t>
            </a:r>
            <a:r>
              <a:rPr lang="pt-BR" sz="2800" dirty="0" err="1">
                <a:solidFill>
                  <a:srgbClr val="FF0000"/>
                </a:solidFill>
              </a:rPr>
              <a:t>tuplas</a:t>
            </a:r>
            <a:r>
              <a:rPr lang="pt-BR" sz="2800" dirty="0">
                <a:solidFill>
                  <a:srgbClr val="FF0000"/>
                </a:solidFill>
              </a:rPr>
              <a:t> são imutáveis</a:t>
            </a:r>
            <a:r>
              <a:rPr lang="pt-BR" sz="2800" dirty="0"/>
              <a:t>, ou seja, seus </a:t>
            </a:r>
            <a:r>
              <a:rPr lang="pt-BR" sz="2800" dirty="0">
                <a:solidFill>
                  <a:srgbClr val="FF0000"/>
                </a:solidFill>
              </a:rPr>
              <a:t>elementos não podem ser alterados.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FF0000"/>
              </a:solidFill>
            </a:endParaRPr>
          </a:p>
          <a:p>
            <a:pPr algn="just"/>
            <a:r>
              <a:rPr lang="pt-BR" sz="2800" dirty="0"/>
              <a:t>Este fato faz com que as tuplas sejam mais compactas e eficazes em termos de memória e eficiência. </a:t>
            </a:r>
            <a:r>
              <a:rPr lang="pt-BR" sz="2800" dirty="0">
                <a:solidFill>
                  <a:srgbClr val="FF0000"/>
                </a:solidFill>
              </a:rPr>
              <a:t>OBS: usar parênteses em vez de colchetes (listas).</a:t>
            </a:r>
          </a:p>
          <a:p>
            <a:pPr lvl="5" algn="just"/>
            <a:endParaRPr lang="pt-BR" sz="2800" dirty="0"/>
          </a:p>
          <a:p>
            <a:pPr lvl="5" algn="just"/>
            <a:r>
              <a:rPr lang="pt-BR" sz="2800" dirty="0" err="1"/>
              <a:t>nome_tupla</a:t>
            </a:r>
            <a:r>
              <a:rPr lang="pt-BR" sz="2800" dirty="0"/>
              <a:t> = </a:t>
            </a:r>
            <a:r>
              <a:rPr lang="pt-BR" sz="2800" dirty="0">
                <a:solidFill>
                  <a:srgbClr val="FF0000"/>
                </a:solidFill>
              </a:rPr>
              <a:t>(</a:t>
            </a:r>
            <a:r>
              <a:rPr lang="pt-BR" sz="2800" dirty="0"/>
              <a:t>valor1, valor2, ..., </a:t>
            </a:r>
            <a:r>
              <a:rPr lang="pt-BR" sz="2800" dirty="0" err="1"/>
              <a:t>valorN</a:t>
            </a:r>
            <a:r>
              <a:rPr lang="pt-BR" sz="28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857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Tuplas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5" algn="just"/>
            <a:endParaRPr lang="pt-BR" sz="2800" dirty="0"/>
          </a:p>
          <a:p>
            <a:pPr lvl="5" algn="just"/>
            <a:endParaRPr lang="pt-BR" sz="2800" dirty="0"/>
          </a:p>
        </p:txBody>
      </p:sp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C3A6927D-BB34-4C92-98F2-1AD5BE29D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7" y="1380446"/>
            <a:ext cx="3992944" cy="2048554"/>
          </a:xfrm>
          <a:prstGeom prst="rect">
            <a:avLst/>
          </a:prstGeom>
        </p:spPr>
      </p:pic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0A45277E-DFEE-42EB-8552-DB19EACDE1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13"/>
          <a:stretch/>
        </p:blipFill>
        <p:spPr>
          <a:xfrm>
            <a:off x="988330" y="4438962"/>
            <a:ext cx="8920168" cy="144140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26A9A3F-4FC3-4F44-94A8-6A942A51318C}"/>
              </a:ext>
            </a:extLst>
          </p:cNvPr>
          <p:cNvSpPr txBox="1"/>
          <p:nvPr/>
        </p:nvSpPr>
        <p:spPr>
          <a:xfrm>
            <a:off x="1023257" y="3725277"/>
            <a:ext cx="8390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OBS: seus elementos não podem ser alterados.</a:t>
            </a:r>
          </a:p>
        </p:txBody>
      </p:sp>
    </p:spTree>
    <p:extLst>
      <p:ext uri="{BB962C8B-B14F-4D97-AF65-F5344CB8AC3E}">
        <p14:creationId xmlns:p14="http://schemas.microsoft.com/office/powerpoint/2010/main" val="318387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78CA84-BEDD-4FED-AB3E-159F2F15A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5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323E067-D72A-4BAB-A661-C3D2CDF7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53" y="960201"/>
            <a:ext cx="8763391" cy="527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8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78CA84-BEDD-4FED-AB3E-159F2F15A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6</a:t>
            </a:fld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C273F0-7494-42C2-8772-869096DC8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74" y="733893"/>
            <a:ext cx="8684380" cy="578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9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78CA84-BEDD-4FED-AB3E-159F2F15A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7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53950F-C5B6-4F7E-8621-8730F3599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16" y="742169"/>
            <a:ext cx="8168703" cy="575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0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78CA84-BEDD-4FED-AB3E-159F2F15A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8</a:t>
            </a:fld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03D551-92CD-40A3-8582-BA2E6159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14" y="1953717"/>
            <a:ext cx="9153921" cy="3772525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75B6947-F7F0-478D-97DE-9A1AA57B2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215" y="913287"/>
            <a:ext cx="11478684" cy="2515713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Inserir elementos na tupla:</a:t>
            </a:r>
          </a:p>
        </p:txBody>
      </p:sp>
    </p:spTree>
    <p:extLst>
      <p:ext uri="{BB962C8B-B14F-4D97-AF65-F5344CB8AC3E}">
        <p14:creationId xmlns:p14="http://schemas.microsoft.com/office/powerpoint/2010/main" val="3267131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05AF95-F498-4CB6-A2D7-9A470F275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9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66BCA4-4AE0-4264-BEA0-8A57C84C5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06" y="944067"/>
            <a:ext cx="6407202" cy="49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0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Desempacotamento das Tuplas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5" algn="just"/>
            <a:endParaRPr lang="pt-BR" sz="2800" dirty="0"/>
          </a:p>
          <a:p>
            <a:pPr lvl="5" algn="just"/>
            <a:endParaRPr lang="pt-BR" sz="28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C5617D9-8952-42B9-9CC4-0BF2FCCE65FA}"/>
              </a:ext>
            </a:extLst>
          </p:cNvPr>
          <p:cNvSpPr txBox="1"/>
          <p:nvPr/>
        </p:nvSpPr>
        <p:spPr>
          <a:xfrm>
            <a:off x="800100" y="1638469"/>
            <a:ext cx="10910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Uma ferramenta muito utilizada em </a:t>
            </a:r>
            <a:r>
              <a:rPr lang="pt-BR" sz="2800" b="1" dirty="0"/>
              <a:t>tuplas</a:t>
            </a:r>
            <a:r>
              <a:rPr lang="pt-BR" sz="2800" dirty="0"/>
              <a:t> é o </a:t>
            </a:r>
            <a:r>
              <a:rPr lang="pt-BR" sz="2800" b="1" dirty="0"/>
              <a:t>desempacotamento</a:t>
            </a:r>
            <a:r>
              <a:rPr lang="pt-BR" sz="2800" dirty="0"/>
              <a:t> , que permite atribuir os elementos armazenados em uma </a:t>
            </a:r>
            <a:r>
              <a:rPr lang="pt-BR" sz="2800" b="1" dirty="0"/>
              <a:t>tupla</a:t>
            </a:r>
            <a:r>
              <a:rPr lang="pt-BR" sz="2800" dirty="0"/>
              <a:t> a diversas variáveis.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3A6F5CB-5DDF-454D-B540-FA1FC2CD6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7" y="3092977"/>
            <a:ext cx="5256375" cy="27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7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Seja a tupla </a:t>
            </a:r>
            <a:r>
              <a:rPr lang="pt-BR" sz="2800" b="1" dirty="0"/>
              <a:t>entrada</a:t>
            </a:r>
            <a:r>
              <a:rPr lang="pt-BR" sz="2800" dirty="0"/>
              <a:t> = (1000, 2000, 5, 15000, 12, 1, 0.5, -2, 1000). Elabore um script Python que, usando a instrução for, determine a soma de todos os números de valor menor do que 100.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42A8491A-6988-A6CF-72EB-80CB53846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28" y="3207951"/>
            <a:ext cx="6958634" cy="234651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DB1405B-EC32-4C96-9E89-A2FF4A49E67D}"/>
              </a:ext>
            </a:extLst>
          </p:cNvPr>
          <p:cNvSpPr txBox="1"/>
          <p:nvPr/>
        </p:nvSpPr>
        <p:spPr>
          <a:xfrm>
            <a:off x="657497" y="476969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353036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AF67D-0A4C-48E1-918B-4AFA15EF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41" y="1782716"/>
            <a:ext cx="11478684" cy="2515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1) Elabore um script Python para criar uma tupla, adicionando os dias da semana:</a:t>
            </a:r>
          </a:p>
          <a:p>
            <a:pPr marL="0" indent="0">
              <a:buNone/>
            </a:pPr>
            <a:r>
              <a:rPr lang="pt-BR" sz="2200" dirty="0"/>
              <a:t>Dias da semana:</a:t>
            </a:r>
          </a:p>
          <a:p>
            <a:pPr marL="0" indent="0">
              <a:buNone/>
            </a:pPr>
            <a:r>
              <a:rPr lang="pt-BR" sz="2200" dirty="0"/>
              <a:t>semana = ("Domingo", "Segunda", "Terça", "Quarta", "Quinta", "Sexta", "Sábado“)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200" dirty="0"/>
              <a:t>2) Elabore um script Python para criar uma tupla, adicionando os meses do ano:</a:t>
            </a:r>
          </a:p>
          <a:p>
            <a:pPr marL="0" indent="0">
              <a:buNone/>
            </a:pPr>
            <a:r>
              <a:rPr lang="pt-BR" sz="2200" dirty="0"/>
              <a:t>Meses do Ano:</a:t>
            </a:r>
          </a:p>
          <a:p>
            <a:pPr marL="0" indent="0">
              <a:buNone/>
            </a:pPr>
            <a:r>
              <a:rPr lang="pt-BR" sz="2200" dirty="0"/>
              <a:t>meses = (“Janeiro", “Fevereiro", “Março", “Abril", “Maio", ...)</a:t>
            </a:r>
          </a:p>
          <a:p>
            <a:pPr marL="0" indent="0"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12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ECE453-FBF4-4269-9111-3D64DE056D71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2775441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13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83CCF3-A4FB-4D36-8DC6-936EB8A870EC}"/>
              </a:ext>
            </a:extLst>
          </p:cNvPr>
          <p:cNvSpPr txBox="1"/>
          <p:nvPr/>
        </p:nvSpPr>
        <p:spPr>
          <a:xfrm>
            <a:off x="715779" y="1015823"/>
            <a:ext cx="1057181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3) Escreva um programa Python que, dados duas tuplas que representam dois conjuntos A e B, construa uma outra que represente a união dos dois conjuntos (A ∪ B). </a:t>
            </a:r>
          </a:p>
          <a:p>
            <a:endParaRPr lang="pt-BR" sz="2800" dirty="0"/>
          </a:p>
          <a:p>
            <a:r>
              <a:rPr lang="pt-BR" sz="2800" dirty="0"/>
              <a:t>4) Escreva um programa Python que, dados duas tuplas que representam dois conjuntos (A e B), construa uma outra que represente a interseção dos dois conjuntos (A ∩ B). </a:t>
            </a:r>
          </a:p>
          <a:p>
            <a:endParaRPr lang="pt-BR" sz="2800" dirty="0"/>
          </a:p>
          <a:p>
            <a:r>
              <a:rPr lang="pt-BR" sz="2800" dirty="0"/>
              <a:t>5) Escreva um programa Python que, dados duas tuplas que representam dois conjuntos (A e B), construa uma outra que represente a diferença dos dois conjuntos (A &lt;&gt; B). </a:t>
            </a:r>
          </a:p>
        </p:txBody>
      </p:sp>
    </p:spTree>
    <p:extLst>
      <p:ext uri="{BB962C8B-B14F-4D97-AF65-F5344CB8AC3E}">
        <p14:creationId xmlns:p14="http://schemas.microsoft.com/office/powerpoint/2010/main" val="236567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14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386638" y="1239878"/>
            <a:ext cx="1154553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6) Crie uma tupla com os nomes dos super-heróis que devem participar do Filme Vingadores seguindo a ordem:</a:t>
            </a:r>
          </a:p>
          <a:p>
            <a:r>
              <a:rPr lang="pt-BR" sz="2400" dirty="0"/>
              <a:t> • Homem de Ferro • Capitão América • Thor • Hulk • Viúva Negra • Gavião Arqueiro</a:t>
            </a:r>
          </a:p>
          <a:p>
            <a:endParaRPr lang="pt-BR" sz="2400" dirty="0"/>
          </a:p>
          <a:p>
            <a:r>
              <a:rPr lang="pt-BR" sz="2400" dirty="0"/>
              <a:t>Agora, inclua o Homem-Aranha no final da lista e mostre em qual posição está o Thor. </a:t>
            </a:r>
          </a:p>
          <a:p>
            <a:endParaRPr lang="pt-BR" sz="2400" dirty="0"/>
          </a:p>
          <a:p>
            <a:r>
              <a:rPr lang="pt-BR" sz="2400" dirty="0"/>
              <a:t>Infelizmente a Viúva Negra e o Homem de Ferro não fazem mais parte do filme Vingadores, então retire-os da lista.</a:t>
            </a:r>
          </a:p>
        </p:txBody>
      </p:sp>
    </p:spTree>
    <p:extLst>
      <p:ext uri="{BB962C8B-B14F-4D97-AF65-F5344CB8AC3E}">
        <p14:creationId xmlns:p14="http://schemas.microsoft.com/office/powerpoint/2010/main" val="1236321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468987" y="1490008"/>
            <a:ext cx="11431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7) Dada uma tupla  T  de n valores inteiros, elabore um programa que remova todos os números pares da tupla. Exemplo: </a:t>
            </a:r>
          </a:p>
          <a:p>
            <a:endParaRPr lang="pt-BR" sz="2000" dirty="0"/>
          </a:p>
          <a:p>
            <a:r>
              <a:rPr lang="pt-BR" sz="2000" dirty="0"/>
              <a:t>Tamanho da Tupla T: 10</a:t>
            </a:r>
          </a:p>
          <a:p>
            <a:endParaRPr lang="pt-BR" sz="2000" dirty="0"/>
          </a:p>
          <a:p>
            <a:r>
              <a:rPr lang="pt-BR" sz="2000" dirty="0"/>
              <a:t>T = (1,2,3, 4, 5, 6, 7, 8, 9, 10)</a:t>
            </a:r>
          </a:p>
          <a:p>
            <a:r>
              <a:rPr lang="pt-BR" sz="2000" dirty="0"/>
              <a:t> </a:t>
            </a:r>
          </a:p>
          <a:p>
            <a:r>
              <a:rPr lang="pt-BR" sz="2000" dirty="0"/>
              <a:t>Resposta: 1 3 5 7 9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2566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468987" y="1536174"/>
            <a:ext cx="108770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8 – Dadas duas tuplas P1 e P2, ambas com n valores reais que representam as notas de uma turma na prova 1 e na prova 2, respectivamente. Escreva um script em linguagem Python que calcule a média da turma nas provas 1 e 2, imprimindo em qual das provas a turma obteve a melhor média.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Exemplo: </a:t>
            </a:r>
          </a:p>
          <a:p>
            <a:pPr algn="just"/>
            <a:r>
              <a:rPr lang="pt-BR" sz="2000" dirty="0"/>
              <a:t>Tamanho da turma: 5 </a:t>
            </a:r>
          </a:p>
          <a:p>
            <a:pPr algn="just"/>
            <a:r>
              <a:rPr lang="pt-BR" sz="2000" dirty="0"/>
              <a:t>P1 = ( 7.0   8.3   10.0   6.5   9.3)        P2 = ( 8.5   6.9   5.0   7.5   9.8 )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Resposta: </a:t>
            </a:r>
          </a:p>
          <a:p>
            <a:pPr algn="just"/>
            <a:r>
              <a:rPr lang="pt-BR" sz="2000" dirty="0"/>
              <a:t>Média da turma na prova 1: 8.22 </a:t>
            </a:r>
          </a:p>
          <a:p>
            <a:pPr algn="just"/>
            <a:r>
              <a:rPr lang="pt-BR" sz="2000" dirty="0"/>
              <a:t>Média da turma na prova 2: 7.54 </a:t>
            </a:r>
          </a:p>
          <a:p>
            <a:pPr algn="just"/>
            <a:r>
              <a:rPr lang="pt-BR" sz="2000" dirty="0"/>
              <a:t>A turma obteve a melhor média na prova 1.</a:t>
            </a:r>
          </a:p>
        </p:txBody>
      </p:sp>
    </p:spTree>
    <p:extLst>
      <p:ext uri="{BB962C8B-B14F-4D97-AF65-F5344CB8AC3E}">
        <p14:creationId xmlns:p14="http://schemas.microsoft.com/office/powerpoint/2010/main" val="324551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Dicionários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1023257" y="1153749"/>
            <a:ext cx="10687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Dicionário é um </a:t>
            </a:r>
            <a:r>
              <a:rPr lang="pt-BR" sz="2800" dirty="0">
                <a:solidFill>
                  <a:srgbClr val="FF0000"/>
                </a:solidFill>
              </a:rPr>
              <a:t>conjunto de valores</a:t>
            </a:r>
            <a:r>
              <a:rPr lang="pt-BR" sz="2800" dirty="0"/>
              <a:t>, onde cada valor é associado a uma </a:t>
            </a:r>
            <a:r>
              <a:rPr lang="pt-BR" sz="2800" dirty="0">
                <a:solidFill>
                  <a:srgbClr val="FF0000"/>
                </a:solidFill>
              </a:rPr>
              <a:t>chave de acesso única</a:t>
            </a:r>
            <a:r>
              <a:rPr lang="pt-BR" sz="2800" dirty="0"/>
              <a:t>. A chave precisa ser de um tipo imutável, geralmente são usadas </a:t>
            </a:r>
            <a:r>
              <a:rPr lang="pt-BR" sz="2800" dirty="0" err="1"/>
              <a:t>strings</a:t>
            </a:r>
            <a:r>
              <a:rPr lang="pt-BR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Listas e </a:t>
            </a:r>
            <a:r>
              <a:rPr lang="pt-BR" sz="2800" dirty="0" err="1"/>
              <a:t>tuplas</a:t>
            </a:r>
            <a:r>
              <a:rPr lang="pt-BR" sz="2800" dirty="0"/>
              <a:t> são indexadas pela ordem dos elementos, isto é, são ordenadas. Já os dicionários, não são.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Nos dicionários, cada elemento recebe uma </a:t>
            </a:r>
            <a:r>
              <a:rPr lang="pt-BR" sz="2800" dirty="0">
                <a:solidFill>
                  <a:srgbClr val="FF0000"/>
                </a:solidFill>
              </a:rPr>
              <a:t>etiqueta</a:t>
            </a:r>
            <a:r>
              <a:rPr lang="pt-BR" sz="2800" dirty="0"/>
              <a:t>. Além disso, são </a:t>
            </a:r>
            <a:r>
              <a:rPr lang="pt-BR" sz="2800" dirty="0">
                <a:solidFill>
                  <a:srgbClr val="FF0000"/>
                </a:solidFill>
              </a:rPr>
              <a:t>mutáveis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heterogêneas</a:t>
            </a:r>
            <a:r>
              <a:rPr lang="pt-BR" sz="2800" dirty="0"/>
              <a:t>. </a:t>
            </a:r>
          </a:p>
        </p:txBody>
      </p:sp>
      <p:pic>
        <p:nvPicPr>
          <p:cNvPr id="4098" name="Picture 2" descr="Dicionários e Arquivos Python — Treinamento de Python 2017.08.0001">
            <a:extLst>
              <a:ext uri="{FF2B5EF4-FFF2-40B4-BE49-F238E27FC236}">
                <a16:creationId xmlns:a16="http://schemas.microsoft.com/office/drawing/2014/main" id="{701D17DF-6431-43FD-AB80-FAFF27619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58" y="4559968"/>
            <a:ext cx="4442084" cy="19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0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Declaração de Dicionários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73340" y="2174694"/>
            <a:ext cx="10936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7"/>
            <a:r>
              <a:rPr lang="pt-BR" sz="2800" dirty="0" err="1"/>
              <a:t>nome_dicionário</a:t>
            </a:r>
            <a:r>
              <a:rPr lang="pt-BR" sz="2800" dirty="0"/>
              <a:t> = { 	&lt;chave1&gt; : valor1,</a:t>
            </a:r>
          </a:p>
          <a:p>
            <a:pPr lvl="7"/>
            <a:r>
              <a:rPr lang="pt-BR" sz="2800" dirty="0"/>
              <a:t>				&lt;chave2&gt; : valor2,</a:t>
            </a:r>
          </a:p>
          <a:p>
            <a:pPr lvl="7"/>
            <a:r>
              <a:rPr lang="pt-BR" sz="2800" dirty="0"/>
              <a:t>				&lt;chave3&gt; : valor3,</a:t>
            </a:r>
          </a:p>
          <a:p>
            <a:pPr lvl="7"/>
            <a:r>
              <a:rPr lang="pt-BR" sz="2800" dirty="0"/>
              <a:t>				&lt;</a:t>
            </a:r>
            <a:r>
              <a:rPr lang="pt-BR" sz="2800" dirty="0" err="1"/>
              <a:t>chaveN</a:t>
            </a:r>
            <a:r>
              <a:rPr lang="pt-BR" sz="2800" dirty="0"/>
              <a:t>&gt; : </a:t>
            </a:r>
            <a:r>
              <a:rPr lang="pt-BR" sz="2800" dirty="0" err="1"/>
              <a:t>valorn</a:t>
            </a:r>
            <a:r>
              <a:rPr lang="pt-BR" sz="2800" dirty="0"/>
              <a:t>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1118258" y="1365838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Um dicionário em Python é declarado com chaves da seguinte forma: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C4A16-54E3-F4AF-C9A1-6D13E2A8FB5E}"/>
              </a:ext>
            </a:extLst>
          </p:cNvPr>
          <p:cNvSpPr txBox="1"/>
          <p:nvPr/>
        </p:nvSpPr>
        <p:spPr>
          <a:xfrm>
            <a:off x="1023257" y="4583109"/>
            <a:ext cx="6098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&lt;dicionário&gt; = {}</a:t>
            </a:r>
          </a:p>
          <a:p>
            <a:r>
              <a:rPr lang="pt-BR" sz="2800" dirty="0"/>
              <a:t>&lt;dicionário&gt;[&lt;chave1&gt;] = &lt;valor1&gt;</a:t>
            </a:r>
          </a:p>
          <a:p>
            <a:r>
              <a:rPr lang="pt-BR" sz="2800" dirty="0"/>
              <a:t>&lt;dicionário&gt;[&lt;chave2&gt;] = &lt;valor2&gt;</a:t>
            </a:r>
          </a:p>
          <a:p>
            <a:r>
              <a:rPr lang="pt-BR" sz="2800" dirty="0"/>
              <a:t>&lt;dicionário&gt;[&lt;</a:t>
            </a:r>
            <a:r>
              <a:rPr lang="pt-BR" sz="2800" dirty="0" err="1"/>
              <a:t>chaveN</a:t>
            </a:r>
            <a:r>
              <a:rPr lang="pt-BR" sz="2800" dirty="0"/>
              <a:t>&gt;] = &lt;</a:t>
            </a:r>
            <a:r>
              <a:rPr lang="pt-BR" sz="2800" dirty="0" err="1"/>
              <a:t>valorN</a:t>
            </a:r>
            <a:r>
              <a:rPr lang="pt-BR" sz="2800" dirty="0"/>
              <a:t>&gt;</a:t>
            </a:r>
          </a:p>
        </p:txBody>
      </p:sp>
      <p:sp>
        <p:nvSpPr>
          <p:cNvPr id="4" name="CaixaDeTexto 12">
            <a:extLst>
              <a:ext uri="{FF2B5EF4-FFF2-40B4-BE49-F238E27FC236}">
                <a16:creationId xmlns:a16="http://schemas.microsoft.com/office/drawing/2014/main" id="{B8BA5A1B-7081-663E-3547-8EAEF5D1AC99}"/>
              </a:ext>
            </a:extLst>
          </p:cNvPr>
          <p:cNvSpPr txBox="1"/>
          <p:nvPr/>
        </p:nvSpPr>
        <p:spPr>
          <a:xfrm>
            <a:off x="1023256" y="3775365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333626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O dicionário do Python não fornece garantia de que as chaves estarão ordenadas.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D60B3C-A5FF-48D3-8DEB-95C042D3D5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" b="21562"/>
          <a:stretch/>
        </p:blipFill>
        <p:spPr>
          <a:xfrm>
            <a:off x="627539" y="2666357"/>
            <a:ext cx="10192049" cy="170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72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 (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get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Uma outra maneira de acessar os elementos de um dicionário é usando o método </a:t>
            </a:r>
            <a:r>
              <a:rPr lang="pt-BR" sz="2800" b="1" dirty="0" err="1"/>
              <a:t>get</a:t>
            </a:r>
            <a:r>
              <a:rPr lang="pt-BR" sz="2800" b="1" dirty="0"/>
              <a:t>()</a:t>
            </a:r>
            <a:r>
              <a:rPr lang="pt-BR" sz="2800" dirty="0"/>
              <a:t>, cuja sintaxe é a seguinte:</a:t>
            </a:r>
          </a:p>
          <a:p>
            <a:endParaRPr lang="pt-BR" sz="2800" dirty="0"/>
          </a:p>
          <a:p>
            <a:r>
              <a:rPr lang="pt-BR" sz="2800" dirty="0"/>
              <a:t>	&lt;dicionário&gt;.</a:t>
            </a:r>
            <a:r>
              <a:rPr lang="pt-BR" sz="2800" b="1" dirty="0" err="1"/>
              <a:t>get</a:t>
            </a:r>
            <a:r>
              <a:rPr lang="pt-BR" sz="2800" b="1" dirty="0"/>
              <a:t>(</a:t>
            </a:r>
            <a:r>
              <a:rPr lang="pt-BR" sz="2800" dirty="0"/>
              <a:t>&lt;chave&gt;</a:t>
            </a:r>
            <a:r>
              <a:rPr lang="pt-BR" sz="2800" b="1" dirty="0"/>
              <a:t>)</a:t>
            </a:r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D808E9C-0EF1-4D22-2E9B-5482CFFBA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5" y="3928669"/>
            <a:ext cx="10161602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02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(Atribuição)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Inserindo e alterando um elemento de um dicionário.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6CE17B-5A31-4B55-B185-84B85CBF2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521" y="2475272"/>
            <a:ext cx="7903876" cy="88577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622E9C7-53E9-4E8C-99E0-73D797B22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521" y="3744147"/>
            <a:ext cx="8125318" cy="98798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369E6CD-FFEE-455B-82E9-943FD3A5EE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929"/>
          <a:stretch/>
        </p:blipFill>
        <p:spPr>
          <a:xfrm>
            <a:off x="2227521" y="5013022"/>
            <a:ext cx="7871472" cy="8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1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(update)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Para incluir ou alterar elemento(s) em um dicionário, utiliza-se o método </a:t>
            </a:r>
            <a:r>
              <a:rPr lang="pt-BR" sz="2800" b="1" dirty="0">
                <a:solidFill>
                  <a:srgbClr val="000000"/>
                </a:solidFill>
              </a:rPr>
              <a:t>update()</a:t>
            </a:r>
            <a:r>
              <a:rPr lang="pt-BR" sz="2800" dirty="0">
                <a:solidFill>
                  <a:srgbClr val="000000"/>
                </a:solidFill>
              </a:rPr>
              <a:t>. Quando a chave já existe no dicionário, o valor associado a ela é alterado. Quando não, a chave e o valor são inseridos no dicionário.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 sintaxe básica é a seguinte: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	&lt;dicionário&gt;.</a:t>
            </a:r>
            <a:r>
              <a:rPr lang="pt-BR" sz="2800" b="1" dirty="0">
                <a:solidFill>
                  <a:srgbClr val="000000"/>
                </a:solidFill>
              </a:rPr>
              <a:t>update</a:t>
            </a:r>
            <a:r>
              <a:rPr lang="pt-BR" sz="2800" dirty="0">
                <a:solidFill>
                  <a:srgbClr val="000000"/>
                </a:solidFill>
              </a:rPr>
              <a:t>({&lt;chave&gt;: &lt;valor&gt;})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3518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(update)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Quando a chave já existe no dicionário, o valor associado a ela é alterado. Quando não, a chave e o valor são inseridos no dicionário.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2E8589E-E2B1-67A0-101A-DF2941AEE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8" y="3429000"/>
            <a:ext cx="10522343" cy="202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5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Tamanho do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função 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()</a:t>
            </a:r>
            <a:r>
              <a:rPr lang="pt-BR" sz="2800" dirty="0">
                <a:solidFill>
                  <a:srgbClr val="000000"/>
                </a:solidFill>
              </a:rPr>
              <a:t> recebe como argumento o nome de um dicionário e retorna a quantidade de elementos existentes.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 sintaxe básica é a seguinte: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	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</a:t>
            </a:r>
            <a:r>
              <a:rPr lang="pt-BR" sz="2800" dirty="0">
                <a:solidFill>
                  <a:srgbClr val="000000"/>
                </a:solidFill>
              </a:rPr>
              <a:t>&lt;dicionário&gt;</a:t>
            </a:r>
            <a:r>
              <a:rPr lang="pt-BR" sz="2800" b="1" dirty="0">
                <a:solidFill>
                  <a:srgbClr val="000000"/>
                </a:solidFill>
              </a:rPr>
              <a:t>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9126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Tamanho do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função 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()</a:t>
            </a:r>
            <a:r>
              <a:rPr lang="pt-BR" sz="2800" dirty="0">
                <a:solidFill>
                  <a:srgbClr val="000000"/>
                </a:solidFill>
              </a:rPr>
              <a:t> recebe como argumento o nome de um dicionário e retorna a quantidade de elementos existentes.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B39C246-49D5-9280-C279-70B7D3C43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7" y="3158352"/>
            <a:ext cx="10015185" cy="287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0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Apagar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comando </a:t>
            </a:r>
            <a:r>
              <a:rPr lang="pt-BR" sz="2800" b="1" dirty="0" err="1">
                <a:effectLst/>
              </a:rPr>
              <a:t>del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 remove um par </a:t>
            </a:r>
            <a:r>
              <a:rPr lang="pt-BR" sz="2800" b="1" i="1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dicionário. 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7289DC-96C0-4B1C-B6EA-BDDFB3B3A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676"/>
          <a:stretch/>
        </p:blipFill>
        <p:spPr>
          <a:xfrm>
            <a:off x="815229" y="3113828"/>
            <a:ext cx="11033203" cy="92690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97A6092-6313-4930-B036-4F08F7011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585" y="4779286"/>
            <a:ext cx="7900489" cy="10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Apagar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comando </a:t>
            </a:r>
            <a:r>
              <a:rPr lang="pt-BR" sz="2800" b="1" dirty="0" err="1">
                <a:effectLst/>
              </a:rPr>
              <a:t>del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 remove um par </a:t>
            </a:r>
            <a:r>
              <a:rPr lang="pt-BR" sz="2800" b="1" i="1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dicionário. </a:t>
            </a:r>
            <a:endParaRPr lang="pt-BR" sz="2800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04281C2-1A38-452D-3667-6ECE685A1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484" y="3136027"/>
            <a:ext cx="9755032" cy="25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1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chaves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i="0" dirty="0" err="1">
                <a:solidFill>
                  <a:srgbClr val="000000"/>
                </a:solidFill>
              </a:rPr>
              <a:t>k</a:t>
            </a:r>
            <a:r>
              <a:rPr lang="pt-BR" sz="2800" b="1" dirty="0" err="1">
                <a:effectLst/>
              </a:rPr>
              <a:t>eys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effectLst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de um dicionário retorna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as chaves do mesmo.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36" y="2684384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436" y="3676431"/>
            <a:ext cx="5773978" cy="98611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F291CA7-EE9C-4963-8D1E-E57434358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436" y="4761697"/>
            <a:ext cx="3681502" cy="9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9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chaves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i="0" dirty="0" err="1">
                <a:solidFill>
                  <a:srgbClr val="000000"/>
                </a:solidFill>
              </a:rPr>
              <a:t>k</a:t>
            </a:r>
            <a:r>
              <a:rPr lang="pt-BR" sz="2800" b="1" dirty="0" err="1">
                <a:effectLst/>
              </a:rPr>
              <a:t>eys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effectLst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de um dicionário retorna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as chaves do mesmo.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5CD8B8B-8EA4-9087-4594-8E0DFF4B8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617" y="2938270"/>
            <a:ext cx="10214427" cy="293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8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valores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35033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values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dos valores do mesmo.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83" y="2455179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83" y="3524503"/>
            <a:ext cx="5773978" cy="98611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2119EE5-C65E-427C-BB57-130259B92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483" y="4687046"/>
            <a:ext cx="3668731" cy="120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0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valores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35033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values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dos valores do mesmo.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3B2F3D5-FE65-04FC-254E-9D4DF9C04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3245307"/>
            <a:ext cx="10687003" cy="21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38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itens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items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ambos, na forma de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 de tuplas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- cada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tupla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um par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616" y="2803629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165" y="3879582"/>
            <a:ext cx="5773978" cy="9861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6F74CB-4705-487D-A850-0909A0E6A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165" y="5104128"/>
            <a:ext cx="6569488" cy="9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itens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items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ambos, na forma de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 de tuplas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- cada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tupla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um par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6B6CC76-88CE-EBED-B622-A001D7D7F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3" y="3429000"/>
            <a:ext cx="10372273" cy="234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1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Remover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Para remover elementos de um dicionário, você pode utilizar o método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pop()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informando qual chave deseja remover,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&lt;dicionário&gt;.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pop(&lt;chave&gt;)</a:t>
            </a:r>
          </a:p>
        </p:txBody>
      </p:sp>
    </p:spTree>
    <p:extLst>
      <p:ext uri="{BB962C8B-B14F-4D97-AF65-F5344CB8AC3E}">
        <p14:creationId xmlns:p14="http://schemas.microsoft.com/office/powerpoint/2010/main" val="3057503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Remover Elementos em Dicionários 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E84FE57-7D67-A89E-3A2C-43D128F30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00" y="2732510"/>
            <a:ext cx="11059799" cy="24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5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Clonar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Para criar uma cópia de um dicionário, você pode utilizar a função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dict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copia =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dict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&lt;</a:t>
            </a:r>
            <a:r>
              <a:rPr lang="pt-BR" sz="2800" b="0" i="0" dirty="0" err="1">
                <a:solidFill>
                  <a:srgbClr val="000000"/>
                </a:solidFill>
                <a:effectLst/>
              </a:rPr>
              <a:t>dicionario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&gt;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)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onde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&lt;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dicionario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&gt;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é o dicionário que está sendo clonado.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Como resultado, o valor retornado pode ser atribuído a uma nova variável, formando um novo dicionário.</a:t>
            </a:r>
            <a:endParaRPr lang="pt-BR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417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Esvaziar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Caso você deseje esvaziar um dicionário, utilize o método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clear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 A sintaxe básica é a seguinte: 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14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	&lt;dicionário&gt;.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clear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28277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Ordenar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Em um dicionário, para retornar os elementos de forma ordenada, tomando como base as chaves, pode-se utilizar a função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sorted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1" i="0" dirty="0" err="1">
                <a:solidFill>
                  <a:srgbClr val="000000"/>
                </a:solidFill>
                <a:effectLst/>
              </a:rPr>
              <a:t>sorted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&lt;dicionário&gt;, </a:t>
            </a:r>
            <a:r>
              <a:rPr lang="pt-BR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reverse = [</a:t>
            </a:r>
            <a:r>
              <a:rPr lang="pt-BR" sz="28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True|False</a:t>
            </a:r>
            <a:r>
              <a:rPr lang="pt-BR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]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)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onde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indica se o ordenamento deve ser reverso. Quando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True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o ordenamento é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decrescente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e quando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False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(que é o valor padrão e, por isso, não é necessário explicitá-lo), o ordenamento é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crescente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  <a:endParaRPr lang="pt-BR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64169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Ordenar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E4C7159-4C55-A140-4275-B8C0CE85F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09" y="2146192"/>
            <a:ext cx="11054782" cy="25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873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00563" y="1425798"/>
            <a:ext cx="10687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Construa um script em linguagem Python que utilize um dicionário cujas chaves são os códigos do produto e os valores são o nome do produto, o preço unitário e a quantidade comprada. </a:t>
            </a:r>
            <a:r>
              <a:rPr lang="pt-BR" sz="2800" i="0" dirty="0">
                <a:solidFill>
                  <a:srgbClr val="000000"/>
                </a:solidFill>
                <a:effectLst/>
              </a:rPr>
              <a:t>A partir do dicionário, o programa deve imprimir os itens da compra e calcular o subtotal de cada um deles, ou seja (quantidade * preço unitário). Por fim, o programa deve apresentar o valor total da compra.</a:t>
            </a:r>
          </a:p>
        </p:txBody>
      </p:sp>
    </p:spTree>
    <p:extLst>
      <p:ext uri="{BB962C8B-B14F-4D97-AF65-F5344CB8AC3E}">
        <p14:creationId xmlns:p14="http://schemas.microsoft.com/office/powerpoint/2010/main" val="1319290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809F02E-7AB5-F730-80E5-7EB40E96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487" y="1153749"/>
            <a:ext cx="6772758" cy="51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514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EBAE9AA-D0B2-E3FC-9C35-E3E30B9C5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7" y="1651091"/>
            <a:ext cx="8907084" cy="393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9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399394" y="1568956"/>
            <a:ext cx="112759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 – Desenvolva um código em Python que adicione em um dicionário “D” os seguintes campos: nome, idade, endereço e telefone e mostre os dados no final.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2 – Elabore um script em  linguagem Python, utilizando Dicionários, que contenha 4 funcionários, com o índice numérico e seu nome. Em seguida, solicite do usuário demitir um dos funcionários conforme o número de cadastro e mostre na tela os funcionários restantes.</a:t>
            </a:r>
          </a:p>
        </p:txBody>
      </p:sp>
    </p:spTree>
    <p:extLst>
      <p:ext uri="{BB962C8B-B14F-4D97-AF65-F5344CB8AC3E}">
        <p14:creationId xmlns:p14="http://schemas.microsoft.com/office/powerpoint/2010/main" val="312392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399393" y="1358748"/>
            <a:ext cx="10877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3 – Desenvolva um script em linguagem Python, utilizando Dicionários, que solicite ao usuário inserir o nome de 05 produtos de papelaria e seus respectivos preços e os mostre na tela.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BED751-2D30-410F-A724-1777CB721858}"/>
              </a:ext>
            </a:extLst>
          </p:cNvPr>
          <p:cNvSpPr txBox="1"/>
          <p:nvPr/>
        </p:nvSpPr>
        <p:spPr>
          <a:xfrm>
            <a:off x="399393" y="3130086"/>
            <a:ext cx="10877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4 – Desenvolva um script em linguagem Python, utilizando Dicionários, que solicite ao usuário inserir o nome de 05 livros e seus respectivos autores e os mostre na tela.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64E0A2-826B-4DD8-BA14-8C77773C21FA}"/>
              </a:ext>
            </a:extLst>
          </p:cNvPr>
          <p:cNvSpPr txBox="1"/>
          <p:nvPr/>
        </p:nvSpPr>
        <p:spPr>
          <a:xfrm>
            <a:off x="399392" y="4901424"/>
            <a:ext cx="10877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5 – Desenvolva um script em linguagem Python, utilizando Dicionários, que solicite ao usuário inserir o nome de 10 amigos e seus telefones e os mostre na tela.</a:t>
            </a:r>
          </a:p>
        </p:txBody>
      </p:sp>
    </p:spTree>
    <p:extLst>
      <p:ext uri="{BB962C8B-B14F-4D97-AF65-F5344CB8AC3E}">
        <p14:creationId xmlns:p14="http://schemas.microsoft.com/office/powerpoint/2010/main" val="27142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6487</TotalTime>
  <Words>1831</Words>
  <Application>Microsoft Office PowerPoint</Application>
  <PresentationFormat>Widescreen</PresentationFormat>
  <Paragraphs>254</Paragraphs>
  <Slides>45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Tema do Office</vt:lpstr>
      <vt:lpstr>Tuplas e Dicionários em Python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402</cp:revision>
  <dcterms:created xsi:type="dcterms:W3CDTF">2019-07-27T22:06:45Z</dcterms:created>
  <dcterms:modified xsi:type="dcterms:W3CDTF">2024-05-08T18:09:24Z</dcterms:modified>
</cp:coreProperties>
</file>