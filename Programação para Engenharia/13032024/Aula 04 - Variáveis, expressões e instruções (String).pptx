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9"/>
  </p:notesMasterIdLst>
  <p:sldIdLst>
    <p:sldId id="314" r:id="rId2"/>
    <p:sldId id="392" r:id="rId3"/>
    <p:sldId id="358" r:id="rId4"/>
    <p:sldId id="359" r:id="rId5"/>
    <p:sldId id="360" r:id="rId6"/>
    <p:sldId id="361" r:id="rId7"/>
    <p:sldId id="362" r:id="rId8"/>
    <p:sldId id="363" r:id="rId9"/>
    <p:sldId id="337" r:id="rId10"/>
    <p:sldId id="364" r:id="rId11"/>
    <p:sldId id="365" r:id="rId12"/>
    <p:sldId id="366" r:id="rId13"/>
    <p:sldId id="380" r:id="rId14"/>
    <p:sldId id="367" r:id="rId15"/>
    <p:sldId id="368" r:id="rId16"/>
    <p:sldId id="369" r:id="rId17"/>
    <p:sldId id="370" r:id="rId18"/>
    <p:sldId id="371" r:id="rId19"/>
    <p:sldId id="372" r:id="rId20"/>
    <p:sldId id="373" r:id="rId21"/>
    <p:sldId id="349" r:id="rId22"/>
    <p:sldId id="375" r:id="rId23"/>
    <p:sldId id="400" r:id="rId24"/>
    <p:sldId id="374" r:id="rId25"/>
    <p:sldId id="399" r:id="rId26"/>
    <p:sldId id="388" r:id="rId27"/>
    <p:sldId id="389" r:id="rId28"/>
    <p:sldId id="390" r:id="rId29"/>
    <p:sldId id="391" r:id="rId30"/>
    <p:sldId id="352" r:id="rId31"/>
    <p:sldId id="376" r:id="rId32"/>
    <p:sldId id="377" r:id="rId33"/>
    <p:sldId id="378" r:id="rId34"/>
    <p:sldId id="379" r:id="rId35"/>
    <p:sldId id="397" r:id="rId36"/>
    <p:sldId id="398" r:id="rId37"/>
    <p:sldId id="289" r:id="rId3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9503" autoAdjust="0"/>
  </p:normalViewPr>
  <p:slideViewPr>
    <p:cSldViewPr snapToGrid="0">
      <p:cViewPr varScale="1">
        <p:scale>
          <a:sx n="64" d="100"/>
          <a:sy n="64" d="100"/>
        </p:scale>
        <p:origin x="108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911C30-626E-4C5C-9878-709A1E8994D6}" type="datetimeFigureOut">
              <a:rPr lang="pt-BR" smtClean="0"/>
              <a:t>13/03/2024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39C0C7-1D2E-42D8-884C-02BEF678E9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5973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31244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25073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53055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frase</a:t>
            </a:r>
            <a:r>
              <a:rPr lang="pt-B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[::-</a:t>
            </a:r>
            <a:r>
              <a:rPr lang="pt-B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t-B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34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950014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frase</a:t>
            </a:r>
            <a:r>
              <a:rPr lang="pt-B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[::-</a:t>
            </a:r>
            <a:r>
              <a:rPr lang="pt-B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t-B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35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4820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frase</a:t>
            </a:r>
            <a:r>
              <a:rPr lang="pt-B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[::-</a:t>
            </a:r>
            <a:r>
              <a:rPr lang="pt-B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t-B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36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62704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39C0C7-1D2E-42D8-884C-02BEF678E9F0}" type="slidenum">
              <a:rPr lang="pt-BR" smtClean="0"/>
              <a:t>37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85368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B5409A9E-3941-4E40-B88F-DD43A5F0148D}"/>
              </a:ext>
            </a:extLst>
          </p:cNvPr>
          <p:cNvGrpSpPr/>
          <p:nvPr userDrawn="1"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10" name="Conector reto 9">
              <a:extLst>
                <a:ext uri="{FF2B5EF4-FFF2-40B4-BE49-F238E27FC236}">
                  <a16:creationId xmlns:a16="http://schemas.microsoft.com/office/drawing/2014/main" id="{46AD8385-8CD2-4003-9CD4-D1585CAC37AD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to 13">
              <a:extLst>
                <a:ext uri="{FF2B5EF4-FFF2-40B4-BE49-F238E27FC236}">
                  <a16:creationId xmlns:a16="http://schemas.microsoft.com/office/drawing/2014/main" id="{64323B1F-25F9-44C6-B29D-609A44EEB132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Espaço Reservado para Número de Slide 5">
            <a:extLst>
              <a:ext uri="{FF2B5EF4-FFF2-40B4-BE49-F238E27FC236}">
                <a16:creationId xmlns:a16="http://schemas.microsoft.com/office/drawing/2014/main" id="{FFB2BB53-CA80-4B3B-9DED-1CD33F5F30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2251" y="0"/>
            <a:ext cx="569749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pPr algn="r"/>
            <a:fld id="{4132491A-C8DB-4AC9-8AF1-41D5C714A7B5}" type="slidenum">
              <a:rPr lang="pt-BR" smtClean="0"/>
              <a:pPr algn="r"/>
              <a:t>‹nº›</a:t>
            </a:fld>
            <a:endParaRPr lang="pt-BR" dirty="0"/>
          </a:p>
        </p:txBody>
      </p: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D0A55484-68C3-4AB3-8895-E103DE5734B3}"/>
              </a:ext>
            </a:extLst>
          </p:cNvPr>
          <p:cNvGrpSpPr/>
          <p:nvPr userDrawn="1"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24" name="Conector reto 23">
              <a:extLst>
                <a:ext uri="{FF2B5EF4-FFF2-40B4-BE49-F238E27FC236}">
                  <a16:creationId xmlns:a16="http://schemas.microsoft.com/office/drawing/2014/main" id="{A3E0EE07-BBF0-4775-91F9-569EEE9CBEEC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reto 24">
              <a:extLst>
                <a:ext uri="{FF2B5EF4-FFF2-40B4-BE49-F238E27FC236}">
                  <a16:creationId xmlns:a16="http://schemas.microsoft.com/office/drawing/2014/main" id="{C7CF7A86-734C-4476-90AC-D1977459F812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Imagem 4" descr="Desenho de bandeira&#10;&#10;Descrição gerada automaticamente com confiança média">
            <a:extLst>
              <a:ext uri="{FF2B5EF4-FFF2-40B4-BE49-F238E27FC236}">
                <a16:creationId xmlns:a16="http://schemas.microsoft.com/office/drawing/2014/main" id="{066A9223-FB4F-4815-B641-3FECFE1D71F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86836" cy="69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13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DA38215F-4D46-46F3-9595-2C5D10F9AF94}"/>
              </a:ext>
            </a:extLst>
          </p:cNvPr>
          <p:cNvGrpSpPr/>
          <p:nvPr userDrawn="1"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16" name="Conector reto 15">
              <a:extLst>
                <a:ext uri="{FF2B5EF4-FFF2-40B4-BE49-F238E27FC236}">
                  <a16:creationId xmlns:a16="http://schemas.microsoft.com/office/drawing/2014/main" id="{EAD401B0-27CD-4563-982B-1D24272D9864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id="{08BA0EDE-D02A-49E2-9EC9-0C5E537AA39D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Espaço Reservado para Número de Slide 5">
            <a:extLst>
              <a:ext uri="{FF2B5EF4-FFF2-40B4-BE49-F238E27FC236}">
                <a16:creationId xmlns:a16="http://schemas.microsoft.com/office/drawing/2014/main" id="{ECF9D6FD-661C-4C15-B70F-49122791E8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2251" y="0"/>
            <a:ext cx="569749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pPr algn="r"/>
            <a:fld id="{4132491A-C8DB-4AC9-8AF1-41D5C714A7B5}" type="slidenum">
              <a:rPr lang="pt-BR" smtClean="0"/>
              <a:pPr algn="r"/>
              <a:t>‹nº›</a:t>
            </a:fld>
            <a:endParaRPr lang="pt-BR" dirty="0"/>
          </a:p>
        </p:txBody>
      </p: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0F733FA7-72CC-4177-A0C4-81C8ED3E2B0C}"/>
              </a:ext>
            </a:extLst>
          </p:cNvPr>
          <p:cNvGrpSpPr/>
          <p:nvPr userDrawn="1"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29" name="Conector reto 28">
              <a:extLst>
                <a:ext uri="{FF2B5EF4-FFF2-40B4-BE49-F238E27FC236}">
                  <a16:creationId xmlns:a16="http://schemas.microsoft.com/office/drawing/2014/main" id="{9F1BA48E-5484-4B3F-B298-F82BC73D773F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ector reto 29">
              <a:extLst>
                <a:ext uri="{FF2B5EF4-FFF2-40B4-BE49-F238E27FC236}">
                  <a16:creationId xmlns:a16="http://schemas.microsoft.com/office/drawing/2014/main" id="{F87CF3AF-6649-40A9-9EFE-D08C25AD72BF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2" name="Imagem 11" descr="Desenho de bandeira&#10;&#10;Descrição gerada automaticamente com confiança média">
            <a:extLst>
              <a:ext uri="{FF2B5EF4-FFF2-40B4-BE49-F238E27FC236}">
                <a16:creationId xmlns:a16="http://schemas.microsoft.com/office/drawing/2014/main" id="{D4B46475-BD9D-45D1-8B4B-BFD01FEC52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86836" cy="69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0340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73296962-F7FE-4B71-B4F5-E182C438161F}"/>
              </a:ext>
            </a:extLst>
          </p:cNvPr>
          <p:cNvGrpSpPr/>
          <p:nvPr userDrawn="1"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16" name="Conector reto 15">
              <a:extLst>
                <a:ext uri="{FF2B5EF4-FFF2-40B4-BE49-F238E27FC236}">
                  <a16:creationId xmlns:a16="http://schemas.microsoft.com/office/drawing/2014/main" id="{07B45530-6EB5-4562-BD05-63F985B08734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id="{E8C8BA90-4F4B-4B0A-ACF9-782540361116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Espaço Reservado para Número de Slide 5">
            <a:extLst>
              <a:ext uri="{FF2B5EF4-FFF2-40B4-BE49-F238E27FC236}">
                <a16:creationId xmlns:a16="http://schemas.microsoft.com/office/drawing/2014/main" id="{0F79E05E-7BD9-4B27-99B4-31FC40C1D4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2251" y="0"/>
            <a:ext cx="569749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pPr algn="r"/>
            <a:fld id="{4132491A-C8DB-4AC9-8AF1-41D5C714A7B5}" type="slidenum">
              <a:rPr lang="pt-BR" smtClean="0"/>
              <a:pPr algn="r"/>
              <a:t>‹nº›</a:t>
            </a:fld>
            <a:endParaRPr lang="pt-BR" dirty="0"/>
          </a:p>
        </p:txBody>
      </p: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406B26C5-A7F3-40EA-81D0-5FF10BEB50BF}"/>
              </a:ext>
            </a:extLst>
          </p:cNvPr>
          <p:cNvGrpSpPr/>
          <p:nvPr userDrawn="1"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29" name="Conector reto 28">
              <a:extLst>
                <a:ext uri="{FF2B5EF4-FFF2-40B4-BE49-F238E27FC236}">
                  <a16:creationId xmlns:a16="http://schemas.microsoft.com/office/drawing/2014/main" id="{3E916F81-8148-41DF-B575-EA269B3F06F2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ector reto 29">
              <a:extLst>
                <a:ext uri="{FF2B5EF4-FFF2-40B4-BE49-F238E27FC236}">
                  <a16:creationId xmlns:a16="http://schemas.microsoft.com/office/drawing/2014/main" id="{59C9F423-E5AD-4D0C-8249-DFCDCCBEF1B4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2" name="Imagem 11" descr="Desenho de bandeira&#10;&#10;Descrição gerada automaticamente com confiança média">
            <a:extLst>
              <a:ext uri="{FF2B5EF4-FFF2-40B4-BE49-F238E27FC236}">
                <a16:creationId xmlns:a16="http://schemas.microsoft.com/office/drawing/2014/main" id="{2ECF4FEB-A0E8-4F32-9DDD-92F5CE6C666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86836" cy="69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07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A0B46B84-07BB-432B-B467-EA5E826F9859}"/>
              </a:ext>
            </a:extLst>
          </p:cNvPr>
          <p:cNvGrpSpPr/>
          <p:nvPr userDrawn="1"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id="{DE71647A-04E6-47BD-A53B-F9850E4751E2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to 17">
              <a:extLst>
                <a:ext uri="{FF2B5EF4-FFF2-40B4-BE49-F238E27FC236}">
                  <a16:creationId xmlns:a16="http://schemas.microsoft.com/office/drawing/2014/main" id="{1DC843C7-2E37-4031-9804-6B5803FADA6A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Espaço Reservado para Número de Slide 5">
            <a:extLst>
              <a:ext uri="{FF2B5EF4-FFF2-40B4-BE49-F238E27FC236}">
                <a16:creationId xmlns:a16="http://schemas.microsoft.com/office/drawing/2014/main" id="{E3DCB8CC-F0C2-4710-AA29-D75F92613E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2251" y="0"/>
            <a:ext cx="569749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pPr algn="r"/>
            <a:fld id="{4132491A-C8DB-4AC9-8AF1-41D5C714A7B5}" type="slidenum">
              <a:rPr lang="pt-BR" smtClean="0"/>
              <a:pPr algn="r"/>
              <a:t>‹nº›</a:t>
            </a:fld>
            <a:endParaRPr lang="pt-BR" dirty="0"/>
          </a:p>
        </p:txBody>
      </p: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C4C767C1-4281-457D-B858-2A96F9F0C50E}"/>
              </a:ext>
            </a:extLst>
          </p:cNvPr>
          <p:cNvGrpSpPr/>
          <p:nvPr userDrawn="1"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30" name="Conector reto 29">
              <a:extLst>
                <a:ext uri="{FF2B5EF4-FFF2-40B4-BE49-F238E27FC236}">
                  <a16:creationId xmlns:a16="http://schemas.microsoft.com/office/drawing/2014/main" id="{2F7D956E-52DE-4671-BDFE-3480F014537D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ector reto 30">
              <a:extLst>
                <a:ext uri="{FF2B5EF4-FFF2-40B4-BE49-F238E27FC236}">
                  <a16:creationId xmlns:a16="http://schemas.microsoft.com/office/drawing/2014/main" id="{7E237CC9-0D83-47B9-94EC-ADCAF5BAE7E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3" name="Imagem 12" descr="Desenho de bandeira&#10;&#10;Descrição gerada automaticamente com confiança média">
            <a:extLst>
              <a:ext uri="{FF2B5EF4-FFF2-40B4-BE49-F238E27FC236}">
                <a16:creationId xmlns:a16="http://schemas.microsoft.com/office/drawing/2014/main" id="{55BC1C63-B62C-4D72-986B-A8553733F35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86836" cy="69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212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839788" y="365126"/>
            <a:ext cx="10515600" cy="587828"/>
          </a:xfrm>
        </p:spPr>
        <p:txBody>
          <a:bodyPr/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F1E81C7F-CE86-41CE-8CB4-36F7FB18E5C5}"/>
              </a:ext>
            </a:extLst>
          </p:cNvPr>
          <p:cNvGrpSpPr/>
          <p:nvPr userDrawn="1"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19" name="Conector reto 18">
              <a:extLst>
                <a:ext uri="{FF2B5EF4-FFF2-40B4-BE49-F238E27FC236}">
                  <a16:creationId xmlns:a16="http://schemas.microsoft.com/office/drawing/2014/main" id="{E54B37D9-A246-4215-8B5B-CADF0E8B0CF8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reto 19">
              <a:extLst>
                <a:ext uri="{FF2B5EF4-FFF2-40B4-BE49-F238E27FC236}">
                  <a16:creationId xmlns:a16="http://schemas.microsoft.com/office/drawing/2014/main" id="{B63EA0EB-083D-43AF-8763-2A4AD6800F2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Espaço Reservado para Número de Slide 5">
            <a:extLst>
              <a:ext uri="{FF2B5EF4-FFF2-40B4-BE49-F238E27FC236}">
                <a16:creationId xmlns:a16="http://schemas.microsoft.com/office/drawing/2014/main" id="{78B440E4-B93E-4124-9162-D18F2D5FC6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622251" y="0"/>
            <a:ext cx="569749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pPr algn="r"/>
            <a:fld id="{4132491A-C8DB-4AC9-8AF1-41D5C714A7B5}" type="slidenum">
              <a:rPr lang="pt-BR" smtClean="0"/>
              <a:pPr algn="r"/>
              <a:t>‹nº›</a:t>
            </a:fld>
            <a:endParaRPr lang="pt-BR" dirty="0"/>
          </a:p>
        </p:txBody>
      </p:sp>
      <p:grpSp>
        <p:nvGrpSpPr>
          <p:cNvPr id="31" name="Agrupar 30">
            <a:extLst>
              <a:ext uri="{FF2B5EF4-FFF2-40B4-BE49-F238E27FC236}">
                <a16:creationId xmlns:a16="http://schemas.microsoft.com/office/drawing/2014/main" id="{0F7EA419-53BB-4085-8069-69D9A98EA3B2}"/>
              </a:ext>
            </a:extLst>
          </p:cNvPr>
          <p:cNvGrpSpPr/>
          <p:nvPr userDrawn="1"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32" name="Conector reto 31">
              <a:extLst>
                <a:ext uri="{FF2B5EF4-FFF2-40B4-BE49-F238E27FC236}">
                  <a16:creationId xmlns:a16="http://schemas.microsoft.com/office/drawing/2014/main" id="{E5979A07-C966-48C6-B8EE-EEC198DCC42B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reto 32">
              <a:extLst>
                <a:ext uri="{FF2B5EF4-FFF2-40B4-BE49-F238E27FC236}">
                  <a16:creationId xmlns:a16="http://schemas.microsoft.com/office/drawing/2014/main" id="{4201B899-CDBD-46BF-BFDA-1985B633A5B1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" name="Imagem 14" descr="Desenho de bandeira&#10;&#10;Descrição gerada automaticamente com confiança média">
            <a:extLst>
              <a:ext uri="{FF2B5EF4-FFF2-40B4-BE49-F238E27FC236}">
                <a16:creationId xmlns:a16="http://schemas.microsoft.com/office/drawing/2014/main" id="{7FBFF99F-9C33-4E25-A1D1-09EE731A15A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86836" cy="69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733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 dirty="0"/>
              <a:t>CLIQUE PARA EDITAR O TÍTULO MESTRE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3413726B-29ED-4CCE-8E7F-B20E055900FF}"/>
              </a:ext>
            </a:extLst>
          </p:cNvPr>
          <p:cNvGrpSpPr/>
          <p:nvPr userDrawn="1"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15" name="Conector reto 14">
              <a:extLst>
                <a:ext uri="{FF2B5EF4-FFF2-40B4-BE49-F238E27FC236}">
                  <a16:creationId xmlns:a16="http://schemas.microsoft.com/office/drawing/2014/main" id="{D70C039E-8FB4-4B0B-857D-ADC78AC126DC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to 15">
              <a:extLst>
                <a:ext uri="{FF2B5EF4-FFF2-40B4-BE49-F238E27FC236}">
                  <a16:creationId xmlns:a16="http://schemas.microsoft.com/office/drawing/2014/main" id="{1798E300-A761-4340-BB54-5D9FCBE86E6D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Espaço Reservado para Número de Slide 5">
            <a:extLst>
              <a:ext uri="{FF2B5EF4-FFF2-40B4-BE49-F238E27FC236}">
                <a16:creationId xmlns:a16="http://schemas.microsoft.com/office/drawing/2014/main" id="{6907561A-CC1F-43BC-BAB2-D921B15455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2251" y="0"/>
            <a:ext cx="569749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pPr algn="r"/>
            <a:fld id="{4132491A-C8DB-4AC9-8AF1-41D5C714A7B5}" type="slidenum">
              <a:rPr lang="pt-BR" smtClean="0"/>
              <a:pPr algn="r"/>
              <a:t>‹nº›</a:t>
            </a:fld>
            <a:endParaRPr lang="pt-BR" dirty="0"/>
          </a:p>
        </p:txBody>
      </p: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39BC0B5B-180D-4566-BC71-BEF4FE060F9D}"/>
              </a:ext>
            </a:extLst>
          </p:cNvPr>
          <p:cNvGrpSpPr/>
          <p:nvPr userDrawn="1"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28" name="Conector reto 27">
              <a:extLst>
                <a:ext uri="{FF2B5EF4-FFF2-40B4-BE49-F238E27FC236}">
                  <a16:creationId xmlns:a16="http://schemas.microsoft.com/office/drawing/2014/main" id="{BE409561-B6D0-424D-8FB9-D881B5B9C904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reto 28">
              <a:extLst>
                <a:ext uri="{FF2B5EF4-FFF2-40B4-BE49-F238E27FC236}">
                  <a16:creationId xmlns:a16="http://schemas.microsoft.com/office/drawing/2014/main" id="{8C8CD70F-2F0C-42E6-BAD6-78DC7512509D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2" name="Imagem 11" descr="Desenho de bandeira&#10;&#10;Descrição gerada automaticamente com confiança média">
            <a:extLst>
              <a:ext uri="{FF2B5EF4-FFF2-40B4-BE49-F238E27FC236}">
                <a16:creationId xmlns:a16="http://schemas.microsoft.com/office/drawing/2014/main" id="{860E0FC7-913A-49F3-9150-56A5CE56661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86836" cy="69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046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Agrupar 12">
            <a:extLst>
              <a:ext uri="{FF2B5EF4-FFF2-40B4-BE49-F238E27FC236}">
                <a16:creationId xmlns:a16="http://schemas.microsoft.com/office/drawing/2014/main" id="{6BC66E6E-6288-477E-9B48-BB1F09936C59}"/>
              </a:ext>
            </a:extLst>
          </p:cNvPr>
          <p:cNvGrpSpPr/>
          <p:nvPr userDrawn="1"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14" name="Conector reto 13">
              <a:extLst>
                <a:ext uri="{FF2B5EF4-FFF2-40B4-BE49-F238E27FC236}">
                  <a16:creationId xmlns:a16="http://schemas.microsoft.com/office/drawing/2014/main" id="{4FCB9A90-A49A-40F3-84D1-965C0E566298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to 14">
              <a:extLst>
                <a:ext uri="{FF2B5EF4-FFF2-40B4-BE49-F238E27FC236}">
                  <a16:creationId xmlns:a16="http://schemas.microsoft.com/office/drawing/2014/main" id="{4A9AAC23-66EB-43EA-A9B8-3746F2FB6519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Espaço Reservado para Número de Slide 5">
            <a:extLst>
              <a:ext uri="{FF2B5EF4-FFF2-40B4-BE49-F238E27FC236}">
                <a16:creationId xmlns:a16="http://schemas.microsoft.com/office/drawing/2014/main" id="{CD7F9A15-3E74-45DD-89B3-17B50D9C39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2251" y="0"/>
            <a:ext cx="569749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pPr algn="r"/>
            <a:fld id="{4132491A-C8DB-4AC9-8AF1-41D5C714A7B5}" type="slidenum">
              <a:rPr lang="pt-BR" smtClean="0"/>
              <a:pPr algn="r"/>
              <a:t>‹nº›</a:t>
            </a:fld>
            <a:endParaRPr lang="pt-BR" dirty="0"/>
          </a:p>
        </p:txBody>
      </p: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D981D004-AFF4-44D5-B08E-7187786B8398}"/>
              </a:ext>
            </a:extLst>
          </p:cNvPr>
          <p:cNvGrpSpPr/>
          <p:nvPr userDrawn="1"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27" name="Conector reto 26">
              <a:extLst>
                <a:ext uri="{FF2B5EF4-FFF2-40B4-BE49-F238E27FC236}">
                  <a16:creationId xmlns:a16="http://schemas.microsoft.com/office/drawing/2014/main" id="{8651FFB3-0508-414F-8EB8-11ED66AFCBDA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ector reto 27">
              <a:extLst>
                <a:ext uri="{FF2B5EF4-FFF2-40B4-BE49-F238E27FC236}">
                  <a16:creationId xmlns:a16="http://schemas.microsoft.com/office/drawing/2014/main" id="{10C5DDB5-6BBD-4D49-B6DD-560E80703669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Imagem 9" descr="Desenho de bandeira&#10;&#10;Descrição gerada automaticamente com confiança média">
            <a:extLst>
              <a:ext uri="{FF2B5EF4-FFF2-40B4-BE49-F238E27FC236}">
                <a16:creationId xmlns:a16="http://schemas.microsoft.com/office/drawing/2014/main" id="{3E412A2F-D452-4303-A8FE-A320209C5F8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86836" cy="69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7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863B7304-D3E3-44B8-B186-01FDAC692F76}"/>
              </a:ext>
            </a:extLst>
          </p:cNvPr>
          <p:cNvGrpSpPr/>
          <p:nvPr userDrawn="1"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id="{27327B8C-FB09-41D0-ACE5-68131E743196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to 17">
              <a:extLst>
                <a:ext uri="{FF2B5EF4-FFF2-40B4-BE49-F238E27FC236}">
                  <a16:creationId xmlns:a16="http://schemas.microsoft.com/office/drawing/2014/main" id="{1006F54D-9B89-44F7-BAFF-8E809F630F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Espaço Reservado para Número de Slide 5">
            <a:extLst>
              <a:ext uri="{FF2B5EF4-FFF2-40B4-BE49-F238E27FC236}">
                <a16:creationId xmlns:a16="http://schemas.microsoft.com/office/drawing/2014/main" id="{A4BA843D-E6F2-4A11-BD02-76AAF88244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2251" y="0"/>
            <a:ext cx="569749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pPr algn="r"/>
            <a:fld id="{4132491A-C8DB-4AC9-8AF1-41D5C714A7B5}" type="slidenum">
              <a:rPr lang="pt-BR" smtClean="0"/>
              <a:pPr algn="r"/>
              <a:t>‹nº›</a:t>
            </a:fld>
            <a:endParaRPr lang="pt-BR" dirty="0"/>
          </a:p>
        </p:txBody>
      </p: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8FDB391C-BB53-4AC7-8005-EDF934826CC4}"/>
              </a:ext>
            </a:extLst>
          </p:cNvPr>
          <p:cNvGrpSpPr/>
          <p:nvPr userDrawn="1"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30" name="Conector reto 29">
              <a:extLst>
                <a:ext uri="{FF2B5EF4-FFF2-40B4-BE49-F238E27FC236}">
                  <a16:creationId xmlns:a16="http://schemas.microsoft.com/office/drawing/2014/main" id="{B2E00096-242A-4EA5-BD0F-2C5AD5C89743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ector reto 30">
              <a:extLst>
                <a:ext uri="{FF2B5EF4-FFF2-40B4-BE49-F238E27FC236}">
                  <a16:creationId xmlns:a16="http://schemas.microsoft.com/office/drawing/2014/main" id="{48DEEC1B-AEF7-4C5D-B9E2-0FF689302D6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3" name="Imagem 12" descr="Desenho de bandeira&#10;&#10;Descrição gerada automaticamente com confiança média">
            <a:extLst>
              <a:ext uri="{FF2B5EF4-FFF2-40B4-BE49-F238E27FC236}">
                <a16:creationId xmlns:a16="http://schemas.microsoft.com/office/drawing/2014/main" id="{1C91CB67-8175-4CFB-9DD2-BBF41651101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86836" cy="69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111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AB2AC046-02A9-43DC-993D-0509150F3610}"/>
              </a:ext>
            </a:extLst>
          </p:cNvPr>
          <p:cNvGrpSpPr/>
          <p:nvPr userDrawn="1"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id="{9C982EB7-4ECE-40FF-8E3C-A6911C9CAD06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to 17">
              <a:extLst>
                <a:ext uri="{FF2B5EF4-FFF2-40B4-BE49-F238E27FC236}">
                  <a16:creationId xmlns:a16="http://schemas.microsoft.com/office/drawing/2014/main" id="{B14F083C-B1E6-4AD5-892E-2B0BCB0A33EA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Espaço Reservado para Número de Slide 5">
            <a:extLst>
              <a:ext uri="{FF2B5EF4-FFF2-40B4-BE49-F238E27FC236}">
                <a16:creationId xmlns:a16="http://schemas.microsoft.com/office/drawing/2014/main" id="{F4171601-B1A2-4724-882B-0FD9FC055A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2251" y="0"/>
            <a:ext cx="569749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pPr algn="r"/>
            <a:fld id="{4132491A-C8DB-4AC9-8AF1-41D5C714A7B5}" type="slidenum">
              <a:rPr lang="pt-BR" smtClean="0"/>
              <a:pPr algn="r"/>
              <a:t>‹nº›</a:t>
            </a:fld>
            <a:endParaRPr lang="pt-BR" dirty="0"/>
          </a:p>
        </p:txBody>
      </p: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CE00638C-D7F8-4591-99DE-B8D04F3A8066}"/>
              </a:ext>
            </a:extLst>
          </p:cNvPr>
          <p:cNvGrpSpPr/>
          <p:nvPr userDrawn="1"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30" name="Conector reto 29">
              <a:extLst>
                <a:ext uri="{FF2B5EF4-FFF2-40B4-BE49-F238E27FC236}">
                  <a16:creationId xmlns:a16="http://schemas.microsoft.com/office/drawing/2014/main" id="{3145D146-7234-4FA1-8EBA-622EE1340297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ector reto 30">
              <a:extLst>
                <a:ext uri="{FF2B5EF4-FFF2-40B4-BE49-F238E27FC236}">
                  <a16:creationId xmlns:a16="http://schemas.microsoft.com/office/drawing/2014/main" id="{4E3683D6-BC3E-44B2-ABC8-86AEA164C58A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3" name="Imagem 12" descr="Desenho de bandeira&#10;&#10;Descrição gerada automaticamente com confiança média">
            <a:extLst>
              <a:ext uri="{FF2B5EF4-FFF2-40B4-BE49-F238E27FC236}">
                <a16:creationId xmlns:a16="http://schemas.microsoft.com/office/drawing/2014/main" id="{F3909B64-FDA9-463F-9DDC-E160E58D46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86836" cy="69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609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3610B525-5A9A-47AC-8BE0-7FA389539D91}"/>
              </a:ext>
            </a:extLst>
          </p:cNvPr>
          <p:cNvGrpSpPr/>
          <p:nvPr userDrawn="1"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16" name="Conector reto 15">
              <a:extLst>
                <a:ext uri="{FF2B5EF4-FFF2-40B4-BE49-F238E27FC236}">
                  <a16:creationId xmlns:a16="http://schemas.microsoft.com/office/drawing/2014/main" id="{84DDE5BF-9C81-4C7E-906A-1A3462FE0BA9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id="{A573DE45-5C64-44AD-9130-B22A9F7E6A82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Espaço Reservado para Número de Slide 5">
            <a:extLst>
              <a:ext uri="{FF2B5EF4-FFF2-40B4-BE49-F238E27FC236}">
                <a16:creationId xmlns:a16="http://schemas.microsoft.com/office/drawing/2014/main" id="{ED0E32D1-CD33-45E1-A41D-0ECCF14B33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2251" y="0"/>
            <a:ext cx="569749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pPr algn="r"/>
            <a:fld id="{4132491A-C8DB-4AC9-8AF1-41D5C714A7B5}" type="slidenum">
              <a:rPr lang="pt-BR" smtClean="0"/>
              <a:pPr algn="r"/>
              <a:t>‹nº›</a:t>
            </a:fld>
            <a:endParaRPr lang="pt-BR" dirty="0"/>
          </a:p>
        </p:txBody>
      </p: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ED6D8575-EC83-4B80-B5A7-25F22D5B1AB2}"/>
              </a:ext>
            </a:extLst>
          </p:cNvPr>
          <p:cNvGrpSpPr/>
          <p:nvPr userDrawn="1"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29" name="Conector reto 28">
              <a:extLst>
                <a:ext uri="{FF2B5EF4-FFF2-40B4-BE49-F238E27FC236}">
                  <a16:creationId xmlns:a16="http://schemas.microsoft.com/office/drawing/2014/main" id="{8461D1B9-55AC-48EB-A791-0D8CEE6AEE3D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ector reto 29">
              <a:extLst>
                <a:ext uri="{FF2B5EF4-FFF2-40B4-BE49-F238E27FC236}">
                  <a16:creationId xmlns:a16="http://schemas.microsoft.com/office/drawing/2014/main" id="{5119D623-1617-400D-9EA3-870B7D910F7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2" name="Imagem 11" descr="Desenho de bandeira&#10;&#10;Descrição gerada automaticamente com confiança média">
            <a:extLst>
              <a:ext uri="{FF2B5EF4-FFF2-40B4-BE49-F238E27FC236}">
                <a16:creationId xmlns:a16="http://schemas.microsoft.com/office/drawing/2014/main" id="{82AC2369-94F0-4F65-A3AC-08763C67BC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86836" cy="69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459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Título Vertical 1">
            <a:extLst>
              <a:ext uri="{FF2B5EF4-FFF2-40B4-BE49-F238E27FC236}">
                <a16:creationId xmlns:a16="http://schemas.microsoft.com/office/drawing/2014/main" id="{435488B4-07BE-45F8-A08D-6998844833B4}"/>
              </a:ext>
            </a:extLst>
          </p:cNvPr>
          <p:cNvSpPr txBox="1">
            <a:spLocks/>
          </p:cNvSpPr>
          <p:nvPr userDrawn="1"/>
        </p:nvSpPr>
        <p:spPr>
          <a:xfrm>
            <a:off x="5943600" y="909637"/>
            <a:ext cx="2628900" cy="5811838"/>
          </a:xfrm>
          <a:prstGeom prst="rect">
            <a:avLst/>
          </a:prstGeom>
        </p:spPr>
        <p:txBody>
          <a:bodyPr vert="eaVert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36DD95DD-5473-47DF-896B-102132AA6C25}"/>
              </a:ext>
            </a:extLst>
          </p:cNvPr>
          <p:cNvGrpSpPr/>
          <p:nvPr userDrawn="1"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20" name="Conector reto 19">
              <a:extLst>
                <a:ext uri="{FF2B5EF4-FFF2-40B4-BE49-F238E27FC236}">
                  <a16:creationId xmlns:a16="http://schemas.microsoft.com/office/drawing/2014/main" id="{F0B38431-0FE0-4BB2-B82C-C9C68FB3247A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reto 20">
              <a:extLst>
                <a:ext uri="{FF2B5EF4-FFF2-40B4-BE49-F238E27FC236}">
                  <a16:creationId xmlns:a16="http://schemas.microsoft.com/office/drawing/2014/main" id="{BA8D6F62-C6FF-45CB-A864-91BE010C9543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Espaço Reservado para Número de Slide 5">
            <a:extLst>
              <a:ext uri="{FF2B5EF4-FFF2-40B4-BE49-F238E27FC236}">
                <a16:creationId xmlns:a16="http://schemas.microsoft.com/office/drawing/2014/main" id="{C1894782-5F5B-4537-87DE-1E65CEBC58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2251" y="0"/>
            <a:ext cx="569749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pPr algn="r"/>
            <a:fld id="{4132491A-C8DB-4AC9-8AF1-41D5C714A7B5}" type="slidenum">
              <a:rPr lang="pt-BR" smtClean="0"/>
              <a:pPr algn="r"/>
              <a:t>‹nº›</a:t>
            </a:fld>
            <a:endParaRPr lang="pt-BR" dirty="0"/>
          </a:p>
        </p:txBody>
      </p:sp>
      <p:grpSp>
        <p:nvGrpSpPr>
          <p:cNvPr id="24" name="Agrupar 23">
            <a:extLst>
              <a:ext uri="{FF2B5EF4-FFF2-40B4-BE49-F238E27FC236}">
                <a16:creationId xmlns:a16="http://schemas.microsoft.com/office/drawing/2014/main" id="{DBD8E15B-0CBB-4249-986D-3B87F76795EA}"/>
              </a:ext>
            </a:extLst>
          </p:cNvPr>
          <p:cNvGrpSpPr/>
          <p:nvPr userDrawn="1"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25" name="Conector reto 24">
              <a:extLst>
                <a:ext uri="{FF2B5EF4-FFF2-40B4-BE49-F238E27FC236}">
                  <a16:creationId xmlns:a16="http://schemas.microsoft.com/office/drawing/2014/main" id="{6D7DE2CC-E16A-434E-B039-F4F0293F4353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ector reto 25">
              <a:extLst>
                <a:ext uri="{FF2B5EF4-FFF2-40B4-BE49-F238E27FC236}">
                  <a16:creationId xmlns:a16="http://schemas.microsoft.com/office/drawing/2014/main" id="{408E9506-BDE6-4902-B945-895335602523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3" name="Imagem 12" descr="Desenho de bandeira&#10;&#10;Descrição gerada automaticamente com confiança média">
            <a:extLst>
              <a:ext uri="{FF2B5EF4-FFF2-40B4-BE49-F238E27FC236}">
                <a16:creationId xmlns:a16="http://schemas.microsoft.com/office/drawing/2014/main" id="{2C724FA7-60F7-4824-813F-66D6438E67F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86836" cy="69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7402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2275066" y="365125"/>
            <a:ext cx="9285218" cy="6015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48861" y="1065888"/>
            <a:ext cx="11478684" cy="55121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667611C3-7981-41FD-9AB4-3BA9591ABAD7}"/>
              </a:ext>
            </a:extLst>
          </p:cNvPr>
          <p:cNvGrpSpPr/>
          <p:nvPr userDrawn="1"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id="{1648A425-969A-4602-8324-6D36E5A7CACC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ector reto 25">
              <a:extLst>
                <a:ext uri="{FF2B5EF4-FFF2-40B4-BE49-F238E27FC236}">
                  <a16:creationId xmlns:a16="http://schemas.microsoft.com/office/drawing/2014/main" id="{6504C654-8D56-4391-A532-1862C20C9F2F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7" name="Imagem 26" descr="Desenho com traços pretos em fundo branco e letras pretas&#10;&#10;Descrição gerada automaticamente com confiança média">
            <a:extLst>
              <a:ext uri="{FF2B5EF4-FFF2-40B4-BE49-F238E27FC236}">
                <a16:creationId xmlns:a16="http://schemas.microsoft.com/office/drawing/2014/main" id="{906352E9-AC76-4B0E-A1D3-81199EDB1CA8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704704" cy="842055"/>
          </a:xfrm>
          <a:prstGeom prst="rect">
            <a:avLst/>
          </a:prstGeom>
        </p:spPr>
      </p:pic>
      <p:sp>
        <p:nvSpPr>
          <p:cNvPr id="28" name="Espaço Reservado para Número de Slide 5">
            <a:extLst>
              <a:ext uri="{FF2B5EF4-FFF2-40B4-BE49-F238E27FC236}">
                <a16:creationId xmlns:a16="http://schemas.microsoft.com/office/drawing/2014/main" id="{7238D1BF-9E73-4848-935C-825FB8F12B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2251" y="0"/>
            <a:ext cx="569749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pPr algn="r"/>
            <a:fld id="{4132491A-C8DB-4AC9-8AF1-41D5C714A7B5}" type="slidenum">
              <a:rPr lang="pt-BR" smtClean="0"/>
              <a:pPr algn="r"/>
              <a:t>‹nº›</a:t>
            </a:fld>
            <a:endParaRPr lang="pt-BR" dirty="0"/>
          </a:p>
        </p:txBody>
      </p: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9DC435A9-3247-4320-8DDB-1AE628E9B7DE}"/>
              </a:ext>
            </a:extLst>
          </p:cNvPr>
          <p:cNvGrpSpPr/>
          <p:nvPr userDrawn="1"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30" name="Conector reto 29">
              <a:extLst>
                <a:ext uri="{FF2B5EF4-FFF2-40B4-BE49-F238E27FC236}">
                  <a16:creationId xmlns:a16="http://schemas.microsoft.com/office/drawing/2014/main" id="{BE88F8B2-B90D-40D9-B386-6FFAFAF36935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ector reto 30">
              <a:extLst>
                <a:ext uri="{FF2B5EF4-FFF2-40B4-BE49-F238E27FC236}">
                  <a16:creationId xmlns:a16="http://schemas.microsoft.com/office/drawing/2014/main" id="{79769E09-F4F0-4CC2-AFC1-66B37F3B72D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81345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B906F05A-FF54-4CB9-9DF3-C368ECDCC2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t-BR" b="1" dirty="0">
                <a:cs typeface="Times New Roman" panose="02020603050405020304" pitchFamily="18" charset="0"/>
              </a:rPr>
              <a:t>Variáveis, Expressões e Instruções (</a:t>
            </a:r>
            <a:r>
              <a:rPr lang="pt-BR" b="1" dirty="0" err="1">
                <a:cs typeface="Times New Roman" panose="02020603050405020304" pitchFamily="18" charset="0"/>
              </a:rPr>
              <a:t>String</a:t>
            </a:r>
            <a:r>
              <a:rPr lang="pt-BR" b="1" dirty="0">
                <a:cs typeface="Times New Roman" panose="02020603050405020304" pitchFamily="18" charset="0"/>
              </a:rPr>
              <a:t>)</a:t>
            </a:r>
            <a:endParaRPr lang="pt-BR" dirty="0"/>
          </a:p>
        </p:txBody>
      </p:sp>
      <p:sp>
        <p:nvSpPr>
          <p:cNvPr id="5" name="Subtítulo 7">
            <a:extLst>
              <a:ext uri="{FF2B5EF4-FFF2-40B4-BE49-F238E27FC236}">
                <a16:creationId xmlns:a16="http://schemas.microsoft.com/office/drawing/2014/main" id="{688F5A5E-3C00-499E-41AF-32FFB76BAF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907250"/>
          </a:xfrm>
        </p:spPr>
        <p:txBody>
          <a:bodyPr>
            <a:normAutofit fontScale="70000" lnSpcReduction="20000"/>
          </a:bodyPr>
          <a:lstStyle/>
          <a:p>
            <a:r>
              <a:rPr lang="pt-BR" altLang="pt-BR" sz="2800" b="1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Disciplina: Programação para Engenharia</a:t>
            </a:r>
          </a:p>
          <a:p>
            <a:endParaRPr lang="pt-BR" altLang="pt-BR" b="1" i="1" dirty="0">
              <a:solidFill>
                <a:srgbClr val="000000"/>
              </a:solidFill>
              <a:latin typeface="+mj-lt"/>
              <a:cs typeface="Times New Roman" panose="02020603050405020304" pitchFamily="18" charset="0"/>
            </a:endParaRPr>
          </a:p>
          <a:p>
            <a:pPr algn="l"/>
            <a:r>
              <a:rPr lang="pt-BR" altLang="pt-BR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		Professores:	Cristiane </a:t>
            </a:r>
            <a:r>
              <a:rPr lang="pt-BR" altLang="pt-BR" dirty="0" err="1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Pavei</a:t>
            </a:r>
            <a:r>
              <a:rPr lang="pt-BR" altLang="pt-BR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pt-BR" altLang="pt-BR" dirty="0" err="1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Martinello</a:t>
            </a:r>
            <a:r>
              <a:rPr lang="pt-BR" altLang="pt-BR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 Fernandes</a:t>
            </a:r>
          </a:p>
          <a:p>
            <a:pPr algn="l"/>
            <a:r>
              <a:rPr lang="pt-BR" altLang="pt-BR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				Douglas de Medeiros Deolindo</a:t>
            </a:r>
          </a:p>
          <a:p>
            <a:pPr algn="l"/>
            <a:r>
              <a:rPr lang="pt-BR" altLang="pt-BR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				Giovani Martins Cascaes</a:t>
            </a:r>
          </a:p>
          <a:p>
            <a:pPr algn="l"/>
            <a:r>
              <a:rPr lang="pt-BR" altLang="pt-BR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				Joel Barbosa </a:t>
            </a:r>
            <a:r>
              <a:rPr lang="pt-BR" altLang="pt-BR" dirty="0" err="1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Panchyniak</a:t>
            </a:r>
            <a:r>
              <a:rPr lang="pt-BR" altLang="pt-BR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	</a:t>
            </a:r>
          </a:p>
          <a:p>
            <a:pPr algn="l"/>
            <a:r>
              <a:rPr lang="pt-BR" altLang="pt-BR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				Marcelo Marcos Amoroso</a:t>
            </a:r>
          </a:p>
          <a:p>
            <a:pPr algn="l"/>
            <a:r>
              <a:rPr lang="pt-BR" altLang="pt-BR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				Marcos Antônio Jeremias Coelho</a:t>
            </a:r>
          </a:p>
          <a:p>
            <a:pPr algn="l"/>
            <a:r>
              <a:rPr lang="pt-BR" altLang="pt-BR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				Ramon de Souza Coan</a:t>
            </a:r>
          </a:p>
        </p:txBody>
      </p:sp>
    </p:spTree>
    <p:extLst>
      <p:ext uri="{BB962C8B-B14F-4D97-AF65-F5344CB8AC3E}">
        <p14:creationId xmlns:p14="http://schemas.microsoft.com/office/powerpoint/2010/main" val="34131597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334759" y="400720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Praticando com o Python ...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ACD964BC-75DB-E4A0-CE98-713E39F4AADB}"/>
              </a:ext>
            </a:extLst>
          </p:cNvPr>
          <p:cNvSpPr txBox="1"/>
          <p:nvPr/>
        </p:nvSpPr>
        <p:spPr>
          <a:xfrm>
            <a:off x="1049866" y="1557866"/>
            <a:ext cx="568373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>
                <a:solidFill>
                  <a:srgbClr val="FF0000"/>
                </a:solidFill>
              </a:rPr>
              <a:t>Lista de Exercícios aula passada…</a:t>
            </a:r>
          </a:p>
          <a:p>
            <a:endParaRPr lang="pt-BR" sz="3200" dirty="0">
              <a:solidFill>
                <a:srgbClr val="FF0000"/>
              </a:solidFill>
            </a:endParaRPr>
          </a:p>
          <a:p>
            <a:r>
              <a:rPr lang="pt-BR" sz="3200" dirty="0">
                <a:solidFill>
                  <a:srgbClr val="FF0000"/>
                </a:solidFill>
              </a:rPr>
              <a:t>Exemplo: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3D035F9-0C64-759E-034C-8767A180186A}"/>
              </a:ext>
            </a:extLst>
          </p:cNvPr>
          <p:cNvSpPr txBox="1"/>
          <p:nvPr/>
        </p:nvSpPr>
        <p:spPr>
          <a:xfrm>
            <a:off x="1049866" y="3225801"/>
            <a:ext cx="977053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aluno = input("Digite seu nome: ")</a:t>
            </a:r>
          </a:p>
          <a:p>
            <a:pPr algn="just"/>
            <a:r>
              <a:rPr lang="pt-B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nota1 = </a:t>
            </a:r>
            <a:r>
              <a:rPr lang="pt-BR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pt-B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(input(“Digite sua nota1: "))</a:t>
            </a:r>
          </a:p>
          <a:p>
            <a:pPr algn="just"/>
            <a:r>
              <a:rPr lang="pt-B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nota2 = </a:t>
            </a:r>
            <a:r>
              <a:rPr lang="pt-BR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pt-B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(input(“Digite sua nota2: "))</a:t>
            </a:r>
          </a:p>
          <a:p>
            <a:pPr algn="just"/>
            <a:endParaRPr lang="pt-BR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/>
            <a:r>
              <a:rPr lang="pt-B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media = ( nota1 + nota2 ) / 2</a:t>
            </a:r>
          </a:p>
          <a:p>
            <a:pPr algn="just"/>
            <a:endParaRPr lang="pt-BR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/>
            <a:r>
              <a:rPr lang="pt-B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print(“Nome Aluno: “,nome)</a:t>
            </a:r>
          </a:p>
          <a:p>
            <a:pPr algn="just"/>
            <a:r>
              <a:rPr lang="pt-B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print(“Média final: “, media)</a:t>
            </a:r>
          </a:p>
        </p:txBody>
      </p:sp>
    </p:spTree>
    <p:extLst>
      <p:ext uri="{BB962C8B-B14F-4D97-AF65-F5344CB8AC3E}">
        <p14:creationId xmlns:p14="http://schemas.microsoft.com/office/powerpoint/2010/main" val="17594917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Variáveis do tipo </a:t>
            </a:r>
            <a:r>
              <a:rPr lang="pt-BR" sz="4800" b="1" dirty="0" err="1">
                <a:solidFill>
                  <a:srgbClr val="003958"/>
                </a:solidFill>
                <a:latin typeface="+mj-lt"/>
              </a:rPr>
              <a:t>string</a:t>
            </a:r>
            <a:endParaRPr lang="pt-BR" sz="4800" b="1" dirty="0">
              <a:solidFill>
                <a:srgbClr val="003958"/>
              </a:solidFill>
              <a:latin typeface="+mj-lt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E18A340-A37F-4AD4-AEC0-70C12AD70905}"/>
              </a:ext>
            </a:extLst>
          </p:cNvPr>
          <p:cNvSpPr txBox="1"/>
          <p:nvPr/>
        </p:nvSpPr>
        <p:spPr>
          <a:xfrm>
            <a:off x="1118258" y="1588632"/>
            <a:ext cx="106870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800" dirty="0"/>
              <a:t>Representam informação textual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82FF1C6-2B7C-4618-B17F-D30820256CC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743" r="16544" b="12713"/>
          <a:stretch/>
        </p:blipFill>
        <p:spPr>
          <a:xfrm>
            <a:off x="6875506" y="4525772"/>
            <a:ext cx="4573003" cy="1216628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177245AE-F70E-4F69-9609-41DC61BBDB4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9025" b="21894"/>
          <a:stretch/>
        </p:blipFill>
        <p:spPr>
          <a:xfrm>
            <a:off x="539443" y="4563159"/>
            <a:ext cx="6083916" cy="1793191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EC83BE49-7761-441C-9E50-EB837C504572}"/>
              </a:ext>
            </a:extLst>
          </p:cNvPr>
          <p:cNvSpPr txBox="1"/>
          <p:nvPr/>
        </p:nvSpPr>
        <p:spPr>
          <a:xfrm>
            <a:off x="1118258" y="2404493"/>
            <a:ext cx="10460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800" dirty="0"/>
              <a:t>Uma </a:t>
            </a:r>
            <a:r>
              <a:rPr lang="pt-BR" sz="2800" b="1" dirty="0" err="1"/>
              <a:t>string</a:t>
            </a:r>
            <a:r>
              <a:rPr lang="pt-BR" sz="2800" dirty="0"/>
              <a:t> é uma sequência de caracteres simples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F54414F-9CAA-4034-BB2E-2A73D7DC5CA7}"/>
              </a:ext>
            </a:extLst>
          </p:cNvPr>
          <p:cNvSpPr txBox="1"/>
          <p:nvPr/>
        </p:nvSpPr>
        <p:spPr>
          <a:xfrm>
            <a:off x="1118258" y="3249689"/>
            <a:ext cx="1019478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800" dirty="0"/>
              <a:t>Na linguagem Python, as </a:t>
            </a:r>
            <a:r>
              <a:rPr lang="pt-BR" sz="2800" dirty="0" err="1"/>
              <a:t>strings</a:t>
            </a:r>
            <a:r>
              <a:rPr lang="pt-BR" sz="2800" dirty="0"/>
              <a:t> são utilizadas com aspas simples ('... ') ou aspas duplas ("...")</a:t>
            </a:r>
          </a:p>
        </p:txBody>
      </p:sp>
    </p:spTree>
    <p:extLst>
      <p:ext uri="{BB962C8B-B14F-4D97-AF65-F5344CB8AC3E}">
        <p14:creationId xmlns:p14="http://schemas.microsoft.com/office/powerpoint/2010/main" val="4146169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Acessando caracteres de uma </a:t>
            </a:r>
            <a:r>
              <a:rPr lang="pt-BR" sz="4800" b="1" dirty="0" err="1">
                <a:solidFill>
                  <a:srgbClr val="003958"/>
                </a:solidFill>
                <a:latin typeface="+mj-lt"/>
              </a:rPr>
              <a:t>string</a:t>
            </a:r>
            <a:r>
              <a:rPr lang="pt-BR" sz="4800" dirty="0">
                <a:solidFill>
                  <a:srgbClr val="003958"/>
                </a:solidFill>
                <a:latin typeface="+mj-lt"/>
              </a:rPr>
              <a:t> 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1023257" y="1822956"/>
            <a:ext cx="109369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E18A340-A37F-4AD4-AEC0-70C12AD70905}"/>
              </a:ext>
            </a:extLst>
          </p:cNvPr>
          <p:cNvSpPr txBox="1"/>
          <p:nvPr/>
        </p:nvSpPr>
        <p:spPr>
          <a:xfrm>
            <a:off x="800100" y="1524000"/>
            <a:ext cx="1068700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800" dirty="0"/>
              <a:t>Caracteres podem ser acessados pela sua posição dentro da </a:t>
            </a:r>
            <a:r>
              <a:rPr lang="pt-BR" sz="2800" b="1" dirty="0" err="1"/>
              <a:t>string</a:t>
            </a:r>
            <a:r>
              <a:rPr lang="pt-BR" sz="2800" dirty="0"/>
              <a:t>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800" dirty="0"/>
              <a:t> Primeira posição é a posição ZERO</a:t>
            </a:r>
            <a:endParaRPr lang="pt-BR" sz="26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43185CF-AD6E-4BF3-8D33-EAD4E169A5A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39" t="7414" r="9696" b="5408"/>
          <a:stretch/>
        </p:blipFill>
        <p:spPr>
          <a:xfrm>
            <a:off x="800100" y="3689635"/>
            <a:ext cx="4710223" cy="2126049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2A39B086-0BE8-429F-B496-E5D97C0B23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4114" y="3876238"/>
            <a:ext cx="6716062" cy="876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812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Alteração de um caractere em </a:t>
            </a:r>
            <a:r>
              <a:rPr lang="pt-BR" sz="4800" b="1" dirty="0" err="1">
                <a:solidFill>
                  <a:srgbClr val="003958"/>
                </a:solidFill>
                <a:latin typeface="+mj-lt"/>
              </a:rPr>
              <a:t>strings</a:t>
            </a:r>
            <a:endParaRPr lang="pt-BR" sz="4800" b="1" dirty="0">
              <a:solidFill>
                <a:srgbClr val="003958"/>
              </a:solidFill>
              <a:latin typeface="+mj-lt"/>
            </a:endParaRPr>
          </a:p>
        </p:txBody>
      </p:sp>
      <p:sp>
        <p:nvSpPr>
          <p:cNvPr id="9" name="CaixaDeTexto 8"/>
          <p:cNvSpPr txBox="1"/>
          <p:nvPr/>
        </p:nvSpPr>
        <p:spPr>
          <a:xfrm>
            <a:off x="993300" y="1494840"/>
            <a:ext cx="109369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E18A340-A37F-4AD4-AEC0-70C12AD70905}"/>
              </a:ext>
            </a:extLst>
          </p:cNvPr>
          <p:cNvSpPr txBox="1"/>
          <p:nvPr/>
        </p:nvSpPr>
        <p:spPr>
          <a:xfrm>
            <a:off x="800100" y="1798047"/>
            <a:ext cx="1068700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dirty="0"/>
              <a:t>O conteúdo de uma determinada posição de uma </a:t>
            </a:r>
            <a:r>
              <a:rPr lang="pt-BR" sz="2800" b="1" dirty="0" err="1"/>
              <a:t>string</a:t>
            </a:r>
            <a:r>
              <a:rPr lang="pt-BR" sz="2800" dirty="0"/>
              <a:t> não pode ser alterado – são sequências imutáveis.</a:t>
            </a:r>
            <a:endParaRPr lang="pt-BR" sz="2600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5945011B-E045-4E94-B3C5-4BFB1BC944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2623" y="3577282"/>
            <a:ext cx="7878274" cy="2695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025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Fatiamento das </a:t>
            </a:r>
            <a:r>
              <a:rPr lang="pt-BR" sz="4800" b="1" dirty="0" err="1">
                <a:solidFill>
                  <a:srgbClr val="003958"/>
                </a:solidFill>
                <a:latin typeface="+mj-lt"/>
              </a:rPr>
              <a:t>strings</a:t>
            </a:r>
            <a:endParaRPr lang="pt-BR" sz="4800" b="1" dirty="0">
              <a:solidFill>
                <a:srgbClr val="003958"/>
              </a:solidFill>
              <a:latin typeface="+mj-lt"/>
            </a:endParaRPr>
          </a:p>
        </p:txBody>
      </p:sp>
      <p:sp>
        <p:nvSpPr>
          <p:cNvPr id="9" name="CaixaDeTexto 8"/>
          <p:cNvSpPr txBox="1"/>
          <p:nvPr/>
        </p:nvSpPr>
        <p:spPr>
          <a:xfrm>
            <a:off x="1023257" y="1822956"/>
            <a:ext cx="109369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E18A340-A37F-4AD4-AEC0-70C12AD70905}"/>
              </a:ext>
            </a:extLst>
          </p:cNvPr>
          <p:cNvSpPr txBox="1"/>
          <p:nvPr/>
        </p:nvSpPr>
        <p:spPr>
          <a:xfrm>
            <a:off x="728134" y="1822956"/>
            <a:ext cx="108360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800" dirty="0"/>
              <a:t>O fatiamento é uma ferramenta usada para extrair apenas uma parte dos elementos de uma </a:t>
            </a:r>
            <a:r>
              <a:rPr lang="pt-BR" sz="2800" b="1" dirty="0" err="1"/>
              <a:t>string</a:t>
            </a:r>
            <a:endParaRPr lang="pt-BR" sz="2800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CB76294-B8B7-4EAA-948E-5497F7903354}"/>
              </a:ext>
            </a:extLst>
          </p:cNvPr>
          <p:cNvSpPr txBox="1"/>
          <p:nvPr/>
        </p:nvSpPr>
        <p:spPr>
          <a:xfrm>
            <a:off x="1446028" y="3462486"/>
            <a:ext cx="84635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dirty="0"/>
              <a:t>		</a:t>
            </a:r>
            <a:r>
              <a:rPr lang="pt-BR" sz="2800" dirty="0" err="1">
                <a:solidFill>
                  <a:srgbClr val="00B050"/>
                </a:solidFill>
              </a:rPr>
              <a:t>string</a:t>
            </a:r>
            <a:r>
              <a:rPr lang="pt-BR" sz="2800" dirty="0"/>
              <a:t>[</a:t>
            </a:r>
            <a:r>
              <a:rPr lang="pt-BR" sz="2800" dirty="0" err="1"/>
              <a:t>Limite_Inferior</a:t>
            </a:r>
            <a:r>
              <a:rPr lang="pt-BR" sz="2800" dirty="0"/>
              <a:t> : </a:t>
            </a:r>
            <a:r>
              <a:rPr lang="pt-BR" sz="2800" dirty="0" err="1"/>
              <a:t>Limite_Superior</a:t>
            </a:r>
            <a:r>
              <a:rPr lang="pt-BR" sz="2800" dirty="0"/>
              <a:t>] 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37711799-C763-4041-A127-D1CCC1BEAD79}"/>
              </a:ext>
            </a:extLst>
          </p:cNvPr>
          <p:cNvSpPr txBox="1"/>
          <p:nvPr/>
        </p:nvSpPr>
        <p:spPr>
          <a:xfrm>
            <a:off x="1023257" y="4761308"/>
            <a:ext cx="10877006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pt-BR" sz="1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800" dirty="0"/>
              <a:t>Retorna uma </a:t>
            </a:r>
            <a:r>
              <a:rPr lang="pt-BR" sz="2800" b="1" dirty="0" err="1"/>
              <a:t>string</a:t>
            </a:r>
            <a:r>
              <a:rPr lang="pt-BR" sz="2800" dirty="0"/>
              <a:t> com os elementos das posições do limite inferior até o limite superior -1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00193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Fatiamento de </a:t>
            </a:r>
            <a:r>
              <a:rPr lang="pt-BR" sz="4800" b="1" dirty="0" err="1">
                <a:solidFill>
                  <a:srgbClr val="003958"/>
                </a:solidFill>
                <a:latin typeface="+mj-lt"/>
              </a:rPr>
              <a:t>string</a:t>
            </a:r>
            <a:endParaRPr lang="pt-BR" sz="4800" b="1" dirty="0">
              <a:solidFill>
                <a:srgbClr val="003958"/>
              </a:solidFill>
              <a:latin typeface="+mj-lt"/>
            </a:endParaRPr>
          </a:p>
        </p:txBody>
      </p:sp>
      <p:sp>
        <p:nvSpPr>
          <p:cNvPr id="9" name="CaixaDeTexto 8"/>
          <p:cNvSpPr txBox="1"/>
          <p:nvPr/>
        </p:nvSpPr>
        <p:spPr>
          <a:xfrm>
            <a:off x="1023257" y="1822956"/>
            <a:ext cx="109369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BAFBDED-2D68-42D6-8460-A8C1E51698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765" y="1494840"/>
            <a:ext cx="10795257" cy="4527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692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Principais operadores para </a:t>
            </a:r>
            <a:r>
              <a:rPr lang="pt-BR" sz="4800" b="1" dirty="0" err="1">
                <a:solidFill>
                  <a:srgbClr val="003958"/>
                </a:solidFill>
                <a:latin typeface="+mj-lt"/>
              </a:rPr>
              <a:t>string</a:t>
            </a:r>
            <a:endParaRPr lang="pt-BR" sz="4800" b="1" dirty="0">
              <a:solidFill>
                <a:srgbClr val="003958"/>
              </a:solidFill>
              <a:latin typeface="+mj-lt"/>
            </a:endParaRPr>
          </a:p>
        </p:txBody>
      </p:sp>
      <p:sp>
        <p:nvSpPr>
          <p:cNvPr id="9" name="CaixaDeTexto 8"/>
          <p:cNvSpPr txBox="1"/>
          <p:nvPr/>
        </p:nvSpPr>
        <p:spPr>
          <a:xfrm>
            <a:off x="1023257" y="1822956"/>
            <a:ext cx="109369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E18A340-A37F-4AD4-AEC0-70C12AD70905}"/>
              </a:ext>
            </a:extLst>
          </p:cNvPr>
          <p:cNvSpPr txBox="1"/>
          <p:nvPr/>
        </p:nvSpPr>
        <p:spPr>
          <a:xfrm>
            <a:off x="810733" y="1524000"/>
            <a:ext cx="1068700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800" dirty="0"/>
              <a:t>Alguns operadores importantes que podem ser usados em </a:t>
            </a:r>
            <a:r>
              <a:rPr lang="pt-BR" sz="2800" b="1" dirty="0" err="1"/>
              <a:t>string</a:t>
            </a:r>
            <a:r>
              <a:rPr lang="pt-BR" sz="2800" dirty="0"/>
              <a:t>:</a:t>
            </a:r>
          </a:p>
          <a:p>
            <a:pPr algn="just"/>
            <a:r>
              <a:rPr lang="pt-BR" sz="2800" dirty="0"/>
              <a:t> </a:t>
            </a:r>
          </a:p>
          <a:p>
            <a:pPr marL="1828800" lvl="3" indent="-457200" algn="just">
              <a:buFont typeface="Wingdings" panose="05000000000000000000" pitchFamily="2" charset="2"/>
              <a:buChar char="§"/>
            </a:pPr>
            <a:r>
              <a:rPr lang="pt-BR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</a:p>
          <a:p>
            <a:pPr marL="1828800" lvl="3" indent="-457200" algn="just">
              <a:buFont typeface="Wingdings" panose="05000000000000000000" pitchFamily="2" charset="2"/>
              <a:buChar char="§"/>
            </a:pPr>
            <a:endParaRPr lang="pt-BR" sz="2800" dirty="0"/>
          </a:p>
          <a:p>
            <a:pPr marL="1828800" lvl="3" indent="-457200" algn="just">
              <a:buFont typeface="Wingdings" panose="05000000000000000000" pitchFamily="2" charset="2"/>
              <a:buChar char="§"/>
            </a:pPr>
            <a:r>
              <a:rPr lang="pt-BR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pt-BR" sz="2800" dirty="0"/>
              <a:t> </a:t>
            </a:r>
          </a:p>
          <a:p>
            <a:pPr marL="1828800" lvl="3" indent="-457200" algn="just">
              <a:buFont typeface="Wingdings" panose="05000000000000000000" pitchFamily="2" charset="2"/>
              <a:buChar char="§"/>
            </a:pPr>
            <a:endParaRPr lang="pt-BR" sz="2800" dirty="0"/>
          </a:p>
          <a:p>
            <a:pPr marL="1828800" lvl="3" indent="-457200" algn="just">
              <a:buFont typeface="Wingdings" panose="05000000000000000000" pitchFamily="2" charset="2"/>
              <a:buChar char="§"/>
            </a:pPr>
            <a:r>
              <a:rPr lang="pt-BR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</a:p>
          <a:p>
            <a:pPr lvl="3" algn="just"/>
            <a:r>
              <a:rPr lang="pt-BR" sz="2800" dirty="0"/>
              <a:t> </a:t>
            </a:r>
          </a:p>
          <a:p>
            <a:pPr marL="1828800" lvl="3" indent="-457200" algn="just">
              <a:buFont typeface="Wingdings" panose="05000000000000000000" pitchFamily="2" charset="2"/>
              <a:buChar char="§"/>
            </a:pPr>
            <a:r>
              <a:rPr lang="pt-BR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endParaRPr lang="pt-BR" sz="2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4134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Operador </a:t>
            </a:r>
            <a:r>
              <a:rPr lang="pt-BR" sz="4800" b="1" dirty="0">
                <a:solidFill>
                  <a:srgbClr val="003958"/>
                </a:solidFill>
                <a:latin typeface="+mj-lt"/>
              </a:rPr>
              <a:t>in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1023257" y="1822956"/>
            <a:ext cx="109369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E18A340-A37F-4AD4-AEC0-70C12AD70905}"/>
              </a:ext>
            </a:extLst>
          </p:cNvPr>
          <p:cNvSpPr txBox="1"/>
          <p:nvPr/>
        </p:nvSpPr>
        <p:spPr>
          <a:xfrm>
            <a:off x="432723" y="2193207"/>
            <a:ext cx="537310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32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substring</a:t>
            </a:r>
            <a:r>
              <a:rPr lang="pt-BR" sz="3200" dirty="0"/>
              <a:t> in </a:t>
            </a:r>
            <a:r>
              <a:rPr lang="pt-BR" sz="3200" dirty="0" err="1">
                <a:solidFill>
                  <a:schemeClr val="accent5">
                    <a:lumMod val="75000"/>
                  </a:schemeClr>
                </a:solidFill>
              </a:rPr>
              <a:t>string</a:t>
            </a:r>
            <a:r>
              <a:rPr lang="pt-BR" sz="3200" dirty="0"/>
              <a:t>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sz="3200" dirty="0"/>
          </a:p>
          <a:p>
            <a:pPr marL="914400" lvl="1" indent="-457200" algn="just">
              <a:buFont typeface="Wingdings" panose="05000000000000000000" pitchFamily="2" charset="2"/>
              <a:buChar char="Ø"/>
            </a:pPr>
            <a:r>
              <a:rPr lang="pt-BR" sz="3200" dirty="0"/>
              <a:t> retorna </a:t>
            </a:r>
            <a:r>
              <a:rPr lang="pt-BR" sz="3200" dirty="0" err="1">
                <a:solidFill>
                  <a:schemeClr val="accent1">
                    <a:lumMod val="75000"/>
                  </a:schemeClr>
                </a:solidFill>
              </a:rPr>
              <a:t>True</a:t>
            </a:r>
            <a:r>
              <a:rPr lang="pt-BR" sz="3200" dirty="0"/>
              <a:t> ou </a:t>
            </a:r>
            <a:r>
              <a:rPr lang="pt-BR" sz="3200" dirty="0">
                <a:solidFill>
                  <a:srgbClr val="FF0000"/>
                </a:solidFill>
              </a:rPr>
              <a:t>False</a:t>
            </a:r>
            <a:endParaRPr lang="pt-BR" sz="2800" dirty="0">
              <a:solidFill>
                <a:srgbClr val="FF0000"/>
              </a:solidFill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13A17D9-DFDE-4411-8A96-297914F7690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5772" b="4597"/>
          <a:stretch/>
        </p:blipFill>
        <p:spPr>
          <a:xfrm>
            <a:off x="5673248" y="1479436"/>
            <a:ext cx="5632829" cy="4566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399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Função </a:t>
            </a:r>
            <a:r>
              <a:rPr lang="pt-BR" sz="4800" b="1" dirty="0" err="1">
                <a:solidFill>
                  <a:srgbClr val="003958"/>
                </a:solidFill>
                <a:latin typeface="+mj-lt"/>
              </a:rPr>
              <a:t>len</a:t>
            </a:r>
            <a:r>
              <a:rPr lang="pt-BR" sz="4800" b="1" dirty="0">
                <a:solidFill>
                  <a:srgbClr val="003958"/>
                </a:solidFill>
                <a:latin typeface="+mj-lt"/>
              </a:rPr>
              <a:t>()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1023257" y="1854854"/>
            <a:ext cx="109369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E18A340-A37F-4AD4-AEC0-70C12AD70905}"/>
              </a:ext>
            </a:extLst>
          </p:cNvPr>
          <p:cNvSpPr txBox="1"/>
          <p:nvPr/>
        </p:nvSpPr>
        <p:spPr>
          <a:xfrm>
            <a:off x="752498" y="1524000"/>
            <a:ext cx="1068700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8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pt-BR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2800" dirty="0" err="1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pt-BR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914400" lvl="1" indent="-457200" algn="just">
              <a:buFont typeface="Wingdings" panose="05000000000000000000" pitchFamily="2" charset="2"/>
              <a:buChar char="Ø"/>
            </a:pPr>
            <a:r>
              <a:rPr lang="pt-BR" sz="2800" dirty="0"/>
              <a:t>Retorna a quantidade de caracteres da </a:t>
            </a:r>
            <a:r>
              <a:rPr lang="pt-BR" sz="2800" dirty="0" err="1"/>
              <a:t>string</a:t>
            </a:r>
            <a:r>
              <a:rPr lang="pt-BR" sz="2800" dirty="0"/>
              <a:t>.</a:t>
            </a:r>
            <a:endParaRPr lang="pt-BR" sz="2600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A3BEB724-AF8C-433B-848F-A424572A15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2916" y="3098345"/>
            <a:ext cx="5306165" cy="3258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653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Operador de concatenação – “+” 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1023257" y="1854854"/>
            <a:ext cx="109369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E18A340-A37F-4AD4-AEC0-70C12AD70905}"/>
              </a:ext>
            </a:extLst>
          </p:cNvPr>
          <p:cNvSpPr txBox="1"/>
          <p:nvPr/>
        </p:nvSpPr>
        <p:spPr>
          <a:xfrm>
            <a:off x="752498" y="1581544"/>
            <a:ext cx="1068700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string1</a:t>
            </a:r>
            <a:r>
              <a:rPr lang="pt-BR" sz="2800" dirty="0"/>
              <a:t> + </a:t>
            </a:r>
            <a:r>
              <a:rPr lang="pt-BR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string2</a:t>
            </a:r>
            <a:r>
              <a:rPr lang="pt-BR" sz="2800" dirty="0"/>
              <a:t>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1371600" lvl="2" indent="-457200" algn="just">
              <a:buFont typeface="Wingdings" panose="05000000000000000000" pitchFamily="2" charset="2"/>
              <a:buChar char="Ø"/>
            </a:pPr>
            <a:r>
              <a:rPr lang="pt-BR" sz="2800" dirty="0"/>
              <a:t>Concatena duas </a:t>
            </a:r>
            <a:r>
              <a:rPr lang="pt-BR" sz="2800" dirty="0" err="1"/>
              <a:t>strings</a:t>
            </a:r>
            <a:endParaRPr lang="pt-BR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sz="2800" dirty="0"/>
          </a:p>
          <a:p>
            <a:pPr algn="just"/>
            <a:endParaRPr lang="pt-BR" sz="28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9C1CE7B-A6EA-4336-BD65-3AB44593E6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7387" y="2893227"/>
            <a:ext cx="6449140" cy="3463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73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Operador de repetição – “*” 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1023257" y="1854854"/>
            <a:ext cx="109369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E18A340-A37F-4AD4-AEC0-70C12AD70905}"/>
              </a:ext>
            </a:extLst>
          </p:cNvPr>
          <p:cNvSpPr txBox="1"/>
          <p:nvPr/>
        </p:nvSpPr>
        <p:spPr>
          <a:xfrm>
            <a:off x="752498" y="1581544"/>
            <a:ext cx="1068700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8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string</a:t>
            </a:r>
            <a:r>
              <a:rPr lang="pt-BR" sz="2800" dirty="0"/>
              <a:t> * </a:t>
            </a:r>
            <a:r>
              <a:rPr lang="pt-BR" sz="2800" dirty="0" err="1"/>
              <a:t>int</a:t>
            </a:r>
            <a:r>
              <a:rPr lang="pt-BR" sz="2800" dirty="0"/>
              <a:t> </a:t>
            </a:r>
          </a:p>
          <a:p>
            <a:pPr algn="just"/>
            <a:endParaRPr lang="pt-BR" sz="2800" dirty="0"/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pt-BR" sz="2800" dirty="0"/>
              <a:t>Repete a </a:t>
            </a:r>
            <a:r>
              <a:rPr lang="pt-BR" sz="28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string</a:t>
            </a:r>
            <a:r>
              <a:rPr lang="pt-BR" sz="2800" dirty="0"/>
              <a:t> </a:t>
            </a:r>
            <a:r>
              <a:rPr lang="pt-BR" sz="2800" dirty="0" err="1"/>
              <a:t>int</a:t>
            </a:r>
            <a:r>
              <a:rPr lang="pt-BR" sz="2800" dirty="0"/>
              <a:t> vezes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sz="2800" dirty="0"/>
          </a:p>
          <a:p>
            <a:pPr algn="just"/>
            <a:endParaRPr lang="pt-BR" sz="2800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A413DF23-4AFB-4F08-9794-FB571BF04F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0218" y="3609180"/>
            <a:ext cx="5982996" cy="2307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872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Praticando com o Python...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920018" y="1153749"/>
            <a:ext cx="10062433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 algn="just">
              <a:buAutoNum type="arabicParenR"/>
            </a:pPr>
            <a:r>
              <a:rPr lang="pt-BR" sz="2800" dirty="0"/>
              <a:t>Crie um programa que imprima o comprimento de uma </a:t>
            </a:r>
            <a:r>
              <a:rPr lang="pt-BR" sz="2800" dirty="0" err="1"/>
              <a:t>string</a:t>
            </a:r>
            <a:r>
              <a:rPr lang="pt-BR" sz="2800" dirty="0"/>
              <a:t> fornecida pelo usuário.</a:t>
            </a:r>
          </a:p>
          <a:p>
            <a:pPr lvl="0" algn="just"/>
            <a:endParaRPr lang="pt-BR" sz="2800" dirty="0"/>
          </a:p>
          <a:p>
            <a:pPr lvl="0" algn="just"/>
            <a:r>
              <a:rPr lang="pt-BR" sz="2800" dirty="0"/>
              <a:t>2) Elaborar um programa que solicite nome e sobrenome. Em seguida, concatene ambos em uma nova </a:t>
            </a:r>
            <a:r>
              <a:rPr lang="pt-BR" sz="2800" dirty="0" err="1"/>
              <a:t>string</a:t>
            </a:r>
            <a:r>
              <a:rPr lang="pt-BR" sz="2800" dirty="0"/>
              <a:t>, separando com espaço. Ao final, imprima  o nome completo fornecido pelo usuário.</a:t>
            </a:r>
          </a:p>
          <a:p>
            <a:pPr lvl="0" algn="just"/>
            <a:endParaRPr lang="pt-BR" sz="2800" dirty="0"/>
          </a:p>
          <a:p>
            <a:pPr lvl="0" algn="just"/>
            <a:r>
              <a:rPr lang="pt-BR" sz="2800" dirty="0"/>
              <a:t>3) Construa um programa que apresente o seguinte menu:</a:t>
            </a:r>
          </a:p>
          <a:p>
            <a:pPr lvl="0" algn="just"/>
            <a:endParaRPr lang="pt-BR" sz="2800" dirty="0"/>
          </a:p>
          <a:p>
            <a:pPr lvl="0" algn="ctr"/>
            <a:r>
              <a:rPr lang="en-US" sz="2800" dirty="0"/>
              <a:t>************************************************</a:t>
            </a:r>
          </a:p>
          <a:p>
            <a:pPr lvl="0" algn="ctr"/>
            <a:r>
              <a:rPr lang="en-US" sz="2800" dirty="0"/>
              <a:t>EXERCICIOS DE PYTHON</a:t>
            </a:r>
          </a:p>
          <a:p>
            <a:pPr lvl="0" algn="ctr"/>
            <a:r>
              <a:rPr lang="en-US" sz="2800" dirty="0"/>
              <a:t>************************************************</a:t>
            </a:r>
            <a:endParaRPr lang="pt-BR" sz="2800" dirty="0"/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endParaRPr lang="pt-BR" sz="2800" dirty="0"/>
          </a:p>
          <a:p>
            <a:pPr lvl="0" algn="just"/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29640360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Outros métodos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1023257" y="1822956"/>
            <a:ext cx="109369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E18A340-A37F-4AD4-AEC0-70C12AD70905}"/>
              </a:ext>
            </a:extLst>
          </p:cNvPr>
          <p:cNvSpPr txBox="1"/>
          <p:nvPr/>
        </p:nvSpPr>
        <p:spPr>
          <a:xfrm>
            <a:off x="810733" y="1524000"/>
            <a:ext cx="1068700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800" dirty="0"/>
              <a:t>Outros métodos úteis para se utilizar com </a:t>
            </a:r>
            <a:r>
              <a:rPr lang="pt-BR" sz="2800" b="1" dirty="0" err="1"/>
              <a:t>string</a:t>
            </a:r>
            <a:r>
              <a:rPr lang="pt-BR" sz="2800" dirty="0"/>
              <a:t>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1371600" lvl="2" indent="-457200" algn="just">
              <a:buFont typeface="Wingdings" panose="05000000000000000000" pitchFamily="2" charset="2"/>
              <a:buChar char="§"/>
            </a:pPr>
            <a:r>
              <a:rPr lang="pt-BR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upper</a:t>
            </a:r>
            <a:r>
              <a:rPr lang="pt-BR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 marL="1371600" lvl="2" indent="-457200" algn="just">
              <a:buFont typeface="Wingdings" panose="05000000000000000000" pitchFamily="2" charset="2"/>
              <a:buChar char="§"/>
            </a:pPr>
            <a:endParaRPr lang="pt-BR" sz="2800" dirty="0"/>
          </a:p>
          <a:p>
            <a:pPr marL="1371600" lvl="2" indent="-457200" algn="just">
              <a:buFont typeface="Wingdings" panose="05000000000000000000" pitchFamily="2" charset="2"/>
              <a:buChar char="§"/>
            </a:pPr>
            <a:r>
              <a:rPr lang="pt-BR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lower</a:t>
            </a:r>
            <a:r>
              <a:rPr lang="pt-BR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1371600" lvl="2" indent="-457200" algn="just">
              <a:buFont typeface="Wingdings" panose="05000000000000000000" pitchFamily="2" charset="2"/>
              <a:buChar char="§"/>
            </a:pPr>
            <a:endParaRPr lang="pt-BR" sz="2800" dirty="0"/>
          </a:p>
          <a:p>
            <a:pPr marL="1371600" lvl="2" indent="-457200" algn="just">
              <a:buFont typeface="Wingdings" panose="05000000000000000000" pitchFamily="2" charset="2"/>
              <a:buChar char="§"/>
            </a:pPr>
            <a:r>
              <a:rPr lang="pt-BR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split</a:t>
            </a:r>
            <a:r>
              <a:rPr lang="pt-BR" sz="2800" dirty="0"/>
              <a:t> </a:t>
            </a:r>
          </a:p>
          <a:p>
            <a:pPr marL="1371600" lvl="2" indent="-457200" algn="just">
              <a:buFont typeface="Wingdings" panose="05000000000000000000" pitchFamily="2" charset="2"/>
              <a:buChar char="§"/>
            </a:pPr>
            <a:endParaRPr lang="pt-BR" sz="2800" dirty="0"/>
          </a:p>
          <a:p>
            <a:pPr marL="1371600" lvl="2" indent="-457200" algn="just">
              <a:buFont typeface="Wingdings" panose="05000000000000000000" pitchFamily="2" charset="2"/>
              <a:buChar char="§"/>
            </a:pPr>
            <a:r>
              <a:rPr lang="pt-BR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partition</a:t>
            </a:r>
            <a:endParaRPr lang="pt-BR" sz="2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9348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Método </a:t>
            </a:r>
            <a:r>
              <a:rPr lang="pt-BR" sz="4800" b="1" dirty="0" err="1">
                <a:solidFill>
                  <a:srgbClr val="003958"/>
                </a:solidFill>
                <a:latin typeface="+mj-lt"/>
              </a:rPr>
              <a:t>upper</a:t>
            </a:r>
            <a:r>
              <a:rPr lang="pt-BR" sz="4800" b="1" dirty="0">
                <a:solidFill>
                  <a:srgbClr val="003958"/>
                </a:solidFill>
                <a:latin typeface="+mj-lt"/>
              </a:rPr>
              <a:t>()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1023257" y="1854854"/>
            <a:ext cx="109369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E18A340-A37F-4AD4-AEC0-70C12AD70905}"/>
              </a:ext>
            </a:extLst>
          </p:cNvPr>
          <p:cNvSpPr txBox="1"/>
          <p:nvPr/>
        </p:nvSpPr>
        <p:spPr>
          <a:xfrm>
            <a:off x="752498" y="1581544"/>
            <a:ext cx="1068700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800" dirty="0" err="1">
                <a:solidFill>
                  <a:schemeClr val="accent6">
                    <a:lumMod val="75000"/>
                  </a:schemeClr>
                </a:solidFill>
              </a:rPr>
              <a:t>string</a:t>
            </a:r>
            <a:r>
              <a:rPr lang="pt-BR" sz="2800" dirty="0" err="1"/>
              <a:t>.upper</a:t>
            </a:r>
            <a:r>
              <a:rPr lang="pt-BR" sz="2800" dirty="0"/>
              <a:t>()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pt-BR" sz="2800" dirty="0"/>
              <a:t>Retorna a </a:t>
            </a:r>
            <a:r>
              <a:rPr lang="pt-BR" sz="2800" dirty="0" err="1"/>
              <a:t>string</a:t>
            </a:r>
            <a:r>
              <a:rPr lang="pt-BR" sz="2800" dirty="0"/>
              <a:t> com letras minúsculas substituídas por maiúsculas</a:t>
            </a:r>
          </a:p>
          <a:p>
            <a:pPr algn="just"/>
            <a:endParaRPr lang="pt-BR" sz="280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31A2EB6-12C9-727C-26DA-EC0C69E99D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2032" y="3609180"/>
            <a:ext cx="6913034" cy="2528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535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Método </a:t>
            </a:r>
            <a:r>
              <a:rPr lang="pt-BR" sz="4800" b="1" dirty="0" err="1">
                <a:solidFill>
                  <a:srgbClr val="003958"/>
                </a:solidFill>
                <a:latin typeface="+mj-lt"/>
              </a:rPr>
              <a:t>lower</a:t>
            </a:r>
            <a:r>
              <a:rPr lang="pt-BR" sz="4800" b="1" dirty="0">
                <a:solidFill>
                  <a:srgbClr val="003958"/>
                </a:solidFill>
                <a:latin typeface="+mj-lt"/>
              </a:rPr>
              <a:t>()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1023257" y="1854854"/>
            <a:ext cx="109369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E18A340-A37F-4AD4-AEC0-70C12AD70905}"/>
              </a:ext>
            </a:extLst>
          </p:cNvPr>
          <p:cNvSpPr txBox="1"/>
          <p:nvPr/>
        </p:nvSpPr>
        <p:spPr>
          <a:xfrm>
            <a:off x="752498" y="1581544"/>
            <a:ext cx="1068700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800" dirty="0" err="1">
                <a:solidFill>
                  <a:schemeClr val="accent6">
                    <a:lumMod val="75000"/>
                  </a:schemeClr>
                </a:solidFill>
              </a:rPr>
              <a:t>string</a:t>
            </a:r>
            <a:r>
              <a:rPr lang="pt-BR" sz="2800" dirty="0" err="1"/>
              <a:t>.lower</a:t>
            </a:r>
            <a:r>
              <a:rPr lang="pt-BR" sz="2800" dirty="0"/>
              <a:t>()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pt-BR" sz="2800" dirty="0"/>
              <a:t>Retorna a string com letras maiúsculas substituídas por minúsculas</a:t>
            </a:r>
          </a:p>
          <a:p>
            <a:pPr algn="just"/>
            <a:endParaRPr lang="pt-BR" sz="280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3443A196-4307-5416-2087-F44628087C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8691" y="3609180"/>
            <a:ext cx="7703709" cy="2677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904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Método </a:t>
            </a:r>
            <a:r>
              <a:rPr lang="pt-BR" sz="4800" b="1" dirty="0">
                <a:solidFill>
                  <a:srgbClr val="003958"/>
                </a:solidFill>
                <a:latin typeface="+mj-lt"/>
              </a:rPr>
              <a:t>split()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1023257" y="1854854"/>
            <a:ext cx="109369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E18A340-A37F-4AD4-AEC0-70C12AD70905}"/>
              </a:ext>
            </a:extLst>
          </p:cNvPr>
          <p:cNvSpPr txBox="1"/>
          <p:nvPr/>
        </p:nvSpPr>
        <p:spPr>
          <a:xfrm>
            <a:off x="752498" y="1494840"/>
            <a:ext cx="1068700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800" dirty="0" err="1">
                <a:solidFill>
                  <a:schemeClr val="accent6">
                    <a:lumMod val="75000"/>
                  </a:schemeClr>
                </a:solidFill>
              </a:rPr>
              <a:t>string</a:t>
            </a:r>
            <a:r>
              <a:rPr lang="pt-BR" sz="2800" dirty="0" err="1"/>
              <a:t>.split</a:t>
            </a:r>
            <a:r>
              <a:rPr lang="pt-BR" sz="2800" dirty="0"/>
              <a:t>(</a:t>
            </a:r>
            <a:r>
              <a:rPr lang="pt-BR" sz="2800" dirty="0">
                <a:solidFill>
                  <a:srgbClr val="FF0000"/>
                </a:solidFill>
              </a:rPr>
              <a:t>separador</a:t>
            </a:r>
            <a:r>
              <a:rPr lang="pt-BR" sz="2800" dirty="0"/>
              <a:t>)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pt-BR" sz="2800" dirty="0"/>
              <a:t>Separa a </a:t>
            </a:r>
            <a:r>
              <a:rPr lang="pt-BR" sz="2800" dirty="0" err="1"/>
              <a:t>string</a:t>
            </a:r>
            <a:r>
              <a:rPr lang="pt-BR" sz="2800" dirty="0"/>
              <a:t> em "pedaços" que aparecem antes e depois do separador. 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pt-BR" sz="2800" dirty="0"/>
              <a:t>Se o separador não for especificado, é usado espaços em branco, </a:t>
            </a:r>
            <a:r>
              <a:rPr lang="pt-BR" sz="2800" dirty="0" err="1"/>
              <a:t>tabs</a:t>
            </a:r>
            <a:r>
              <a:rPr lang="pt-BR" sz="2800" dirty="0"/>
              <a:t> e quebras de linha como separador.</a:t>
            </a:r>
          </a:p>
          <a:p>
            <a:pPr lvl="1" algn="just"/>
            <a:r>
              <a:rPr lang="pt-BR" sz="2800" dirty="0"/>
              <a:t> 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pt-BR" sz="2800" dirty="0"/>
              <a:t>Útil para ler várias entradas de uma única vez</a:t>
            </a:r>
          </a:p>
        </p:txBody>
      </p:sp>
    </p:spTree>
    <p:extLst>
      <p:ext uri="{BB962C8B-B14F-4D97-AF65-F5344CB8AC3E}">
        <p14:creationId xmlns:p14="http://schemas.microsoft.com/office/powerpoint/2010/main" val="1368100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Método </a:t>
            </a:r>
            <a:r>
              <a:rPr lang="pt-BR" sz="4800" b="1" dirty="0">
                <a:solidFill>
                  <a:srgbClr val="003958"/>
                </a:solidFill>
                <a:latin typeface="+mj-lt"/>
              </a:rPr>
              <a:t>split()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1023257" y="1854854"/>
            <a:ext cx="109369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E18A340-A37F-4AD4-AEC0-70C12AD70905}"/>
              </a:ext>
            </a:extLst>
          </p:cNvPr>
          <p:cNvSpPr txBox="1"/>
          <p:nvPr/>
        </p:nvSpPr>
        <p:spPr>
          <a:xfrm>
            <a:off x="752498" y="1494840"/>
            <a:ext cx="1068700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800" dirty="0" err="1">
                <a:solidFill>
                  <a:schemeClr val="accent6">
                    <a:lumMod val="75000"/>
                  </a:schemeClr>
                </a:solidFill>
              </a:rPr>
              <a:t>string</a:t>
            </a:r>
            <a:r>
              <a:rPr lang="pt-BR" sz="2800" dirty="0" err="1"/>
              <a:t>.split</a:t>
            </a:r>
            <a:r>
              <a:rPr lang="pt-BR" sz="2800" dirty="0"/>
              <a:t>(</a:t>
            </a:r>
            <a:r>
              <a:rPr lang="pt-BR" sz="2800" dirty="0">
                <a:solidFill>
                  <a:srgbClr val="FF0000"/>
                </a:solidFill>
              </a:rPr>
              <a:t>separador</a:t>
            </a:r>
            <a:r>
              <a:rPr lang="pt-BR" sz="2800" dirty="0"/>
              <a:t>) No interpretador (SHELL)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sz="280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4B99BC31-9EFB-013B-27D6-D5EECD48D3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9266" y="2508965"/>
            <a:ext cx="8999450" cy="3172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286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Método </a:t>
            </a:r>
            <a:r>
              <a:rPr lang="pt-BR" sz="4800" b="1" dirty="0" err="1">
                <a:solidFill>
                  <a:srgbClr val="003958"/>
                </a:solidFill>
                <a:latin typeface="+mj-lt"/>
              </a:rPr>
              <a:t>partition</a:t>
            </a:r>
            <a:r>
              <a:rPr lang="pt-BR" sz="4800" b="1" dirty="0">
                <a:solidFill>
                  <a:srgbClr val="003958"/>
                </a:solidFill>
                <a:latin typeface="+mj-lt"/>
              </a:rPr>
              <a:t>()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1023257" y="1854854"/>
            <a:ext cx="109369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E18A340-A37F-4AD4-AEC0-70C12AD70905}"/>
              </a:ext>
            </a:extLst>
          </p:cNvPr>
          <p:cNvSpPr txBox="1"/>
          <p:nvPr/>
        </p:nvSpPr>
        <p:spPr>
          <a:xfrm>
            <a:off x="752498" y="1494840"/>
            <a:ext cx="1068700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800" dirty="0" err="1">
                <a:solidFill>
                  <a:schemeClr val="accent6">
                    <a:lumMod val="75000"/>
                  </a:schemeClr>
                </a:solidFill>
              </a:rPr>
              <a:t>string</a:t>
            </a:r>
            <a:r>
              <a:rPr lang="pt-BR" sz="2800" dirty="0" err="1"/>
              <a:t>.partition</a:t>
            </a:r>
            <a:r>
              <a:rPr lang="pt-BR" sz="2800" dirty="0"/>
              <a:t>(</a:t>
            </a:r>
            <a:r>
              <a:rPr lang="pt-BR" sz="2800" dirty="0">
                <a:solidFill>
                  <a:srgbClr val="FF0000"/>
                </a:solidFill>
              </a:rPr>
              <a:t>separador</a:t>
            </a:r>
            <a:r>
              <a:rPr lang="pt-BR" sz="2800" dirty="0"/>
              <a:t>)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pt-BR" sz="2800" dirty="0"/>
              <a:t>Separa a </a:t>
            </a:r>
            <a:r>
              <a:rPr lang="pt-BR" sz="2800" dirty="0" err="1"/>
              <a:t>string</a:t>
            </a:r>
            <a:r>
              <a:rPr lang="pt-BR" sz="2800" dirty="0"/>
              <a:t> em três pedaços: o que vem antes da primeira ocorrência do separador, o separador e o que vem depois do separador</a:t>
            </a:r>
          </a:p>
        </p:txBody>
      </p:sp>
    </p:spTree>
    <p:extLst>
      <p:ext uri="{BB962C8B-B14F-4D97-AF65-F5344CB8AC3E}">
        <p14:creationId xmlns:p14="http://schemas.microsoft.com/office/powerpoint/2010/main" val="682980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Método </a:t>
            </a:r>
            <a:r>
              <a:rPr lang="pt-BR" sz="4800" b="1" dirty="0" err="1">
                <a:solidFill>
                  <a:srgbClr val="003958"/>
                </a:solidFill>
                <a:latin typeface="+mj-lt"/>
              </a:rPr>
              <a:t>partition</a:t>
            </a:r>
            <a:r>
              <a:rPr lang="pt-BR" sz="4800" b="1" dirty="0">
                <a:solidFill>
                  <a:srgbClr val="003958"/>
                </a:solidFill>
                <a:latin typeface="+mj-lt"/>
              </a:rPr>
              <a:t>()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1023257" y="1854854"/>
            <a:ext cx="109369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E18A340-A37F-4AD4-AEC0-70C12AD70905}"/>
              </a:ext>
            </a:extLst>
          </p:cNvPr>
          <p:cNvSpPr txBox="1"/>
          <p:nvPr/>
        </p:nvSpPr>
        <p:spPr>
          <a:xfrm>
            <a:off x="752498" y="1494840"/>
            <a:ext cx="1068700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800" dirty="0" err="1">
                <a:solidFill>
                  <a:schemeClr val="accent6">
                    <a:lumMod val="75000"/>
                  </a:schemeClr>
                </a:solidFill>
              </a:rPr>
              <a:t>string</a:t>
            </a:r>
            <a:r>
              <a:rPr lang="pt-BR" sz="2800" dirty="0" err="1"/>
              <a:t>.partition</a:t>
            </a:r>
            <a:r>
              <a:rPr lang="pt-BR" sz="2800" dirty="0"/>
              <a:t>(</a:t>
            </a:r>
            <a:r>
              <a:rPr lang="pt-BR" sz="2800" dirty="0">
                <a:solidFill>
                  <a:srgbClr val="FF0000"/>
                </a:solidFill>
              </a:rPr>
              <a:t>separador</a:t>
            </a:r>
            <a:r>
              <a:rPr lang="pt-BR" sz="2800" dirty="0"/>
              <a:t>)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sz="28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DC49DCF-1BA3-449A-9BDD-271327B131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8309" y="2448947"/>
            <a:ext cx="7735380" cy="3391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8221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Método </a:t>
            </a:r>
            <a:r>
              <a:rPr lang="pt-BR" sz="4800" b="1" dirty="0" err="1">
                <a:solidFill>
                  <a:srgbClr val="003958"/>
                </a:solidFill>
                <a:latin typeface="+mj-lt"/>
              </a:rPr>
              <a:t>partition</a:t>
            </a:r>
            <a:r>
              <a:rPr lang="pt-BR" sz="4800" b="1" dirty="0">
                <a:solidFill>
                  <a:srgbClr val="003958"/>
                </a:solidFill>
                <a:latin typeface="+mj-lt"/>
              </a:rPr>
              <a:t>()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1097685" y="1904850"/>
            <a:ext cx="109369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E18A340-A37F-4AD4-AEC0-70C12AD70905}"/>
              </a:ext>
            </a:extLst>
          </p:cNvPr>
          <p:cNvSpPr txBox="1"/>
          <p:nvPr/>
        </p:nvSpPr>
        <p:spPr>
          <a:xfrm>
            <a:off x="752498" y="1494840"/>
            <a:ext cx="1068700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800" dirty="0" err="1">
                <a:solidFill>
                  <a:schemeClr val="accent6">
                    <a:lumMod val="75000"/>
                  </a:schemeClr>
                </a:solidFill>
              </a:rPr>
              <a:t>string</a:t>
            </a:r>
            <a:r>
              <a:rPr lang="pt-BR" sz="2800" dirty="0" err="1"/>
              <a:t>.partition</a:t>
            </a:r>
            <a:r>
              <a:rPr lang="pt-BR" sz="2800" dirty="0"/>
              <a:t>(</a:t>
            </a:r>
            <a:r>
              <a:rPr lang="pt-BR" sz="2800" dirty="0">
                <a:solidFill>
                  <a:srgbClr val="FF0000"/>
                </a:solidFill>
              </a:rPr>
              <a:t>separador</a:t>
            </a:r>
            <a:r>
              <a:rPr lang="pt-BR" sz="2800" dirty="0"/>
              <a:t>)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sz="2800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08F850DD-6A8A-4379-9CCB-0D9479C2FB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558" y="2448947"/>
            <a:ext cx="7497221" cy="3781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110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799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400" dirty="0">
                <a:solidFill>
                  <a:srgbClr val="003958"/>
                </a:solidFill>
                <a:latin typeface="+mj-lt"/>
              </a:rPr>
              <a:t>Formatação de </a:t>
            </a:r>
            <a:r>
              <a:rPr lang="pt-BR" sz="4400" b="1" dirty="0" err="1">
                <a:solidFill>
                  <a:srgbClr val="003958"/>
                </a:solidFill>
                <a:latin typeface="+mj-lt"/>
              </a:rPr>
              <a:t>string</a:t>
            </a:r>
            <a:r>
              <a:rPr lang="pt-BR" sz="4400" b="1" dirty="0">
                <a:solidFill>
                  <a:srgbClr val="003958"/>
                </a:solidFill>
                <a:latin typeface="+mj-lt"/>
              </a:rPr>
              <a:t> </a:t>
            </a:r>
            <a:r>
              <a:rPr lang="pt-BR" sz="4400" dirty="0">
                <a:solidFill>
                  <a:srgbClr val="003958"/>
                </a:solidFill>
                <a:latin typeface="+mj-lt"/>
              </a:rPr>
              <a:t>com </a:t>
            </a:r>
            <a:r>
              <a:rPr lang="pt-BR" sz="4400" b="1" dirty="0">
                <a:solidFill>
                  <a:srgbClr val="003958"/>
                </a:solidFill>
                <a:latin typeface="+mj-lt"/>
              </a:rPr>
              <a:t>.</a:t>
            </a:r>
            <a:r>
              <a:rPr lang="pt-BR" sz="4400" b="1" dirty="0" err="1">
                <a:solidFill>
                  <a:srgbClr val="003958"/>
                </a:solidFill>
                <a:latin typeface="+mj-lt"/>
              </a:rPr>
              <a:t>format</a:t>
            </a:r>
            <a:r>
              <a:rPr lang="pt-BR" sz="4400" b="1" dirty="0">
                <a:solidFill>
                  <a:srgbClr val="003958"/>
                </a:solidFill>
                <a:latin typeface="+mj-lt"/>
              </a:rPr>
              <a:t>()</a:t>
            </a:r>
            <a:endParaRPr lang="pt-BR" sz="4400" dirty="0">
              <a:solidFill>
                <a:srgbClr val="003958"/>
              </a:solidFill>
              <a:latin typeface="+mj-lt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C6D85084-4BF9-4F8E-A021-52BB2EEC2D49}"/>
              </a:ext>
            </a:extLst>
          </p:cNvPr>
          <p:cNvSpPr txBox="1"/>
          <p:nvPr/>
        </p:nvSpPr>
        <p:spPr>
          <a:xfrm>
            <a:off x="752498" y="1494840"/>
            <a:ext cx="106870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dirty="0"/>
              <a:t>Você pode usar </a:t>
            </a:r>
            <a:r>
              <a:rPr lang="pt-BR" sz="2800" b="1" dirty="0" err="1"/>
              <a:t>format</a:t>
            </a:r>
            <a:r>
              <a:rPr lang="pt-BR" sz="2800" dirty="0"/>
              <a:t>() para fazer uma formatação posicional simples.</a:t>
            </a:r>
          </a:p>
        </p:txBody>
      </p:sp>
      <p:pic>
        <p:nvPicPr>
          <p:cNvPr id="9" name="Picture 8" descr="Text&#10;&#10;Description automatically generated with medium confidence">
            <a:extLst>
              <a:ext uri="{FF2B5EF4-FFF2-40B4-BE49-F238E27FC236}">
                <a16:creationId xmlns:a16="http://schemas.microsoft.com/office/drawing/2014/main" id="{07BDEA98-5CBD-BD18-63D7-D8716BF168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3188" y="2347540"/>
            <a:ext cx="4057650" cy="6953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F812553-C644-84A4-4BD0-4FA7549F9D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498" y="3531455"/>
            <a:ext cx="10877550" cy="74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63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799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400" dirty="0">
                <a:solidFill>
                  <a:srgbClr val="003958"/>
                </a:solidFill>
                <a:latin typeface="+mj-lt"/>
              </a:rPr>
              <a:t>Formatação de </a:t>
            </a:r>
            <a:r>
              <a:rPr lang="pt-BR" sz="4400" b="1" dirty="0" err="1">
                <a:solidFill>
                  <a:srgbClr val="003958"/>
                </a:solidFill>
                <a:latin typeface="+mj-lt"/>
              </a:rPr>
              <a:t>string</a:t>
            </a:r>
            <a:r>
              <a:rPr lang="pt-BR" sz="4400" b="1" dirty="0">
                <a:solidFill>
                  <a:srgbClr val="003958"/>
                </a:solidFill>
                <a:latin typeface="+mj-lt"/>
              </a:rPr>
              <a:t> </a:t>
            </a:r>
            <a:r>
              <a:rPr lang="pt-BR" sz="4400" dirty="0">
                <a:solidFill>
                  <a:srgbClr val="003958"/>
                </a:solidFill>
                <a:latin typeface="+mj-lt"/>
              </a:rPr>
              <a:t>com </a:t>
            </a:r>
            <a:r>
              <a:rPr lang="pt-BR" sz="4400" b="1" dirty="0">
                <a:solidFill>
                  <a:srgbClr val="003958"/>
                </a:solidFill>
                <a:latin typeface="+mj-lt"/>
              </a:rPr>
              <a:t>.</a:t>
            </a:r>
            <a:r>
              <a:rPr lang="pt-BR" sz="4400" b="1" dirty="0" err="1">
                <a:solidFill>
                  <a:srgbClr val="003958"/>
                </a:solidFill>
                <a:latin typeface="+mj-lt"/>
              </a:rPr>
              <a:t>format</a:t>
            </a:r>
            <a:r>
              <a:rPr lang="pt-BR" sz="4400" b="1" dirty="0">
                <a:solidFill>
                  <a:srgbClr val="003958"/>
                </a:solidFill>
                <a:latin typeface="+mj-lt"/>
              </a:rPr>
              <a:t>()</a:t>
            </a:r>
            <a:endParaRPr lang="pt-BR" sz="4400" dirty="0">
              <a:solidFill>
                <a:srgbClr val="003958"/>
              </a:solidFill>
              <a:latin typeface="+mj-lt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C6D85084-4BF9-4F8E-A021-52BB2EEC2D49}"/>
              </a:ext>
            </a:extLst>
          </p:cNvPr>
          <p:cNvSpPr txBox="1"/>
          <p:nvPr/>
        </p:nvSpPr>
        <p:spPr>
          <a:xfrm>
            <a:off x="752498" y="1494840"/>
            <a:ext cx="106870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dirty="0"/>
              <a:t>Você pode usar </a:t>
            </a:r>
            <a:r>
              <a:rPr lang="pt-BR" sz="2800" b="1" dirty="0" err="1"/>
              <a:t>format</a:t>
            </a:r>
            <a:r>
              <a:rPr lang="pt-BR" sz="2800" dirty="0"/>
              <a:t>() para fazer uma formatação posicional simples.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FB4F75-0048-3E05-0867-594063093454}"/>
              </a:ext>
            </a:extLst>
          </p:cNvPr>
          <p:cNvSpPr txBox="1"/>
          <p:nvPr/>
        </p:nvSpPr>
        <p:spPr>
          <a:xfrm>
            <a:off x="371959" y="2598003"/>
            <a:ext cx="11528304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cs typeface="Courier New" panose="02070309020205020404" pitchFamily="49" charset="0"/>
              </a:rPr>
              <a:t>Caso tenhamos valores numéricos:</a:t>
            </a:r>
          </a:p>
          <a:p>
            <a:endParaRPr lang="pt-BR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pt-BR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print</a:t>
            </a:r>
            <a:r>
              <a:rPr lang="pt-B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('Premio total: R$ </a:t>
            </a:r>
            <a:r>
              <a:rPr lang="pt-BR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{0:.2f}</a:t>
            </a:r>
            <a:r>
              <a:rPr lang="pt-B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para </a:t>
            </a:r>
            <a:r>
              <a:rPr lang="pt-BR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{1:%d}</a:t>
            </a:r>
            <a:r>
              <a:rPr lang="pt-B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ganhadores, ‘</a:t>
            </a:r>
          </a:p>
          <a:p>
            <a:r>
              <a:rPr lang="pt-B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'onde cada um ficou com R$ </a:t>
            </a:r>
            <a:r>
              <a:rPr lang="pt-BR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{2:.2f}</a:t>
            </a:r>
            <a:r>
              <a:rPr lang="pt-B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’</a:t>
            </a:r>
            <a:r>
              <a:rPr lang="pt-BR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.format</a:t>
            </a:r>
            <a:r>
              <a:rPr lang="pt-B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(premio, ganhadores, 	premio/ganhadores))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D570F4A2-8F3A-133B-7B05-54D4EC599D09}"/>
              </a:ext>
            </a:extLst>
          </p:cNvPr>
          <p:cNvSpPr txBox="1"/>
          <p:nvPr/>
        </p:nvSpPr>
        <p:spPr>
          <a:xfrm>
            <a:off x="697608" y="4927254"/>
            <a:ext cx="1068700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i="0" dirty="0">
                <a:solidFill>
                  <a:srgbClr val="FF0000"/>
                </a:solidFill>
                <a:effectLst/>
                <a:latin typeface="Google Sans"/>
              </a:rPr>
              <a:t>2f </a:t>
            </a:r>
            <a:r>
              <a:rPr lang="pt-BR" sz="2400" b="1" i="0" dirty="0">
                <a:effectLst/>
                <a:latin typeface="Google Sans"/>
              </a:rPr>
              <a:t>é utilizada dentro do print para exibir valor com duas casas decimais.</a:t>
            </a:r>
            <a:r>
              <a:rPr lang="pt-BR" sz="2400" b="1" i="0" dirty="0">
                <a:solidFill>
                  <a:srgbClr val="FF0000"/>
                </a:solidFill>
                <a:effectLst/>
                <a:latin typeface="Google Sans"/>
              </a:rPr>
              <a:t> </a:t>
            </a:r>
          </a:p>
          <a:p>
            <a:r>
              <a:rPr lang="pt-BR" sz="2400" b="1" i="0" dirty="0">
                <a:solidFill>
                  <a:srgbClr val="FF0000"/>
                </a:solidFill>
                <a:effectLst/>
                <a:latin typeface="Google Sans"/>
              </a:rPr>
              <a:t> % </a:t>
            </a:r>
            <a:r>
              <a:rPr lang="pt-BR" sz="2400" b="1" i="0" dirty="0">
                <a:effectLst/>
                <a:latin typeface="Google Sans"/>
              </a:rPr>
              <a:t>indica que será feita uma substituição na string, e o </a:t>
            </a:r>
            <a:r>
              <a:rPr lang="pt-BR" sz="2400" b="1" i="0" dirty="0">
                <a:solidFill>
                  <a:srgbClr val="FF0000"/>
                </a:solidFill>
                <a:effectLst/>
                <a:latin typeface="Google Sans"/>
              </a:rPr>
              <a:t>. 2f</a:t>
            </a:r>
            <a:r>
              <a:rPr lang="pt-BR" sz="2400" b="1" i="0" dirty="0">
                <a:effectLst/>
                <a:latin typeface="Google Sans"/>
              </a:rPr>
              <a:t> indica que o valor a ser substituído será um número de ponto flutuante com duas casas decimais.</a:t>
            </a:r>
            <a:endParaRPr lang="pt-BR" sz="2400" b="1" dirty="0"/>
          </a:p>
        </p:txBody>
      </p:sp>
    </p:spTree>
    <p:extLst>
      <p:ext uri="{BB962C8B-B14F-4D97-AF65-F5344CB8AC3E}">
        <p14:creationId xmlns:p14="http://schemas.microsoft.com/office/powerpoint/2010/main" val="3191716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Formatação de </a:t>
            </a:r>
            <a:r>
              <a:rPr lang="pt-BR" sz="4800" b="1" dirty="0" err="1">
                <a:solidFill>
                  <a:srgbClr val="003958"/>
                </a:solidFill>
                <a:latin typeface="+mj-lt"/>
              </a:rPr>
              <a:t>string</a:t>
            </a:r>
            <a:r>
              <a:rPr lang="pt-BR" sz="4800" dirty="0">
                <a:solidFill>
                  <a:srgbClr val="003958"/>
                </a:solidFill>
                <a:latin typeface="+mj-lt"/>
              </a:rPr>
              <a:t> com </a:t>
            </a:r>
            <a:r>
              <a:rPr lang="pt-BR" sz="4800" b="1" dirty="0">
                <a:solidFill>
                  <a:srgbClr val="003958"/>
                </a:solidFill>
                <a:latin typeface="+mj-lt"/>
              </a:rPr>
              <a:t>%()</a:t>
            </a:r>
            <a:endParaRPr lang="pt-BR" sz="4800" dirty="0">
              <a:solidFill>
                <a:srgbClr val="003958"/>
              </a:solidFill>
              <a:latin typeface="+mj-lt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C6D85084-4BF9-4F8E-A021-52BB2EEC2D49}"/>
              </a:ext>
            </a:extLst>
          </p:cNvPr>
          <p:cNvSpPr txBox="1"/>
          <p:nvPr/>
        </p:nvSpPr>
        <p:spPr>
          <a:xfrm>
            <a:off x="752498" y="1494840"/>
            <a:ext cx="1068700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1" dirty="0" err="1"/>
              <a:t>String</a:t>
            </a:r>
            <a:r>
              <a:rPr lang="pt-BR" sz="2800" dirty="0"/>
              <a:t> em Python têm uma operação integrada exclusiva que pode ser acessada com o operador </a:t>
            </a:r>
            <a:r>
              <a:rPr lang="pt-BR" sz="2800" b="1" dirty="0"/>
              <a:t>%</a:t>
            </a:r>
            <a:r>
              <a:rPr lang="pt-BR" sz="2800" dirty="0"/>
              <a:t>. </a:t>
            </a:r>
          </a:p>
        </p:txBody>
      </p:sp>
      <p:pic>
        <p:nvPicPr>
          <p:cNvPr id="8" name="Picture 7" descr="Text&#10;&#10;Description automatically generated with medium confidence">
            <a:extLst>
              <a:ext uri="{FF2B5EF4-FFF2-40B4-BE49-F238E27FC236}">
                <a16:creationId xmlns:a16="http://schemas.microsoft.com/office/drawing/2014/main" id="{284A2B02-BCE7-92E8-B793-3B9F42828B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7174" y="2723884"/>
            <a:ext cx="4057650" cy="6953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B1CC8F5-D3D8-BD1C-734A-9E024D414D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224" y="3832802"/>
            <a:ext cx="10877550" cy="74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822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Formatação de </a:t>
            </a:r>
            <a:r>
              <a:rPr lang="pt-BR" sz="4800" b="1" dirty="0" err="1">
                <a:solidFill>
                  <a:srgbClr val="003958"/>
                </a:solidFill>
                <a:latin typeface="+mj-lt"/>
              </a:rPr>
              <a:t>string</a:t>
            </a:r>
            <a:r>
              <a:rPr lang="pt-BR" sz="4800" dirty="0">
                <a:solidFill>
                  <a:srgbClr val="003958"/>
                </a:solidFill>
                <a:latin typeface="+mj-lt"/>
              </a:rPr>
              <a:t> com </a:t>
            </a:r>
            <a:r>
              <a:rPr lang="pt-BR" sz="4800" b="1" dirty="0">
                <a:solidFill>
                  <a:srgbClr val="003958"/>
                </a:solidFill>
                <a:latin typeface="+mj-lt"/>
              </a:rPr>
              <a:t>%()</a:t>
            </a:r>
            <a:endParaRPr lang="pt-BR" sz="4800" dirty="0">
              <a:solidFill>
                <a:srgbClr val="003958"/>
              </a:solidFill>
              <a:latin typeface="+mj-lt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C6D85084-4BF9-4F8E-A021-52BB2EEC2D49}"/>
              </a:ext>
            </a:extLst>
          </p:cNvPr>
          <p:cNvSpPr txBox="1"/>
          <p:nvPr/>
        </p:nvSpPr>
        <p:spPr>
          <a:xfrm>
            <a:off x="752498" y="1494840"/>
            <a:ext cx="1068700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1" dirty="0" err="1"/>
              <a:t>String</a:t>
            </a:r>
            <a:r>
              <a:rPr lang="pt-BR" sz="2800" dirty="0"/>
              <a:t> em Python têm uma operação integrada exclusiva que pode ser acessada com o operador </a:t>
            </a:r>
            <a:r>
              <a:rPr lang="pt-BR" sz="2800" b="1" dirty="0"/>
              <a:t>%</a:t>
            </a:r>
            <a:r>
              <a:rPr lang="pt-BR" sz="2800" dirty="0"/>
              <a:t>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39F565-4307-28D9-BC47-763434D204C2}"/>
              </a:ext>
            </a:extLst>
          </p:cNvPr>
          <p:cNvSpPr txBox="1"/>
          <p:nvPr/>
        </p:nvSpPr>
        <p:spPr>
          <a:xfrm>
            <a:off x="697608" y="2751891"/>
            <a:ext cx="11528304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cs typeface="Courier New" panose="02070309020205020404" pitchFamily="49" charset="0"/>
              </a:rPr>
              <a:t>Caso tenhamos valores numéricos:</a:t>
            </a:r>
          </a:p>
          <a:p>
            <a:endParaRPr lang="pt-BR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pt-BR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pt-B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('Premio total: R$ </a:t>
            </a:r>
            <a:r>
              <a:rPr lang="pt-BR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%.2f</a:t>
            </a:r>
            <a:r>
              <a:rPr lang="pt-B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para </a:t>
            </a:r>
            <a:r>
              <a:rPr lang="pt-BR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%d</a:t>
            </a:r>
            <a:r>
              <a:rPr lang="pt-B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ganhadores, '</a:t>
            </a:r>
          </a:p>
          <a:p>
            <a:r>
              <a:rPr lang="pt-B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'onde cada um ficou com R$ </a:t>
            </a:r>
            <a:r>
              <a:rPr lang="pt-BR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%.2f</a:t>
            </a:r>
            <a:r>
              <a:rPr lang="pt-B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.'</a:t>
            </a:r>
            <a:r>
              <a:rPr lang="pt-BR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pt-B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(premio, ganhadores, premio/ganhadores))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B2F99F4-016A-0BEE-FEC7-32B9DD38915C}"/>
              </a:ext>
            </a:extLst>
          </p:cNvPr>
          <p:cNvSpPr txBox="1"/>
          <p:nvPr/>
        </p:nvSpPr>
        <p:spPr>
          <a:xfrm>
            <a:off x="697608" y="4927254"/>
            <a:ext cx="1068700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i="0" dirty="0">
                <a:solidFill>
                  <a:srgbClr val="FF0000"/>
                </a:solidFill>
                <a:effectLst/>
                <a:latin typeface="Google Sans"/>
              </a:rPr>
              <a:t>2f </a:t>
            </a:r>
            <a:r>
              <a:rPr lang="pt-BR" sz="2400" b="1" i="0" dirty="0">
                <a:effectLst/>
                <a:latin typeface="Google Sans"/>
              </a:rPr>
              <a:t>é utilizada dentro do print para exibir valor com duas casas decimais.</a:t>
            </a:r>
            <a:r>
              <a:rPr lang="pt-BR" sz="2400" b="1" i="0" dirty="0">
                <a:solidFill>
                  <a:srgbClr val="FF0000"/>
                </a:solidFill>
                <a:effectLst/>
                <a:latin typeface="Google Sans"/>
              </a:rPr>
              <a:t> </a:t>
            </a:r>
          </a:p>
          <a:p>
            <a:r>
              <a:rPr lang="pt-BR" sz="2400" b="1" i="0" dirty="0">
                <a:solidFill>
                  <a:srgbClr val="FF0000"/>
                </a:solidFill>
                <a:effectLst/>
                <a:latin typeface="Google Sans"/>
              </a:rPr>
              <a:t> % </a:t>
            </a:r>
            <a:r>
              <a:rPr lang="pt-BR" sz="2400" b="1" i="0" dirty="0">
                <a:effectLst/>
                <a:latin typeface="Google Sans"/>
              </a:rPr>
              <a:t>indica que será feita uma substituição na string, e o </a:t>
            </a:r>
            <a:r>
              <a:rPr lang="pt-BR" sz="2400" b="1" i="0" dirty="0">
                <a:solidFill>
                  <a:srgbClr val="FF0000"/>
                </a:solidFill>
                <a:effectLst/>
                <a:latin typeface="Google Sans"/>
              </a:rPr>
              <a:t>. 2f</a:t>
            </a:r>
            <a:r>
              <a:rPr lang="pt-BR" sz="2400" b="1" i="0" dirty="0">
                <a:effectLst/>
                <a:latin typeface="Google Sans"/>
              </a:rPr>
              <a:t> indica que o valor a ser substituído será um número de ponto flutuante com duas casas decimais.</a:t>
            </a:r>
            <a:endParaRPr lang="pt-BR" sz="2400" b="1" dirty="0"/>
          </a:p>
        </p:txBody>
      </p:sp>
    </p:spTree>
    <p:extLst>
      <p:ext uri="{BB962C8B-B14F-4D97-AF65-F5344CB8AC3E}">
        <p14:creationId xmlns:p14="http://schemas.microsoft.com/office/powerpoint/2010/main" val="2005716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799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400" dirty="0">
                <a:solidFill>
                  <a:srgbClr val="003958"/>
                </a:solidFill>
                <a:latin typeface="+mj-lt"/>
              </a:rPr>
              <a:t>Formatação de </a:t>
            </a:r>
            <a:r>
              <a:rPr lang="pt-BR" sz="4400" b="1" dirty="0" err="1">
                <a:solidFill>
                  <a:srgbClr val="003958"/>
                </a:solidFill>
                <a:latin typeface="+mj-lt"/>
              </a:rPr>
              <a:t>string</a:t>
            </a:r>
            <a:r>
              <a:rPr lang="pt-BR" sz="4400" dirty="0">
                <a:solidFill>
                  <a:srgbClr val="003958"/>
                </a:solidFill>
                <a:latin typeface="+mj-lt"/>
              </a:rPr>
              <a:t> – </a:t>
            </a:r>
            <a:r>
              <a:rPr lang="pt-BR" sz="4400" b="1" i="1" dirty="0">
                <a:solidFill>
                  <a:srgbClr val="003958"/>
                </a:solidFill>
                <a:latin typeface="+mj-lt"/>
              </a:rPr>
              <a:t>f-</a:t>
            </a:r>
            <a:r>
              <a:rPr lang="pt-BR" sz="4400" b="1" i="1" dirty="0" err="1">
                <a:solidFill>
                  <a:srgbClr val="003958"/>
                </a:solidFill>
                <a:latin typeface="+mj-lt"/>
              </a:rPr>
              <a:t>String</a:t>
            </a:r>
            <a:endParaRPr lang="pt-BR" sz="4400" b="1" i="1" dirty="0">
              <a:solidFill>
                <a:srgbClr val="003958"/>
              </a:solidFill>
              <a:latin typeface="+mj-lt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C6D85084-4BF9-4F8E-A021-52BB2EEC2D49}"/>
              </a:ext>
            </a:extLst>
          </p:cNvPr>
          <p:cNvSpPr txBox="1"/>
          <p:nvPr/>
        </p:nvSpPr>
        <p:spPr>
          <a:xfrm>
            <a:off x="752498" y="1494840"/>
            <a:ext cx="1068700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dirty="0"/>
              <a:t>Quando trabalhamos com </a:t>
            </a:r>
            <a:r>
              <a:rPr lang="pt-BR" sz="2800" b="1" dirty="0" err="1"/>
              <a:t>strings</a:t>
            </a:r>
            <a:r>
              <a:rPr lang="pt-BR" sz="2800" dirty="0"/>
              <a:t>, é bastante comum querermos formatá-las e, para isso, Python oferece diversas maneiras, tais como os marcadores de posição </a:t>
            </a:r>
            <a:r>
              <a:rPr lang="pt-BR" sz="2800" b="1" dirty="0"/>
              <a:t>%</a:t>
            </a:r>
            <a:r>
              <a:rPr lang="pt-BR" sz="2800" dirty="0"/>
              <a:t>, o método </a:t>
            </a:r>
            <a:r>
              <a:rPr lang="pt-BR" sz="2800" b="1" dirty="0" err="1"/>
              <a:t>format</a:t>
            </a:r>
            <a:r>
              <a:rPr lang="pt-BR" sz="2800" dirty="0"/>
              <a:t>(). No entanto, uma das maneiras mais simples de implementar a formatação de </a:t>
            </a:r>
            <a:r>
              <a:rPr lang="pt-BR" sz="2800" dirty="0" err="1"/>
              <a:t>strings</a:t>
            </a:r>
            <a:r>
              <a:rPr lang="pt-BR" sz="2800" dirty="0"/>
              <a:t> é utilizando a Literal </a:t>
            </a:r>
            <a:r>
              <a:rPr lang="pt-BR" sz="2800" i="1" dirty="0" err="1"/>
              <a:t>Strings</a:t>
            </a:r>
            <a:r>
              <a:rPr lang="pt-BR" sz="2800" i="1" dirty="0"/>
              <a:t> </a:t>
            </a:r>
            <a:r>
              <a:rPr lang="pt-BR" sz="2800" i="1" dirty="0" err="1"/>
              <a:t>Interpolation</a:t>
            </a:r>
            <a:r>
              <a:rPr lang="pt-BR" sz="2800" i="1" dirty="0"/>
              <a:t> </a:t>
            </a:r>
            <a:r>
              <a:rPr lang="pt-BR" sz="2800" dirty="0"/>
              <a:t>ou, simplesmente, </a:t>
            </a:r>
            <a:r>
              <a:rPr lang="pt-BR" sz="2800" b="1" i="1" dirty="0"/>
              <a:t>f-</a:t>
            </a:r>
            <a:r>
              <a:rPr lang="pt-BR" sz="2800" b="1" i="1" dirty="0" err="1"/>
              <a:t>Strings</a:t>
            </a:r>
            <a:r>
              <a:rPr lang="pt-BR" sz="2800" dirty="0"/>
              <a:t>. Elas foram incluídas na versão Python 3.6.</a:t>
            </a:r>
          </a:p>
          <a:p>
            <a:pPr algn="just"/>
            <a:endParaRPr lang="pt-BR" sz="2800" dirty="0"/>
          </a:p>
          <a:p>
            <a:pPr algn="just"/>
            <a:r>
              <a:rPr lang="pt-BR" sz="2800" dirty="0"/>
              <a:t>A sintaxe das </a:t>
            </a:r>
            <a:r>
              <a:rPr lang="pt-BR" sz="2800" b="1" i="1" dirty="0"/>
              <a:t>f-</a:t>
            </a:r>
            <a:r>
              <a:rPr lang="pt-BR" sz="2800" b="1" i="1" dirty="0" err="1"/>
              <a:t>Strings</a:t>
            </a:r>
            <a:r>
              <a:rPr lang="pt-BR" sz="2800" dirty="0"/>
              <a:t> é bastante simples e o seu uso garante a incorporação de expressões dentro do texto literal.</a:t>
            </a:r>
          </a:p>
        </p:txBody>
      </p:sp>
    </p:spTree>
    <p:extLst>
      <p:ext uri="{BB962C8B-B14F-4D97-AF65-F5344CB8AC3E}">
        <p14:creationId xmlns:p14="http://schemas.microsoft.com/office/powerpoint/2010/main" val="3136595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799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400" dirty="0">
                <a:solidFill>
                  <a:srgbClr val="003958"/>
                </a:solidFill>
                <a:latin typeface="+mj-lt"/>
              </a:rPr>
              <a:t>Formatação de </a:t>
            </a:r>
            <a:r>
              <a:rPr lang="pt-BR" sz="4400" b="1" dirty="0" err="1">
                <a:solidFill>
                  <a:srgbClr val="003958"/>
                </a:solidFill>
                <a:latin typeface="+mj-lt"/>
              </a:rPr>
              <a:t>string</a:t>
            </a:r>
            <a:r>
              <a:rPr lang="pt-BR" sz="4400" dirty="0">
                <a:solidFill>
                  <a:srgbClr val="003958"/>
                </a:solidFill>
                <a:latin typeface="+mj-lt"/>
              </a:rPr>
              <a:t> – </a:t>
            </a:r>
            <a:r>
              <a:rPr lang="pt-BR" sz="4400" b="1" i="1" dirty="0">
                <a:solidFill>
                  <a:srgbClr val="003958"/>
                </a:solidFill>
                <a:latin typeface="+mj-lt"/>
              </a:rPr>
              <a:t>f-</a:t>
            </a:r>
            <a:r>
              <a:rPr lang="pt-BR" sz="4400" b="1" i="1" dirty="0" err="1">
                <a:solidFill>
                  <a:srgbClr val="003958"/>
                </a:solidFill>
                <a:latin typeface="+mj-lt"/>
              </a:rPr>
              <a:t>String</a:t>
            </a:r>
            <a:endParaRPr lang="pt-BR" sz="4400" b="1" i="1" dirty="0">
              <a:solidFill>
                <a:srgbClr val="003958"/>
              </a:solidFill>
              <a:latin typeface="+mj-lt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C6D85084-4BF9-4F8E-A021-52BB2EEC2D49}"/>
              </a:ext>
            </a:extLst>
          </p:cNvPr>
          <p:cNvSpPr txBox="1"/>
          <p:nvPr/>
        </p:nvSpPr>
        <p:spPr>
          <a:xfrm>
            <a:off x="752498" y="1494840"/>
            <a:ext cx="10687003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dirty="0"/>
              <a:t>Em um programa Python, as </a:t>
            </a:r>
            <a:r>
              <a:rPr lang="pt-BR" sz="2800" b="1" i="1" dirty="0"/>
              <a:t>f-</a:t>
            </a:r>
            <a:r>
              <a:rPr lang="pt-BR" sz="2800" b="1" i="1" dirty="0" err="1"/>
              <a:t>Strings</a:t>
            </a:r>
            <a:r>
              <a:rPr lang="pt-BR" sz="2800" dirty="0"/>
              <a:t> são iniciadas com a letra </a:t>
            </a:r>
            <a:r>
              <a:rPr lang="pt-BR" sz="2800" b="1" dirty="0"/>
              <a:t>f</a:t>
            </a:r>
            <a:r>
              <a:rPr lang="pt-BR" sz="2800" dirty="0"/>
              <a:t> ou </a:t>
            </a:r>
            <a:r>
              <a:rPr lang="pt-BR" sz="2800" b="1" dirty="0"/>
              <a:t>F</a:t>
            </a:r>
            <a:r>
              <a:rPr lang="pt-BR" sz="2800" dirty="0"/>
              <a:t>, contendo expressões envolvidas por um par de chaves </a:t>
            </a:r>
            <a:r>
              <a:rPr lang="pt-BR" sz="2800" b="1" dirty="0"/>
              <a:t>{...}</a:t>
            </a:r>
            <a:r>
              <a:rPr lang="pt-BR" sz="2800" dirty="0"/>
              <a:t>, modificadas dentro da </a:t>
            </a:r>
            <a:r>
              <a:rPr lang="pt-BR" sz="2800" dirty="0" err="1"/>
              <a:t>string</a:t>
            </a:r>
            <a:r>
              <a:rPr lang="pt-BR" sz="2800" dirty="0"/>
              <a:t> a ser formatada. As </a:t>
            </a:r>
            <a:r>
              <a:rPr lang="pt-BR" sz="2800" b="1" i="1" dirty="0"/>
              <a:t>f-</a:t>
            </a:r>
            <a:r>
              <a:rPr lang="pt-BR" sz="2800" b="1" i="1" dirty="0" err="1"/>
              <a:t>Strings</a:t>
            </a:r>
            <a:r>
              <a:rPr lang="pt-BR" sz="2800" dirty="0"/>
              <a:t> consideram tudo que está fora do par de chaves como sendo um texto literal e, portanto, na saída, o texto será replicado sem nenhuma alteração.</a:t>
            </a:r>
          </a:p>
          <a:p>
            <a:pPr algn="just"/>
            <a:endParaRPr lang="pt-BR" sz="2800" dirty="0"/>
          </a:p>
          <a:p>
            <a:pPr algn="just"/>
            <a:r>
              <a:rPr lang="pt-BR" sz="2800" dirty="0"/>
              <a:t>A maneira mais simples de formatar uma </a:t>
            </a:r>
            <a:r>
              <a:rPr lang="pt-BR" sz="2800" b="1" dirty="0" err="1"/>
              <a:t>string</a:t>
            </a:r>
            <a:r>
              <a:rPr lang="pt-BR" sz="2800" dirty="0"/>
              <a:t> é informando o(s) valor(es) que a comporá(</a:t>
            </a:r>
            <a:r>
              <a:rPr lang="pt-BR" sz="2800" dirty="0" err="1"/>
              <a:t>ão</a:t>
            </a:r>
            <a:r>
              <a:rPr lang="pt-BR" sz="2800" dirty="0"/>
              <a:t>), conforme exemplo a seguir:</a:t>
            </a:r>
          </a:p>
        </p:txBody>
      </p:sp>
    </p:spTree>
    <p:extLst>
      <p:ext uri="{BB962C8B-B14F-4D97-AF65-F5344CB8AC3E}">
        <p14:creationId xmlns:p14="http://schemas.microsoft.com/office/powerpoint/2010/main" val="3272858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799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400" dirty="0">
                <a:solidFill>
                  <a:srgbClr val="003958"/>
                </a:solidFill>
                <a:latin typeface="+mj-lt"/>
              </a:rPr>
              <a:t>Formatação de </a:t>
            </a:r>
            <a:r>
              <a:rPr lang="pt-BR" sz="4400" b="1" dirty="0" err="1">
                <a:solidFill>
                  <a:srgbClr val="003958"/>
                </a:solidFill>
                <a:latin typeface="+mj-lt"/>
              </a:rPr>
              <a:t>string</a:t>
            </a:r>
            <a:r>
              <a:rPr lang="pt-BR" sz="4400" dirty="0">
                <a:solidFill>
                  <a:srgbClr val="003958"/>
                </a:solidFill>
                <a:latin typeface="+mj-lt"/>
              </a:rPr>
              <a:t> – </a:t>
            </a:r>
            <a:r>
              <a:rPr lang="pt-BR" sz="4400" b="1" i="1" dirty="0">
                <a:solidFill>
                  <a:srgbClr val="003958"/>
                </a:solidFill>
                <a:latin typeface="+mj-lt"/>
              </a:rPr>
              <a:t>f-</a:t>
            </a:r>
            <a:r>
              <a:rPr lang="pt-BR" sz="4400" b="1" i="1" dirty="0" err="1">
                <a:solidFill>
                  <a:srgbClr val="003958"/>
                </a:solidFill>
                <a:latin typeface="+mj-lt"/>
              </a:rPr>
              <a:t>String</a:t>
            </a:r>
            <a:endParaRPr lang="pt-BR" sz="4400" b="1" i="1" dirty="0">
              <a:solidFill>
                <a:srgbClr val="003958"/>
              </a:solidFill>
              <a:latin typeface="+mj-lt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C6D85084-4BF9-4F8E-A021-52BB2EEC2D49}"/>
              </a:ext>
            </a:extLst>
          </p:cNvPr>
          <p:cNvSpPr txBox="1"/>
          <p:nvPr/>
        </p:nvSpPr>
        <p:spPr>
          <a:xfrm>
            <a:off x="752498" y="1797784"/>
            <a:ext cx="1068700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premio     = </a:t>
            </a:r>
            <a:r>
              <a:rPr lang="pt-BR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pt-BR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pt-BR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(‘Valor do PREMIO:'))</a:t>
            </a:r>
          </a:p>
          <a:p>
            <a:r>
              <a:rPr lang="pt-BR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ganhadores = </a:t>
            </a:r>
            <a:r>
              <a:rPr lang="pt-BR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pt-BR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(‘Total de GANHADORES:'))</a:t>
            </a:r>
            <a:br>
              <a:rPr lang="pt-BR" sz="2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pt-BR" sz="2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pt-BR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pt-BR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</a:t>
            </a:r>
            <a:r>
              <a:rPr lang="pt-BR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’O</a:t>
            </a:r>
            <a:r>
              <a:rPr lang="pt-BR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PREMIO DE R$ </a:t>
            </a:r>
            <a:r>
              <a:rPr lang="pt-BR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{premio:,.2f}</a:t>
            </a:r>
            <a:r>
              <a:rPr lang="pt-BR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, COM 		</a:t>
            </a:r>
            <a:r>
              <a:rPr lang="pt-BR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{ganhadores}</a:t>
            </a:r>
            <a:r>
              <a:rPr lang="pt-BR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GANHADORES, RECEBERAM R$ 	</a:t>
            </a:r>
            <a:r>
              <a:rPr lang="pt-BR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{premio/ganhadores:,.2f}</a:t>
            </a:r>
            <a:r>
              <a:rPr lang="pt-BR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')</a:t>
            </a:r>
          </a:p>
        </p:txBody>
      </p:sp>
    </p:spTree>
    <p:extLst>
      <p:ext uri="{BB962C8B-B14F-4D97-AF65-F5344CB8AC3E}">
        <p14:creationId xmlns:p14="http://schemas.microsoft.com/office/powerpoint/2010/main" val="1187397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799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400" dirty="0">
                <a:solidFill>
                  <a:srgbClr val="003958"/>
                </a:solidFill>
                <a:latin typeface="+mj-lt"/>
              </a:rPr>
              <a:t>Formatação de </a:t>
            </a:r>
            <a:r>
              <a:rPr lang="pt-BR" sz="4400" b="1" dirty="0" err="1">
                <a:solidFill>
                  <a:srgbClr val="003958"/>
                </a:solidFill>
                <a:latin typeface="+mj-lt"/>
              </a:rPr>
              <a:t>string</a:t>
            </a:r>
            <a:endParaRPr lang="pt-BR" sz="4400" b="1" i="1" dirty="0">
              <a:solidFill>
                <a:srgbClr val="003958"/>
              </a:solidFill>
              <a:latin typeface="+mj-lt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C6D85084-4BF9-4F8E-A021-52BB2EEC2D49}"/>
              </a:ext>
            </a:extLst>
          </p:cNvPr>
          <p:cNvSpPr txBox="1"/>
          <p:nvPr/>
        </p:nvSpPr>
        <p:spPr>
          <a:xfrm>
            <a:off x="752498" y="1494840"/>
            <a:ext cx="10687003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premio     = </a:t>
            </a:r>
            <a:r>
              <a:rPr lang="pt-BR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pt-B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pt-B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('VALOR DO PREMIO:'))</a:t>
            </a:r>
          </a:p>
          <a:p>
            <a:r>
              <a:rPr lang="pt-B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ganhadores = </a:t>
            </a:r>
            <a:r>
              <a:rPr lang="pt-BR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pt-B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('TOTAL DE GANHADORES:'))</a:t>
            </a:r>
          </a:p>
          <a:p>
            <a:br>
              <a:rPr lang="pt-BR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pt-BR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pt-B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('Cada um vai ficar com R$', premio/ganhadores)</a:t>
            </a:r>
          </a:p>
          <a:p>
            <a:r>
              <a:rPr lang="pt-BR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pt-B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('Cada um vai ficar com R$' + </a:t>
            </a:r>
            <a:r>
              <a:rPr lang="pt-BR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pt-B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(premio/ganhadores))</a:t>
            </a:r>
          </a:p>
          <a:p>
            <a:r>
              <a:rPr lang="pt-BR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pt-B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('Cada um vai ficar com R$ </a:t>
            </a:r>
            <a:r>
              <a:rPr lang="pt-BR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%.2f</a:t>
            </a:r>
            <a:r>
              <a:rPr lang="pt-B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'%(premio/ganhadores))</a:t>
            </a:r>
          </a:p>
          <a:p>
            <a:r>
              <a:rPr lang="pt-BR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pt-B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('Cada um vai ficar com R$ </a:t>
            </a:r>
            <a:r>
              <a:rPr lang="pt-BR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{0:.2f}</a:t>
            </a:r>
            <a:r>
              <a:rPr lang="pt-B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’.</a:t>
            </a:r>
            <a:r>
              <a:rPr lang="pt-BR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format</a:t>
            </a:r>
            <a:r>
              <a:rPr lang="pt-B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(premio/ganhadores))</a:t>
            </a:r>
          </a:p>
          <a:p>
            <a:endParaRPr lang="pt-BR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br>
              <a:rPr lang="pt-BR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pt-BR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pt-B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</a:t>
            </a:r>
            <a:r>
              <a:rPr lang="pt-B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'O</a:t>
            </a:r>
            <a:r>
              <a:rPr lang="pt-B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PREMIO DE R$ </a:t>
            </a:r>
            <a:r>
              <a:rPr lang="pt-BR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{premio:,.2f}</a:t>
            </a:r>
            <a:r>
              <a:rPr lang="pt-B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COM </a:t>
            </a:r>
            <a:r>
              <a:rPr lang="pt-BR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{ganhadores}</a:t>
            </a:r>
            <a:r>
              <a:rPr lang="pt-B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GANHADORES, RECEBERAM R$ </a:t>
            </a:r>
            <a:r>
              <a:rPr lang="pt-BR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{premio/ganhadores:,.2f}</a:t>
            </a:r>
            <a:r>
              <a:rPr lang="pt-B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')</a:t>
            </a:r>
          </a:p>
        </p:txBody>
      </p:sp>
    </p:spTree>
    <p:extLst>
      <p:ext uri="{BB962C8B-B14F-4D97-AF65-F5344CB8AC3E}">
        <p14:creationId xmlns:p14="http://schemas.microsoft.com/office/powerpoint/2010/main" val="4243294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Outros métodos para </a:t>
            </a:r>
            <a:r>
              <a:rPr lang="pt-BR" sz="4800" b="1" dirty="0" err="1">
                <a:solidFill>
                  <a:srgbClr val="003958"/>
                </a:solidFill>
                <a:latin typeface="+mj-lt"/>
              </a:rPr>
              <a:t>string</a:t>
            </a:r>
            <a:endParaRPr lang="pt-BR" sz="4800" b="1" dirty="0">
              <a:solidFill>
                <a:srgbClr val="003958"/>
              </a:solidFill>
              <a:latin typeface="+mj-lt"/>
            </a:endParaRPr>
          </a:p>
        </p:txBody>
      </p:sp>
      <p:sp>
        <p:nvSpPr>
          <p:cNvPr id="9" name="CaixaDeTexto 8"/>
          <p:cNvSpPr txBox="1"/>
          <p:nvPr/>
        </p:nvSpPr>
        <p:spPr>
          <a:xfrm>
            <a:off x="1023257" y="1854854"/>
            <a:ext cx="109369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1678FF74-93CC-48DE-940D-DCFE7EDB5E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738" y="1702450"/>
            <a:ext cx="10144884" cy="4579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778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Outros métodos para </a:t>
            </a:r>
            <a:r>
              <a:rPr lang="pt-BR" sz="4800" b="1" dirty="0" err="1">
                <a:solidFill>
                  <a:srgbClr val="003958"/>
                </a:solidFill>
                <a:latin typeface="+mj-lt"/>
              </a:rPr>
              <a:t>string</a:t>
            </a:r>
            <a:endParaRPr lang="pt-BR" sz="4800" b="1" dirty="0">
              <a:solidFill>
                <a:srgbClr val="003958"/>
              </a:solidFill>
              <a:latin typeface="+mj-lt"/>
            </a:endParaRPr>
          </a:p>
        </p:txBody>
      </p:sp>
      <p:sp>
        <p:nvSpPr>
          <p:cNvPr id="9" name="CaixaDeTexto 8"/>
          <p:cNvSpPr txBox="1"/>
          <p:nvPr/>
        </p:nvSpPr>
        <p:spPr>
          <a:xfrm>
            <a:off x="1023257" y="1854854"/>
            <a:ext cx="109369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1678FF74-93CC-48DE-940D-DCFE7EDB5E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91463"/>
          <a:stretch/>
        </p:blipFill>
        <p:spPr>
          <a:xfrm>
            <a:off x="1253799" y="1798473"/>
            <a:ext cx="9684402" cy="343068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D6DEACBC-8034-49F7-B06B-E5BAA33D5A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6914" y="2141541"/>
            <a:ext cx="9982162" cy="3906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403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Outros métodos para </a:t>
            </a:r>
            <a:r>
              <a:rPr lang="pt-BR" sz="4800" b="1" dirty="0" err="1">
                <a:solidFill>
                  <a:srgbClr val="003958"/>
                </a:solidFill>
                <a:latin typeface="+mj-lt"/>
              </a:rPr>
              <a:t>string</a:t>
            </a:r>
            <a:endParaRPr lang="pt-BR" sz="4800" b="1" dirty="0">
              <a:solidFill>
                <a:srgbClr val="003958"/>
              </a:solidFill>
              <a:latin typeface="+mj-lt"/>
            </a:endParaRPr>
          </a:p>
        </p:txBody>
      </p:sp>
      <p:sp>
        <p:nvSpPr>
          <p:cNvPr id="9" name="CaixaDeTexto 8"/>
          <p:cNvSpPr txBox="1"/>
          <p:nvPr/>
        </p:nvSpPr>
        <p:spPr>
          <a:xfrm>
            <a:off x="1023257" y="1854854"/>
            <a:ext cx="109369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1678FF74-93CC-48DE-940D-DCFE7EDB5E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89351"/>
          <a:stretch/>
        </p:blipFill>
        <p:spPr>
          <a:xfrm>
            <a:off x="1023257" y="1628311"/>
            <a:ext cx="9853850" cy="435413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6C3B6B46-947E-4896-B6A0-79E38F940E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438" y="1978660"/>
            <a:ext cx="9736504" cy="3264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372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Outros métodos para </a:t>
            </a:r>
            <a:r>
              <a:rPr lang="pt-BR" sz="4800" b="1" dirty="0" err="1">
                <a:solidFill>
                  <a:srgbClr val="003958"/>
                </a:solidFill>
                <a:latin typeface="+mj-lt"/>
              </a:rPr>
              <a:t>string</a:t>
            </a:r>
            <a:endParaRPr lang="pt-BR" sz="4800" b="1" dirty="0">
              <a:solidFill>
                <a:srgbClr val="003958"/>
              </a:solidFill>
              <a:latin typeface="+mj-lt"/>
            </a:endParaRPr>
          </a:p>
        </p:txBody>
      </p:sp>
      <p:sp>
        <p:nvSpPr>
          <p:cNvPr id="9" name="CaixaDeTexto 8"/>
          <p:cNvSpPr txBox="1"/>
          <p:nvPr/>
        </p:nvSpPr>
        <p:spPr>
          <a:xfrm>
            <a:off x="1023257" y="1854854"/>
            <a:ext cx="109369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1678FF74-93CC-48DE-940D-DCFE7EDB5E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89351"/>
          <a:stretch/>
        </p:blipFill>
        <p:spPr>
          <a:xfrm>
            <a:off x="1672177" y="1209912"/>
            <a:ext cx="8230749" cy="363693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AED1855-D424-4429-91AA-724C4C58E27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119"/>
          <a:stretch/>
        </p:blipFill>
        <p:spPr>
          <a:xfrm>
            <a:off x="1643903" y="1524000"/>
            <a:ext cx="8392696" cy="4992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245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Praticando com o Python...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1023257" y="1631576"/>
            <a:ext cx="1006243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pt-BR" sz="2400" dirty="0"/>
              <a:t>1) Crie um programa que imprima o comprimento de uma </a:t>
            </a:r>
            <a:r>
              <a:rPr lang="pt-BR" sz="2400" dirty="0" err="1"/>
              <a:t>string</a:t>
            </a:r>
            <a:r>
              <a:rPr lang="pt-BR" sz="2400" dirty="0"/>
              <a:t> fornecida pelo usuário.</a:t>
            </a:r>
          </a:p>
          <a:p>
            <a:pPr lvl="0" algn="just"/>
            <a:endParaRPr lang="pt-BR" sz="2400" dirty="0"/>
          </a:p>
          <a:p>
            <a:pPr lvl="0" algn="just"/>
            <a:r>
              <a:rPr lang="pt-BR" sz="2400" dirty="0"/>
              <a:t>2) Escreva um programa que leia uma frase e converta em uma outra variável a  cadeia de caracteres de letras maiúsculas em letras minúsculas.</a:t>
            </a:r>
          </a:p>
          <a:p>
            <a:pPr lvl="0" algn="just"/>
            <a:endParaRPr lang="pt-BR" sz="2400" dirty="0"/>
          </a:p>
          <a:p>
            <a:pPr lvl="0" algn="just"/>
            <a:r>
              <a:rPr lang="pt-BR" sz="2400" dirty="0"/>
              <a:t>3) Elabore um programa que solicite uma frase ao usuário e escreva a frase toda em maiúscula. No mesmo programa exiba a frase sem espaços em branco. Dica use </a:t>
            </a:r>
            <a:r>
              <a:rPr lang="pt-BR" sz="2400" b="1" dirty="0" err="1"/>
              <a:t>replace</a:t>
            </a:r>
            <a:r>
              <a:rPr lang="pt-BR" sz="2400" b="1" dirty="0"/>
              <a:t>.</a:t>
            </a:r>
          </a:p>
          <a:p>
            <a:pPr lvl="0" algn="just"/>
            <a:endParaRPr lang="pt-BR" sz="2400" dirty="0"/>
          </a:p>
          <a:p>
            <a:pPr algn="just"/>
            <a:r>
              <a:rPr lang="pt-BR" sz="2400" dirty="0"/>
              <a:t>4) Desenvolva um programa que solicite uma frase ao usuário e escreva a frase invertida. Dica </a:t>
            </a:r>
            <a:r>
              <a:rPr lang="pt-BR" sz="2400" b="1" dirty="0"/>
              <a:t>[::-1]</a:t>
            </a:r>
          </a:p>
        </p:txBody>
      </p:sp>
    </p:spTree>
    <p:extLst>
      <p:ext uri="{BB962C8B-B14F-4D97-AF65-F5344CB8AC3E}">
        <p14:creationId xmlns:p14="http://schemas.microsoft.com/office/powerpoint/2010/main" val="1232086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Praticando com o Python...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1023257" y="1631576"/>
            <a:ext cx="1006243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pt-BR" sz="2400" dirty="0"/>
              <a:t>5) Crie um programa que leia o nome completo de uma pessoa todo em minúsculo e exiba este nome com as primeiras letras em maiúsculo. Dica: use </a:t>
            </a:r>
            <a:r>
              <a:rPr lang="pt-BR" sz="2400" b="1" dirty="0"/>
              <a:t>.</a:t>
            </a:r>
            <a:r>
              <a:rPr lang="pt-BR" sz="2400" b="1" dirty="0" err="1"/>
              <a:t>title</a:t>
            </a:r>
            <a:r>
              <a:rPr lang="pt-BR" sz="2400" b="1" dirty="0"/>
              <a:t>()</a:t>
            </a:r>
          </a:p>
          <a:p>
            <a:pPr lvl="0" algn="just"/>
            <a:endParaRPr lang="pt-BR" sz="2400" dirty="0"/>
          </a:p>
          <a:p>
            <a:pPr lvl="0" algn="just"/>
            <a:r>
              <a:rPr lang="pt-BR" sz="2400" dirty="0"/>
              <a:t>6) Seguindo o exercício acima, exiba da mesma forma, no entanto a entrada será com todos os caracteres maiúsculos. Dica: use </a:t>
            </a:r>
            <a:r>
              <a:rPr lang="pt-BR" sz="2400" b="1" dirty="0"/>
              <a:t>.</a:t>
            </a:r>
            <a:r>
              <a:rPr lang="pt-BR" sz="2400" b="1" dirty="0" err="1"/>
              <a:t>lower</a:t>
            </a:r>
            <a:r>
              <a:rPr lang="pt-BR" sz="2400" b="1" dirty="0"/>
              <a:t>() </a:t>
            </a:r>
            <a:r>
              <a:rPr lang="pt-BR" sz="2400" dirty="0"/>
              <a:t>e .</a:t>
            </a:r>
            <a:r>
              <a:rPr lang="pt-BR" sz="2400" b="1" dirty="0" err="1"/>
              <a:t>title</a:t>
            </a:r>
            <a:r>
              <a:rPr lang="pt-BR" sz="2400" dirty="0"/>
              <a:t>()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endParaRPr lang="pt-BR" sz="2400" dirty="0"/>
          </a:p>
          <a:p>
            <a:pPr lvl="0" algn="just"/>
            <a:r>
              <a:rPr lang="pt-BR" sz="2400" dirty="0"/>
              <a:t>7) Elabore um programa que leia o nome do usuário e mostre o nome de traz para frente, utilizando somente letras maiúsculas.</a:t>
            </a:r>
          </a:p>
          <a:p>
            <a:pPr lvl="0" algn="just"/>
            <a:endParaRPr lang="pt-BR" sz="2400" dirty="0"/>
          </a:p>
          <a:p>
            <a:pPr algn="just"/>
            <a:r>
              <a:rPr lang="pt-BR" sz="2400" dirty="0"/>
              <a:t>8) Desenvolva um programa que leia uma frase e um caractere. Em seguida, exiba ambos e o número de ocorrências do caractere na frase.</a:t>
            </a:r>
          </a:p>
        </p:txBody>
      </p:sp>
    </p:spTree>
    <p:extLst>
      <p:ext uri="{BB962C8B-B14F-4D97-AF65-F5344CB8AC3E}">
        <p14:creationId xmlns:p14="http://schemas.microsoft.com/office/powerpoint/2010/main" val="3146430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Praticando com o Python...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1023257" y="1631576"/>
            <a:ext cx="10062433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pt-BR" sz="2400" dirty="0"/>
              <a:t>9) Elabore um programa que leia uma frase, uma palavra antiga e uma palavra nova. O programa deve exibir uma </a:t>
            </a:r>
            <a:r>
              <a:rPr lang="pt-BR" sz="2400" dirty="0" err="1"/>
              <a:t>string</a:t>
            </a:r>
            <a:r>
              <a:rPr lang="pt-BR" sz="2400" dirty="0"/>
              <a:t> contendo a frase original e outra com a ocorrência da palavra antiga substituída pela palavra nova.</a:t>
            </a:r>
          </a:p>
          <a:p>
            <a:pPr lvl="0" algn="just"/>
            <a:endParaRPr lang="pt-BR" sz="2400" dirty="0"/>
          </a:p>
          <a:p>
            <a:pPr lvl="0" algn="just"/>
            <a:r>
              <a:rPr lang="pt-BR" sz="2400" dirty="0"/>
              <a:t>Exemplo:</a:t>
            </a:r>
          </a:p>
          <a:p>
            <a:pPr lvl="1" algn="just"/>
            <a:r>
              <a:rPr lang="pt-BR" sz="2400" dirty="0"/>
              <a:t>	Frase: “Quem parte e reparte fica com a maior parte”</a:t>
            </a:r>
          </a:p>
          <a:p>
            <a:pPr lvl="1" algn="just"/>
            <a:r>
              <a:rPr lang="pt-BR" sz="2400" dirty="0"/>
              <a:t>	Palavra antiga: “parte”</a:t>
            </a:r>
          </a:p>
          <a:p>
            <a:pPr lvl="0" algn="just"/>
            <a:r>
              <a:rPr lang="pt-BR" sz="2400" dirty="0"/>
              <a:t>     	Palavra nova: “parcela”</a:t>
            </a:r>
          </a:p>
          <a:p>
            <a:pPr lvl="0" algn="just"/>
            <a:r>
              <a:rPr lang="pt-BR" sz="2400" dirty="0"/>
              <a:t>	Resultado a ser impresso no programa : “Quem parcela</a:t>
            </a:r>
          </a:p>
          <a:p>
            <a:pPr lvl="0" algn="just"/>
            <a:r>
              <a:rPr lang="pt-BR" sz="2400" dirty="0"/>
              <a:t>		e reparcela fica com a maior parcela”</a:t>
            </a:r>
          </a:p>
          <a:p>
            <a:pPr lvl="0" algn="just"/>
            <a:r>
              <a:rPr lang="pt-BR" sz="2400" dirty="0"/>
              <a:t>Dica: use </a:t>
            </a:r>
            <a:r>
              <a:rPr lang="pt-BR" sz="2400"/>
              <a:t>replace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9980866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Resultado de imagem para Obrigado">
            <a:extLst>
              <a:ext uri="{FF2B5EF4-FFF2-40B4-BE49-F238E27FC236}">
                <a16:creationId xmlns:a16="http://schemas.microsoft.com/office/drawing/2014/main" id="{B74634BC-9B07-4B94-9AF7-B4B4921DCF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6014" y="1691721"/>
            <a:ext cx="5827052" cy="3858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Espaço Reservado para Número de Slide 5">
            <a:extLst>
              <a:ext uri="{FF2B5EF4-FFF2-40B4-BE49-F238E27FC236}">
                <a16:creationId xmlns:a16="http://schemas.microsoft.com/office/drawing/2014/main" id="{91FBDE22-BD54-41F4-A84C-9525E6D978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2251" y="0"/>
            <a:ext cx="569749" cy="365125"/>
          </a:xfrm>
        </p:spPr>
        <p:txBody>
          <a:bodyPr/>
          <a:lstStyle/>
          <a:p>
            <a:pPr algn="r"/>
            <a:fld id="{4132491A-C8DB-4AC9-8AF1-41D5C714A7B5}" type="slidenum">
              <a:rPr lang="pt-BR" smtClean="0"/>
              <a:pPr algn="r"/>
              <a:t>37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2694635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5164</TotalTime>
  <Words>1576</Words>
  <Application>Microsoft Office PowerPoint</Application>
  <PresentationFormat>Widescreen</PresentationFormat>
  <Paragraphs>275</Paragraphs>
  <Slides>37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37</vt:i4>
      </vt:variant>
    </vt:vector>
  </HeadingPairs>
  <TitlesOfParts>
    <vt:vector size="45" baseType="lpstr">
      <vt:lpstr>Arial</vt:lpstr>
      <vt:lpstr>Calibri</vt:lpstr>
      <vt:lpstr>Calibri Light</vt:lpstr>
      <vt:lpstr>Consolas</vt:lpstr>
      <vt:lpstr>Courier New</vt:lpstr>
      <vt:lpstr>Google Sans</vt:lpstr>
      <vt:lpstr>Wingdings</vt:lpstr>
      <vt:lpstr>Tema do Office</vt:lpstr>
      <vt:lpstr>Variáveis, Expressões e Instruções (String)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da Disciplina</dc:title>
  <dc:creator>Vagner Da Silva Rodrigues</dc:creator>
  <cp:lastModifiedBy>Cristiane Pavei Fernandes</cp:lastModifiedBy>
  <cp:revision>214</cp:revision>
  <dcterms:created xsi:type="dcterms:W3CDTF">2019-07-27T22:06:45Z</dcterms:created>
  <dcterms:modified xsi:type="dcterms:W3CDTF">2024-03-13T21:49:49Z</dcterms:modified>
</cp:coreProperties>
</file>