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sldIdLst>
    <p:sldId id="314" r:id="rId2"/>
    <p:sldId id="365" r:id="rId3"/>
    <p:sldId id="424" r:id="rId4"/>
    <p:sldId id="334" r:id="rId5"/>
    <p:sldId id="419" r:id="rId6"/>
    <p:sldId id="335" r:id="rId7"/>
    <p:sldId id="337" r:id="rId8"/>
    <p:sldId id="338" r:id="rId9"/>
    <p:sldId id="339" r:id="rId10"/>
    <p:sldId id="340" r:id="rId11"/>
    <p:sldId id="341" r:id="rId12"/>
    <p:sldId id="345" r:id="rId13"/>
    <p:sldId id="346" r:id="rId14"/>
    <p:sldId id="342" r:id="rId15"/>
    <p:sldId id="343" r:id="rId16"/>
    <p:sldId id="344" r:id="rId17"/>
    <p:sldId id="347" r:id="rId18"/>
    <p:sldId id="348" r:id="rId19"/>
    <p:sldId id="349" r:id="rId20"/>
    <p:sldId id="350" r:id="rId21"/>
    <p:sldId id="351" r:id="rId22"/>
    <p:sldId id="421" r:id="rId23"/>
    <p:sldId id="428" r:id="rId24"/>
    <p:sldId id="420" r:id="rId25"/>
    <p:sldId id="425" r:id="rId26"/>
    <p:sldId id="422" r:id="rId27"/>
    <p:sldId id="429" r:id="rId28"/>
    <p:sldId id="426" r:id="rId29"/>
    <p:sldId id="427" r:id="rId30"/>
    <p:sldId id="423" r:id="rId31"/>
    <p:sldId id="289" r:id="rId3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503" autoAdjust="0"/>
  </p:normalViewPr>
  <p:slideViewPr>
    <p:cSldViewPr snapToGrid="0">
      <p:cViewPr varScale="1">
        <p:scale>
          <a:sx n="64" d="100"/>
          <a:sy n="64" d="100"/>
        </p:scale>
        <p:origin x="10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11C30-626E-4C5C-9878-709A1E8994D6}" type="datetimeFigureOut">
              <a:rPr lang="pt-BR" smtClean="0"/>
              <a:t>24/04/2024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39C0C7-1D2E-42D8-884C-02BEF678E9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5973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9C0C7-1D2E-42D8-884C-02BEF678E9F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7973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39C0C7-1D2E-42D8-884C-02BEF678E9F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4229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3250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4583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9633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0416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311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5420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81852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3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81771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5377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23146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7081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54534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81012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96099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40281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76414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15313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54352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9C0C7-1D2E-42D8-884C-02BEF678E9F0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8536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B5409A9E-3941-4E40-B88F-DD43A5F0148D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46AD8385-8CD2-4003-9CD4-D1585CAC37A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64323B1F-25F9-44C6-B29D-609A44EEB13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Espaço Reservado para Número de Slide 5">
            <a:extLst>
              <a:ext uri="{FF2B5EF4-FFF2-40B4-BE49-F238E27FC236}">
                <a16:creationId xmlns:a16="http://schemas.microsoft.com/office/drawing/2014/main" id="{FFB2BB53-CA80-4B3B-9DED-1CD33F5F3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0A55484-68C3-4AB3-8895-E103DE5734B3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A3E0EE07-BBF0-4775-91F9-569EEE9CBEE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C7CF7A86-734C-4476-90AC-D1977459F81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Imagem 4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066A9223-FB4F-4815-B641-3FECFE1D71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13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DA38215F-4D46-46F3-9595-2C5D10F9AF94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EAD401B0-27CD-4563-982B-1D24272D986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08BA0EDE-D02A-49E2-9EC9-0C5E537AA39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ECF9D6FD-661C-4C15-B70F-49122791E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0F733FA7-72CC-4177-A0C4-81C8ED3E2B0C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9F1BA48E-5484-4B3F-B298-F82BC73D773F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F87CF3AF-6649-40A9-9EFE-D08C25AD72B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D4B46475-BD9D-45D1-8B4B-BFD01FEC52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034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3296962-F7FE-4B71-B4F5-E182C438161F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07B45530-6EB5-4562-BD05-63F985B0873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E8C8BA90-4F4B-4B0A-ACF9-78254036111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0F79E05E-7BD9-4B27-99B4-31FC40C1D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406B26C5-A7F3-40EA-81D0-5FF10BEB50BF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3E916F81-8148-41DF-B575-EA269B3F06F2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59C9F423-E5AD-4D0C-8249-DFCDCCBEF1B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2ECF4FEB-A0E8-4F32-9DDD-92F5CE6C66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07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0B46B84-07BB-432B-B467-EA5E826F9859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DE71647A-04E6-47BD-A53B-F9850E4751E2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1DC843C7-2E37-4031-9804-6B5803FADA6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E3DCB8CC-F0C2-4710-AA29-D75F92613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4C767C1-4281-457D-B858-2A96F9F0C50E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2F7D956E-52DE-4671-BDFE-3480F014537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7E237CC9-0D83-47B9-94EC-ADCAF5BAE7E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55BC1C63-B62C-4D72-986B-A8553733F3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212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365126"/>
            <a:ext cx="10515600" cy="587828"/>
          </a:xfrm>
        </p:spPr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F1E81C7F-CE86-41CE-8CB4-36F7FB18E5C5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E54B37D9-A246-4215-8B5B-CADF0E8B0CF8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B63EA0EB-083D-43AF-8763-2A4AD6800F2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Número de Slide 5">
            <a:extLst>
              <a:ext uri="{FF2B5EF4-FFF2-40B4-BE49-F238E27FC236}">
                <a16:creationId xmlns:a16="http://schemas.microsoft.com/office/drawing/2014/main" id="{78B440E4-B93E-4124-9162-D18F2D5FC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0F7EA419-53BB-4085-8069-69D9A98EA3B2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2" name="Conector reto 31">
              <a:extLst>
                <a:ext uri="{FF2B5EF4-FFF2-40B4-BE49-F238E27FC236}">
                  <a16:creationId xmlns:a16="http://schemas.microsoft.com/office/drawing/2014/main" id="{E5979A07-C966-48C6-B8EE-EEC198DCC42B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to 32">
              <a:extLst>
                <a:ext uri="{FF2B5EF4-FFF2-40B4-BE49-F238E27FC236}">
                  <a16:creationId xmlns:a16="http://schemas.microsoft.com/office/drawing/2014/main" id="{4201B899-CDBD-46BF-BFDA-1985B633A5B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Imagem 14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7FBFF99F-9C33-4E25-A1D1-09EE731A15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733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3413726B-29ED-4CCE-8E7F-B20E055900FF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D70C039E-8FB4-4B0B-857D-ADC78AC126D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1798E300-A761-4340-BB54-5D9FCBE86E6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Espaço Reservado para Número de Slide 5">
            <a:extLst>
              <a:ext uri="{FF2B5EF4-FFF2-40B4-BE49-F238E27FC236}">
                <a16:creationId xmlns:a16="http://schemas.microsoft.com/office/drawing/2014/main" id="{6907561A-CC1F-43BC-BAB2-D921B1545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39BC0B5B-180D-4566-BC71-BEF4FE060F9D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id="{BE409561-B6D0-424D-8FB9-D881B5B9C904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8C8CD70F-2F0C-42E6-BAD6-78DC7512509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860E0FC7-913A-49F3-9150-56A5CE5666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46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6BC66E6E-6288-477E-9B48-BB1F09936C59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4FCB9A90-A49A-40F3-84D1-965C0E566298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4A9AAC23-66EB-43EA-A9B8-3746F2FB651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Espaço Reservado para Número de Slide 5">
            <a:extLst>
              <a:ext uri="{FF2B5EF4-FFF2-40B4-BE49-F238E27FC236}">
                <a16:creationId xmlns:a16="http://schemas.microsoft.com/office/drawing/2014/main" id="{CD7F9A15-3E74-45DD-89B3-17B50D9C3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D981D004-AFF4-44D5-B08E-7187786B8398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7" name="Conector reto 26">
              <a:extLst>
                <a:ext uri="{FF2B5EF4-FFF2-40B4-BE49-F238E27FC236}">
                  <a16:creationId xmlns:a16="http://schemas.microsoft.com/office/drawing/2014/main" id="{8651FFB3-0508-414F-8EB8-11ED66AFCBDA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id="{10C5DDB5-6BBD-4D49-B6DD-560E8070366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Imagem 9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3E412A2F-D452-4303-A8FE-A320209C5F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863B7304-D3E3-44B8-B186-01FDAC692F76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27327B8C-FB09-41D0-ACE5-68131E743196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1006F54D-9B89-44F7-BAFF-8E809F630F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A4BA843D-E6F2-4A11-BD02-76AAF8824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8FDB391C-BB53-4AC7-8005-EDF934826CC4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B2E00096-242A-4EA5-BD0F-2C5AD5C89743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48DEEC1B-AEF7-4C5D-B9E2-0FF689302D6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1C91CB67-8175-4CFB-9DD2-BBF4165110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111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B2AC046-02A9-43DC-993D-0509150F3610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9C982EB7-4ECE-40FF-8E3C-A6911C9CAD06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B14F083C-B1E6-4AD5-892E-2B0BCB0A33E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F4171601-B1A2-4724-882B-0FD9FC055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E00638C-D7F8-4591-99DE-B8D04F3A8066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3145D146-7234-4FA1-8EBA-622EE1340297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4E3683D6-BC3E-44B2-ABC8-86AEA164C58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F3909B64-FDA9-463F-9DDC-E160E58D46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609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3610B525-5A9A-47AC-8BE0-7FA389539D91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84DDE5BF-9C81-4C7E-906A-1A3462FE0BA9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A573DE45-5C64-44AD-9130-B22A9F7E6A8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ED0E32D1-CD33-45E1-A41D-0ECCF14B3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ED6D8575-EC83-4B80-B5A7-25F22D5B1AB2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8461D1B9-55AC-48EB-A791-0D8CEE6AEE3D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5119D623-1617-400D-9EA3-870B7D910F7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Imagem 11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82AC2369-94F0-4F65-A3AC-08763C67BC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5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Título Vertical 1">
            <a:extLst>
              <a:ext uri="{FF2B5EF4-FFF2-40B4-BE49-F238E27FC236}">
                <a16:creationId xmlns:a16="http://schemas.microsoft.com/office/drawing/2014/main" id="{435488B4-07BE-45F8-A08D-6998844833B4}"/>
              </a:ext>
            </a:extLst>
          </p:cNvPr>
          <p:cNvSpPr txBox="1">
            <a:spLocks/>
          </p:cNvSpPr>
          <p:nvPr userDrawn="1"/>
        </p:nvSpPr>
        <p:spPr>
          <a:xfrm>
            <a:off x="5943600" y="909637"/>
            <a:ext cx="2628900" cy="5811838"/>
          </a:xfrm>
          <a:prstGeom prst="rect">
            <a:avLst/>
          </a:prstGeom>
        </p:spPr>
        <p:txBody>
          <a:bodyPr vert="eaVert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36DD95DD-5473-47DF-896B-102132AA6C25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F0B38431-0FE0-4BB2-B82C-C9C68FB3247A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BA8D6F62-C6FF-45CB-A864-91BE010C954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Espaço Reservado para Número de Slide 5">
            <a:extLst>
              <a:ext uri="{FF2B5EF4-FFF2-40B4-BE49-F238E27FC236}">
                <a16:creationId xmlns:a16="http://schemas.microsoft.com/office/drawing/2014/main" id="{C1894782-5F5B-4537-87DE-1E65CEBC5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DBD8E15B-0CBB-4249-986D-3B87F76795EA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6D7DE2CC-E16A-434E-B039-F4F0293F4353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408E9506-BDE6-4902-B945-89533560252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Imagem 12" descr="Desenho de bandeira&#10;&#10;Descrição gerada automaticamente com confiança média">
            <a:extLst>
              <a:ext uri="{FF2B5EF4-FFF2-40B4-BE49-F238E27FC236}">
                <a16:creationId xmlns:a16="http://schemas.microsoft.com/office/drawing/2014/main" id="{2C724FA7-60F7-4824-813F-66D6438E67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986836" cy="6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740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2275066" y="365125"/>
            <a:ext cx="9285218" cy="6015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8861" y="1065888"/>
            <a:ext cx="11478684" cy="5512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667611C3-7981-41FD-9AB4-3BA9591ABAD7}"/>
              </a:ext>
            </a:extLst>
          </p:cNvPr>
          <p:cNvGrpSpPr/>
          <p:nvPr userDrawn="1"/>
        </p:nvGrpSpPr>
        <p:grpSpPr>
          <a:xfrm>
            <a:off x="1989936" y="254227"/>
            <a:ext cx="9855479" cy="587828"/>
            <a:chOff x="2057576" y="250756"/>
            <a:chExt cx="9855479" cy="587828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1648A425-969A-4602-8324-6D36E5A7CACC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to 25">
              <a:extLst>
                <a:ext uri="{FF2B5EF4-FFF2-40B4-BE49-F238E27FC236}">
                  <a16:creationId xmlns:a16="http://schemas.microsoft.com/office/drawing/2014/main" id="{6504C654-8D56-4391-A532-1862C20C9F2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Imagem 26" descr="Desenho com traços pretos em fundo branco e letras pretas&#10;&#10;Descrição gerada automaticamente com confiança média">
            <a:extLst>
              <a:ext uri="{FF2B5EF4-FFF2-40B4-BE49-F238E27FC236}">
                <a16:creationId xmlns:a16="http://schemas.microsoft.com/office/drawing/2014/main" id="{906352E9-AC76-4B0E-A1D3-81199EDB1CA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04704" cy="842055"/>
          </a:xfrm>
          <a:prstGeom prst="rect">
            <a:avLst/>
          </a:prstGeom>
        </p:spPr>
      </p:pic>
      <p:sp>
        <p:nvSpPr>
          <p:cNvPr id="28" name="Espaço Reservado para Número de Slide 5">
            <a:extLst>
              <a:ext uri="{FF2B5EF4-FFF2-40B4-BE49-F238E27FC236}">
                <a16:creationId xmlns:a16="http://schemas.microsoft.com/office/drawing/2014/main" id="{7238D1BF-9E73-4848-935C-825FB8F12B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2251" y="0"/>
            <a:ext cx="569749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pPr algn="r"/>
            <a:fld id="{4132491A-C8DB-4AC9-8AF1-41D5C714A7B5}" type="slidenum">
              <a:rPr lang="pt-BR" smtClean="0"/>
              <a:pPr algn="r"/>
              <a:t>‹nº›</a:t>
            </a:fld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9DC435A9-3247-4320-8DDB-1AE628E9B7DE}"/>
              </a:ext>
            </a:extLst>
          </p:cNvPr>
          <p:cNvGrpSpPr/>
          <p:nvPr userDrawn="1"/>
        </p:nvGrpSpPr>
        <p:grpSpPr>
          <a:xfrm rot="10800000">
            <a:off x="330995" y="6002954"/>
            <a:ext cx="9855479" cy="587828"/>
            <a:chOff x="2057576" y="250756"/>
            <a:chExt cx="9855479" cy="587828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BE88F8B2-B90D-40D9-B386-6FFAFAF36935}"/>
                </a:ext>
              </a:extLst>
            </p:cNvPr>
            <p:cNvCxnSpPr/>
            <p:nvPr userDrawn="1"/>
          </p:nvCxnSpPr>
          <p:spPr>
            <a:xfrm>
              <a:off x="11895188" y="250756"/>
              <a:ext cx="0" cy="587828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79769E09-F4F0-4CC2-AFC1-66B37F3B72D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2057576" y="263490"/>
              <a:ext cx="9855479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1345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B906F05A-FF54-4CB9-9DF3-C368ECDCC2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b="1" dirty="0">
                <a:cs typeface="Times New Roman" panose="02020603050405020304" pitchFamily="18" charset="0"/>
              </a:rPr>
              <a:t>Listas em Python</a:t>
            </a:r>
            <a:br>
              <a:rPr lang="pt-BR" b="1" dirty="0"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5" name="Subtítulo 7">
            <a:extLst>
              <a:ext uri="{FF2B5EF4-FFF2-40B4-BE49-F238E27FC236}">
                <a16:creationId xmlns:a16="http://schemas.microsoft.com/office/drawing/2014/main" id="{07A89683-1D21-81D4-5304-BD02741D6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907250"/>
          </a:xfrm>
        </p:spPr>
        <p:txBody>
          <a:bodyPr>
            <a:normAutofit fontScale="70000" lnSpcReduction="20000"/>
          </a:bodyPr>
          <a:lstStyle/>
          <a:p>
            <a:r>
              <a:rPr lang="pt-BR" altLang="pt-BR" sz="2800" b="1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Disciplina: Programação para Engenharia</a:t>
            </a:r>
          </a:p>
          <a:p>
            <a:endParaRPr lang="pt-BR" altLang="pt-BR" b="1" i="1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Professores:	Cristiane </a:t>
            </a:r>
            <a:r>
              <a:rPr lang="pt-BR" altLang="pt-BR" dirty="0" err="1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Pavei</a:t>
            </a:r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pt-BR" altLang="pt-BR" dirty="0" err="1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Martinello</a:t>
            </a:r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 Fernandes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Douglas de Medeiros Deolindo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Giovani Martins Cascaes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Joel Barbosa </a:t>
            </a:r>
            <a:r>
              <a:rPr lang="pt-BR" altLang="pt-BR" dirty="0" err="1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Panchyniak</a:t>
            </a:r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Marcelo Marcos Amoroso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Marcos Antônio Jeremias Coelho</a:t>
            </a:r>
          </a:p>
          <a:p>
            <a:pPr algn="l"/>
            <a:r>
              <a:rPr lang="pt-BR" altLang="pt-BR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				Ramon de Souza Coan</a:t>
            </a:r>
          </a:p>
        </p:txBody>
      </p:sp>
    </p:spTree>
    <p:extLst>
      <p:ext uri="{BB962C8B-B14F-4D97-AF65-F5344CB8AC3E}">
        <p14:creationId xmlns:p14="http://schemas.microsoft.com/office/powerpoint/2010/main" val="3413159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E0F18AD-AB9F-4427-983D-D5356293741F}"/>
              </a:ext>
            </a:extLst>
          </p:cNvPr>
          <p:cNvSpPr txBox="1"/>
          <p:nvPr/>
        </p:nvSpPr>
        <p:spPr>
          <a:xfrm>
            <a:off x="657496" y="488236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Estruturas de dados </a:t>
            </a:r>
          </a:p>
        </p:txBody>
      </p:sp>
      <p:pic>
        <p:nvPicPr>
          <p:cNvPr id="5" name="Picture 4" descr="A diagram of a diagram of a company&#10;&#10;Description automatically generated with medium confidence">
            <a:extLst>
              <a:ext uri="{FF2B5EF4-FFF2-40B4-BE49-F238E27FC236}">
                <a16:creationId xmlns:a16="http://schemas.microsoft.com/office/drawing/2014/main" id="{B8A3CA21-B7EB-2268-1331-73F509293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880" y="1300894"/>
            <a:ext cx="6974238" cy="523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078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E0F18AD-AB9F-4427-983D-D5356293741F}"/>
              </a:ext>
            </a:extLst>
          </p:cNvPr>
          <p:cNvSpPr txBox="1"/>
          <p:nvPr/>
        </p:nvSpPr>
        <p:spPr>
          <a:xfrm>
            <a:off x="657496" y="488236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Variáveis de estrutura de dados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D872585-2DA2-4D56-9B07-E82FDFEAE8E5}"/>
              </a:ext>
            </a:extLst>
          </p:cNvPr>
          <p:cNvSpPr txBox="1"/>
          <p:nvPr/>
        </p:nvSpPr>
        <p:spPr>
          <a:xfrm>
            <a:off x="752498" y="1451317"/>
            <a:ext cx="10687003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/>
              <a:t>Em Python é possível compor estruturas de dados primitivas, e armazená-las em outras estruturas, chamadas de estruturas compostas.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3200" dirty="0"/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pt-BR" sz="2800" b="1" dirty="0"/>
              <a:t>Listas</a:t>
            </a:r>
            <a:r>
              <a:rPr lang="pt-BR" sz="2800" dirty="0"/>
              <a:t> </a:t>
            </a: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2">
                    <a:lumMod val="75000"/>
                  </a:schemeClr>
                </a:solidFill>
              </a:rPr>
              <a:t>Tuplas </a:t>
            </a: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endParaRPr lang="pt-BR" sz="2800" dirty="0">
              <a:solidFill>
                <a:schemeClr val="bg2">
                  <a:lumMod val="75000"/>
                </a:schemeClr>
              </a:solidFill>
            </a:endParaRP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2">
                    <a:lumMod val="75000"/>
                  </a:schemeClr>
                </a:solidFill>
              </a:rPr>
              <a:t>Dicionários </a:t>
            </a:r>
          </a:p>
        </p:txBody>
      </p:sp>
    </p:spTree>
    <p:extLst>
      <p:ext uri="{BB962C8B-B14F-4D97-AF65-F5344CB8AC3E}">
        <p14:creationId xmlns:p14="http://schemas.microsoft.com/office/powerpoint/2010/main" val="3130720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Listas em Python 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752498" y="1421268"/>
            <a:ext cx="1068700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Lista são </a:t>
            </a:r>
            <a:r>
              <a:rPr lang="pt-BR" sz="2800" b="1" dirty="0"/>
              <a:t>cadeias de valores</a:t>
            </a:r>
            <a:r>
              <a:rPr lang="pt-BR" sz="2800" dirty="0"/>
              <a:t>, isto é, armazenam mais de um valor. São estruturas </a:t>
            </a:r>
            <a:r>
              <a:rPr lang="pt-BR" sz="2800" dirty="0">
                <a:solidFill>
                  <a:srgbClr val="FF0000"/>
                </a:solidFill>
              </a:rPr>
              <a:t>ordenadas</a:t>
            </a:r>
            <a:r>
              <a:rPr lang="pt-BR" sz="2800" dirty="0"/>
              <a:t>, </a:t>
            </a:r>
            <a:r>
              <a:rPr lang="pt-BR" sz="2800" dirty="0">
                <a:solidFill>
                  <a:srgbClr val="FF0000"/>
                </a:solidFill>
              </a:rPr>
              <a:t>mutáveis</a:t>
            </a:r>
            <a:r>
              <a:rPr lang="pt-BR" sz="2800" dirty="0"/>
              <a:t> e </a:t>
            </a:r>
            <a:r>
              <a:rPr lang="pt-BR" sz="2800" dirty="0">
                <a:solidFill>
                  <a:srgbClr val="FF0000"/>
                </a:solidFill>
              </a:rPr>
              <a:t>heterogêneas</a:t>
            </a:r>
            <a:r>
              <a:rPr lang="pt-BR" sz="2800" dirty="0"/>
              <a:t>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FF0000"/>
                </a:solidFill>
              </a:rPr>
              <a:t>Ordenadas: </a:t>
            </a:r>
            <a:r>
              <a:rPr lang="pt-BR" sz="2400" dirty="0"/>
              <a:t>cada valor tem seu índice, na ordem que estão armazenados.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FF0000"/>
                </a:solidFill>
              </a:rPr>
              <a:t>Mutáveis: </a:t>
            </a:r>
            <a:r>
              <a:rPr lang="pt-BR" sz="2400" dirty="0"/>
              <a:t> é possível alterar os valores.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FF0000"/>
                </a:solidFill>
              </a:rPr>
              <a:t>Heterogêneas </a:t>
            </a:r>
            <a:r>
              <a:rPr lang="pt-BR" sz="2400" dirty="0"/>
              <a:t>: valores podem ser de tipos diferentes</a:t>
            </a:r>
            <a:r>
              <a:rPr lang="pt-BR" sz="2800" dirty="0"/>
              <a:t>.</a:t>
            </a:r>
          </a:p>
          <a:p>
            <a:pPr lvl="1" algn="just"/>
            <a:endParaRPr lang="pt-BR" sz="2400" dirty="0"/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pt-BR" sz="2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27DBAE0-2E5A-4F03-B03D-7023D8D99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2769" y="3753680"/>
            <a:ext cx="2407407" cy="223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19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5">
            <a:extLst>
              <a:ext uri="{FF2B5EF4-FFF2-40B4-BE49-F238E27FC236}">
                <a16:creationId xmlns:a16="http://schemas.microsoft.com/office/drawing/2014/main" id="{5E5A3A0C-CBDC-EA2A-ECF7-E1ABF637E2EE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 que é uma lista?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411FB1F-AC42-46C5-9F08-5EFE9FC3538A}"/>
              </a:ext>
            </a:extLst>
          </p:cNvPr>
          <p:cNvSpPr txBox="1"/>
          <p:nvPr/>
        </p:nvSpPr>
        <p:spPr>
          <a:xfrm>
            <a:off x="284944" y="1626715"/>
            <a:ext cx="1153919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Uma lista é um tipo de dados específico utilizado em Python que permite que vários tipos de informações sejam gravados nela.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Estas informações podem ser inteiras, pontos flutuantes ou </a:t>
            </a:r>
            <a:r>
              <a:rPr lang="pt-BR" sz="2400" dirty="0" err="1"/>
              <a:t>strings</a:t>
            </a:r>
            <a:r>
              <a:rPr lang="pt-BR" sz="2400" dirty="0"/>
              <a:t>, isto vai depender do que será utilizado.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Para criar uma lista, basta apenas utilizar uma variável, inserir os valores entre os “[]”, separando-os por vírgula, como no exemplo a seguir:</a:t>
            </a:r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	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66C2B5C-CA20-4992-9CE1-67A090614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519" y="4972584"/>
            <a:ext cx="6508044" cy="98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530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657496" y="368253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Inicialização de uma lista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800100" y="1494840"/>
            <a:ext cx="1068700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Inicialização de uma lista com valores</a:t>
            </a:r>
          </a:p>
          <a:p>
            <a:pPr algn="just"/>
            <a:r>
              <a:rPr lang="pt-BR" sz="2800" dirty="0"/>
              <a:t>	</a:t>
            </a:r>
          </a:p>
          <a:p>
            <a:pPr algn="just"/>
            <a:r>
              <a:rPr lang="pt-BR" sz="2800" dirty="0"/>
              <a:t>	</a:t>
            </a:r>
            <a:r>
              <a:rPr lang="pt-BR" sz="2800" dirty="0" err="1"/>
              <a:t>Nome_Lista</a:t>
            </a:r>
            <a:r>
              <a:rPr lang="pt-BR" sz="2800" dirty="0"/>
              <a:t> = [ valor1, valor2, ..., </a:t>
            </a:r>
            <a:r>
              <a:rPr lang="pt-BR" sz="2800" dirty="0" err="1"/>
              <a:t>valorN</a:t>
            </a:r>
            <a:r>
              <a:rPr lang="pt-BR" sz="2800" dirty="0"/>
              <a:t>]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/>
            <a:r>
              <a:rPr lang="pt-BR" sz="2800" dirty="0"/>
              <a:t>Inicialização de uma lista vazia 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A622859D-9147-499F-9AA1-D0FB178B6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978" y="3107046"/>
            <a:ext cx="4102043" cy="10452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68ACE6E-059B-4424-AC25-119D7B564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5657" y="5489735"/>
            <a:ext cx="3714477" cy="904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054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Acessando elementos de uma lista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800100" y="1494840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O acesso aos elementos da lista é feito por meio de um índice, cuja  numeração </a:t>
            </a:r>
            <a:r>
              <a:rPr lang="pt-BR" sz="2800" dirty="0">
                <a:solidFill>
                  <a:srgbClr val="FF0000"/>
                </a:solidFill>
              </a:rPr>
              <a:t>começa em zero.</a:t>
            </a:r>
            <a:r>
              <a:rPr lang="pt-BR" sz="2800" dirty="0"/>
              <a:t>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43F7CCE-4728-458E-ABDC-CF2D4874E2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80"/>
          <a:stretch/>
        </p:blipFill>
        <p:spPr>
          <a:xfrm>
            <a:off x="3066706" y="2700119"/>
            <a:ext cx="6058587" cy="304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803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705098" y="43991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Acessando elementos de uma lista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800100" y="1494840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Um item pode ser selecionado individualmente pelo uso dos colchetes, Lista[índice]</a:t>
            </a:r>
            <a:endParaRPr lang="pt-BR" sz="2800" dirty="0">
              <a:solidFill>
                <a:srgbClr val="FF0000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548BCCE-3D3A-4078-8252-E58E57D45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593" y="2777063"/>
            <a:ext cx="8514814" cy="321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972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705098" y="518124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Acessando elementos de uma lista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481740" y="1920373"/>
            <a:ext cx="106870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Acessar com índices negativos, </a:t>
            </a:r>
            <a:r>
              <a:rPr lang="pt-BR" sz="2400" b="1" dirty="0"/>
              <a:t>a partir do -1</a:t>
            </a:r>
            <a:r>
              <a:rPr lang="pt-BR" sz="2400" dirty="0"/>
              <a:t>, percorrem a lista de trás para frente.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9ABDB89-F054-499F-9A7B-852D212F9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685" y="2941121"/>
            <a:ext cx="9158061" cy="2514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387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Modificando elementos de uma lista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800100" y="1494840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Como a lista é </a:t>
            </a:r>
            <a:r>
              <a:rPr lang="pt-BR" sz="2800" b="1" dirty="0"/>
              <a:t>mutável</a:t>
            </a:r>
            <a:r>
              <a:rPr lang="pt-BR" sz="2800" dirty="0"/>
              <a:t>, os valores nela armazenados podem ser alterados e novos valores podem ser adicionados.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E657803-E447-498F-B9A0-0437171524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8"/>
          <a:stretch/>
        </p:blipFill>
        <p:spPr>
          <a:xfrm>
            <a:off x="1237448" y="2977734"/>
            <a:ext cx="10508535" cy="286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41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Operações em listas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800100" y="1494840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 err="1"/>
              <a:t>append</a:t>
            </a:r>
            <a:r>
              <a:rPr lang="pt-BR" sz="2800" b="1" dirty="0"/>
              <a:t>()</a:t>
            </a:r>
            <a:r>
              <a:rPr lang="pt-BR" sz="2800" dirty="0"/>
              <a:t>  - Adiciona elementos na lista (final) 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8C867471-78E5-41EC-9E3B-4B73131D9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652" y="2018059"/>
            <a:ext cx="6256695" cy="1323531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5C1C7993-8771-4D77-B070-87F5CFDF8C95}"/>
              </a:ext>
            </a:extLst>
          </p:cNvPr>
          <p:cNvSpPr txBox="1"/>
          <p:nvPr/>
        </p:nvSpPr>
        <p:spPr>
          <a:xfrm>
            <a:off x="800100" y="3428790"/>
            <a:ext cx="85608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‘</a:t>
            </a:r>
            <a:r>
              <a:rPr lang="pt-BR" sz="2800" b="1" dirty="0"/>
              <a:t>+</a:t>
            </a:r>
            <a:r>
              <a:rPr lang="pt-BR" sz="2800" dirty="0"/>
              <a:t>’ – Concatena Listas</a:t>
            </a: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F22595EF-C27F-4746-A394-4FC85D2D19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652" y="4007978"/>
            <a:ext cx="5251715" cy="1100220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C055D112-5FAF-4E59-9229-8BA1423E8C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7652" y="5362741"/>
            <a:ext cx="6761480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753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Operações em listas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800100" y="1494840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 err="1"/>
              <a:t>insert</a:t>
            </a:r>
            <a:r>
              <a:rPr lang="pt-BR" sz="2800" b="1" dirty="0"/>
              <a:t>()</a:t>
            </a:r>
            <a:r>
              <a:rPr lang="pt-BR" sz="2800" dirty="0"/>
              <a:t> - Insere na </a:t>
            </a:r>
            <a:r>
              <a:rPr lang="pt-BR" sz="2800" b="1" dirty="0"/>
              <a:t>posição</a:t>
            </a:r>
            <a:r>
              <a:rPr lang="pt-BR" sz="2800" dirty="0"/>
              <a:t> especificada um elemento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C1C7993-8771-4D77-B070-87F5CFDF8C95}"/>
              </a:ext>
            </a:extLst>
          </p:cNvPr>
          <p:cNvSpPr txBox="1"/>
          <p:nvPr/>
        </p:nvSpPr>
        <p:spPr>
          <a:xfrm>
            <a:off x="800100" y="3876238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/>
              <a:t>pop()</a:t>
            </a:r>
            <a:r>
              <a:rPr lang="pt-BR" sz="2800" dirty="0"/>
              <a:t> - Remove o elemento da </a:t>
            </a:r>
            <a:r>
              <a:rPr lang="pt-BR" sz="2800" b="1" dirty="0"/>
              <a:t>posição</a:t>
            </a:r>
            <a:r>
              <a:rPr lang="pt-BR" sz="2800" dirty="0"/>
              <a:t> especificada</a:t>
            </a:r>
            <a:endParaRPr lang="pt-BR" sz="2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F9E4AC6-D245-43E9-9F6E-4325ACD20E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479"/>
          <a:stretch/>
        </p:blipFill>
        <p:spPr>
          <a:xfrm>
            <a:off x="3986902" y="2176609"/>
            <a:ext cx="4435984" cy="148099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5EC1B33-1D09-4C06-8CFD-8DAB34357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6902" y="4686768"/>
            <a:ext cx="5258846" cy="168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35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Operações em listas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800100" y="1494840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/>
              <a:t>remove()</a:t>
            </a:r>
            <a:r>
              <a:rPr lang="pt-BR" sz="2800" dirty="0"/>
              <a:t> - Remove o </a:t>
            </a:r>
            <a:r>
              <a:rPr lang="pt-BR" sz="2800" b="1" dirty="0"/>
              <a:t>elemento</a:t>
            </a:r>
            <a:r>
              <a:rPr lang="pt-BR" sz="2800" dirty="0"/>
              <a:t> especificado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3EFD32B-0F17-4CB4-8B77-FB8637F68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378" y="2346176"/>
            <a:ext cx="5992603" cy="167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623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Operações em listas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800100" y="1494840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‘</a:t>
            </a:r>
            <a:r>
              <a:rPr lang="pt-BR" sz="2800" b="1" dirty="0"/>
              <a:t>*</a:t>
            </a:r>
            <a:r>
              <a:rPr lang="pt-BR" sz="2800" dirty="0"/>
              <a:t>’  - Multiplica a concatenação da lista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C1C7993-8771-4D77-B070-87F5CFDF8C95}"/>
              </a:ext>
            </a:extLst>
          </p:cNvPr>
          <p:cNvSpPr txBox="1"/>
          <p:nvPr/>
        </p:nvSpPr>
        <p:spPr>
          <a:xfrm>
            <a:off x="800100" y="3876238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 err="1"/>
              <a:t>clear</a:t>
            </a:r>
            <a:r>
              <a:rPr lang="pt-BR" sz="2800" b="1" dirty="0"/>
              <a:t>()</a:t>
            </a:r>
            <a:r>
              <a:rPr lang="pt-BR" sz="2800" dirty="0"/>
              <a:t> – Esvazia a lista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F0729E9-6321-4C05-83DF-F437907B8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535" y="2317016"/>
            <a:ext cx="8931900" cy="93394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582EC02-C28F-4E6E-8694-2A57C7E106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7535" y="4916741"/>
            <a:ext cx="5846300" cy="134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627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Operações em listas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704897" y="2093511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800100" y="1494840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 err="1"/>
              <a:t>count</a:t>
            </a:r>
            <a:r>
              <a:rPr lang="pt-BR" sz="2800" b="1" dirty="0"/>
              <a:t>()</a:t>
            </a:r>
            <a:r>
              <a:rPr lang="pt-BR" sz="2800" dirty="0"/>
              <a:t> - Retorna </a:t>
            </a:r>
            <a:r>
              <a:rPr lang="pt-BR" sz="2800" b="1" dirty="0"/>
              <a:t>quantidade </a:t>
            </a:r>
            <a:r>
              <a:rPr lang="pt-BR" sz="2800" dirty="0"/>
              <a:t> ocorrências do argumento passado</a:t>
            </a:r>
            <a:endParaRPr lang="pt-BR" sz="26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C1C7993-8771-4D77-B070-87F5CFDF8C95}"/>
              </a:ext>
            </a:extLst>
          </p:cNvPr>
          <p:cNvSpPr txBox="1"/>
          <p:nvPr/>
        </p:nvSpPr>
        <p:spPr>
          <a:xfrm>
            <a:off x="800100" y="3876238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/>
              <a:t>index()</a:t>
            </a:r>
            <a:r>
              <a:rPr lang="pt-BR" sz="2800" dirty="0"/>
              <a:t> – Retorna o </a:t>
            </a:r>
            <a:r>
              <a:rPr lang="pt-BR" sz="2800" b="1" dirty="0"/>
              <a:t>índice</a:t>
            </a:r>
            <a:r>
              <a:rPr lang="pt-BR" sz="2800" dirty="0"/>
              <a:t> da primeira ocorrência do argumento passado</a:t>
            </a:r>
            <a:endParaRPr lang="pt-BR" sz="26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34B72CC9-378F-4F53-A25F-BC55068C9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147" y="2387967"/>
            <a:ext cx="7119703" cy="955082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AB999BBD-AE3C-4CDB-A6E7-C3721EFF65D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302"/>
          <a:stretch/>
        </p:blipFill>
        <p:spPr>
          <a:xfrm>
            <a:off x="2536147" y="4943948"/>
            <a:ext cx="6617281" cy="88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136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Operações em listas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800100" y="1251450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/>
              <a:t>reverse()</a:t>
            </a:r>
            <a:r>
              <a:rPr lang="pt-BR" sz="2800" dirty="0"/>
              <a:t> -  Inverte a </a:t>
            </a:r>
            <a:r>
              <a:rPr lang="pt-BR" sz="2800" b="1" dirty="0"/>
              <a:t>ordem</a:t>
            </a:r>
            <a:r>
              <a:rPr lang="pt-BR" sz="2800" dirty="0"/>
              <a:t> dos elementos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C1C7993-8771-4D77-B070-87F5CFDF8C95}"/>
              </a:ext>
            </a:extLst>
          </p:cNvPr>
          <p:cNvSpPr txBox="1"/>
          <p:nvPr/>
        </p:nvSpPr>
        <p:spPr>
          <a:xfrm>
            <a:off x="800100" y="3786907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 err="1"/>
              <a:t>sort</a:t>
            </a:r>
            <a:r>
              <a:rPr lang="pt-BR" sz="2800" b="1" dirty="0"/>
              <a:t>(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reverse=</a:t>
            </a:r>
            <a:r>
              <a:rPr lang="pt-BR" sz="2800" dirty="0" err="1">
                <a:solidFill>
                  <a:schemeClr val="accent2"/>
                </a:solidFill>
              </a:rPr>
              <a:t>True</a:t>
            </a:r>
            <a:r>
              <a:rPr lang="pt-BR" sz="2800" dirty="0">
                <a:solidFill>
                  <a:schemeClr val="accent2"/>
                </a:solidFill>
              </a:rPr>
              <a:t>/False</a:t>
            </a:r>
            <a:r>
              <a:rPr lang="pt-BR" sz="2800" b="1" dirty="0"/>
              <a:t>)</a:t>
            </a:r>
            <a:r>
              <a:rPr lang="pt-BR" sz="2800" dirty="0"/>
              <a:t> </a:t>
            </a:r>
            <a:r>
              <a:rPr lang="pt-BR" sz="2400" dirty="0"/>
              <a:t>– Ordena a lista em ordem crescente ou decrescente.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A4DE374-DDAF-4D1F-AE4B-F30B9234B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7801" y="1830140"/>
            <a:ext cx="4731600" cy="1374994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A67319BB-6DFD-4ECB-B000-82DC0C53F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659" y="4830345"/>
            <a:ext cx="4828200" cy="1379485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E07D3C22-8E84-4A25-9025-7B55667574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4142" y="4830345"/>
            <a:ext cx="5092961" cy="133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11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Operações em listas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800100" y="1494840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 err="1"/>
              <a:t>len</a:t>
            </a:r>
            <a:r>
              <a:rPr lang="pt-BR" sz="2800" b="1" dirty="0"/>
              <a:t>()</a:t>
            </a:r>
            <a:r>
              <a:rPr lang="pt-BR" sz="2800" dirty="0"/>
              <a:t> -  retorna o tamanho da lista.</a:t>
            </a:r>
            <a:endParaRPr lang="pt-BR" sz="26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C1C7993-8771-4D77-B070-87F5CFDF8C95}"/>
              </a:ext>
            </a:extLst>
          </p:cNvPr>
          <p:cNvSpPr txBox="1"/>
          <p:nvPr/>
        </p:nvSpPr>
        <p:spPr>
          <a:xfrm>
            <a:off x="800099" y="3867729"/>
            <a:ext cx="1068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/>
              <a:t>min()</a:t>
            </a:r>
            <a:r>
              <a:rPr lang="pt-BR" sz="2800" dirty="0"/>
              <a:t>, </a:t>
            </a:r>
            <a:r>
              <a:rPr lang="pt-BR" sz="2800" b="1" dirty="0" err="1"/>
              <a:t>max</a:t>
            </a:r>
            <a:r>
              <a:rPr lang="pt-BR" sz="2800" b="1" dirty="0"/>
              <a:t>() e sum()</a:t>
            </a:r>
            <a:r>
              <a:rPr lang="pt-BR" sz="2800" dirty="0"/>
              <a:t> - retorna o menor/maior/somatório da lista. </a:t>
            </a:r>
            <a:endParaRPr lang="pt-BR" sz="26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C6D97D3-99FF-4790-86F6-05CD90DE8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082" y="4631153"/>
            <a:ext cx="4563098" cy="160946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375C61E0-F717-4767-970E-5F88DD143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7082" y="2359151"/>
            <a:ext cx="5370230" cy="109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081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Fatiamento de listas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481740" y="1235280"/>
            <a:ext cx="10687003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É possível acessar partes da lista por meio de fatiamentos. Para isso, há três parâmetros, separados por dois pontos: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lvl="5" algn="just"/>
            <a:r>
              <a:rPr lang="pt-BR" sz="2800" dirty="0"/>
              <a:t>lista</a:t>
            </a:r>
            <a:r>
              <a:rPr lang="pt-BR" sz="2800" b="1" dirty="0"/>
              <a:t>[ inicio: fim: passo</a:t>
            </a:r>
            <a:r>
              <a:rPr lang="pt-BR" sz="2800" dirty="0"/>
              <a:t>]</a:t>
            </a:r>
          </a:p>
          <a:p>
            <a:pPr lvl="5" algn="just"/>
            <a:endParaRPr lang="pt-BR" sz="2800" dirty="0"/>
          </a:p>
          <a:p>
            <a:pPr lvl="5" algn="just"/>
            <a:endParaRPr lang="pt-BR" sz="2800" dirty="0"/>
          </a:p>
          <a:p>
            <a:pPr lvl="5" algn="just"/>
            <a:endParaRPr lang="pt-BR" sz="2800" dirty="0"/>
          </a:p>
          <a:p>
            <a:pPr lvl="5" algn="just"/>
            <a:endParaRPr lang="pt-BR" sz="2800" dirty="0"/>
          </a:p>
          <a:p>
            <a:pPr lvl="5" algn="just"/>
            <a:endParaRPr lang="pt-BR" sz="2800" dirty="0"/>
          </a:p>
          <a:p>
            <a:pPr lvl="1" algn="just"/>
            <a:endParaRPr lang="pt-BR" sz="2800" dirty="0"/>
          </a:p>
          <a:p>
            <a:pPr marL="0" lvl="1" algn="just"/>
            <a:r>
              <a:rPr lang="pt-BR" sz="2400" dirty="0"/>
              <a:t>O passo </a:t>
            </a:r>
            <a:r>
              <a:rPr lang="pt-BR" sz="2400" b="1" dirty="0"/>
              <a:t>negativo</a:t>
            </a:r>
            <a:r>
              <a:rPr lang="pt-BR" sz="2400" dirty="0"/>
              <a:t>, indica que o fatiamento percorre a lista no </a:t>
            </a:r>
            <a:r>
              <a:rPr lang="pt-BR" sz="2400" b="1" dirty="0"/>
              <a:t>sentido inverso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016EC06-ACEF-44A2-98BE-229D5B851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150" y="3205714"/>
            <a:ext cx="6577699" cy="20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005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Fatiamento de listas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752498" y="1443841"/>
            <a:ext cx="106870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É possível também omitir os parâmetros. Por padrão, o início vale 0, o fim vale o índice do último elemento + 1 (tamanho da lista) e o passo vale 1.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DA58A4A-8673-4364-BA6D-F0440A495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680" y="3118928"/>
            <a:ext cx="6882798" cy="222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975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+mj-lt"/>
              </a:rPr>
              <a:t>Criação de listas com </a:t>
            </a:r>
            <a:r>
              <a:rPr lang="pt-BR" sz="4400" b="1" dirty="0">
                <a:solidFill>
                  <a:srgbClr val="003958"/>
                </a:solidFill>
                <a:latin typeface="+mj-lt"/>
              </a:rPr>
              <a:t>range()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023257" y="1822956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800100" y="1494840"/>
            <a:ext cx="10687003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A função </a:t>
            </a:r>
            <a:r>
              <a:rPr lang="pt-BR" sz="2800" dirty="0">
                <a:solidFill>
                  <a:srgbClr val="FF0000"/>
                </a:solidFill>
              </a:rPr>
              <a:t>range() </a:t>
            </a:r>
            <a:r>
              <a:rPr lang="pt-BR" sz="2800" dirty="0"/>
              <a:t>define um intervalo de valores inteiros. Associada a </a:t>
            </a:r>
            <a:r>
              <a:rPr lang="pt-BR" sz="2800" b="1" dirty="0" err="1"/>
              <a:t>list</a:t>
            </a:r>
            <a:r>
              <a:rPr lang="pt-BR" sz="2800" b="1" dirty="0"/>
              <a:t>()</a:t>
            </a:r>
            <a:r>
              <a:rPr lang="pt-BR" sz="2800" dirty="0"/>
              <a:t>, cria uma lista com os valores do intervalo. A função </a:t>
            </a:r>
            <a:r>
              <a:rPr lang="pt-BR" sz="2800" dirty="0">
                <a:solidFill>
                  <a:srgbClr val="FF0000"/>
                </a:solidFill>
              </a:rPr>
              <a:t>range() </a:t>
            </a:r>
            <a:r>
              <a:rPr lang="pt-BR" sz="2800" dirty="0"/>
              <a:t>pode ter de 1 a 3 parâmetros: </a:t>
            </a:r>
          </a:p>
          <a:p>
            <a:pPr lvl="1" algn="just"/>
            <a:endParaRPr lang="pt-BR" sz="2800" dirty="0"/>
          </a:p>
          <a:p>
            <a:pPr lvl="2" algn="just"/>
            <a:r>
              <a:rPr lang="pt-BR" sz="2400" b="1" dirty="0"/>
              <a:t>range(n)</a:t>
            </a:r>
            <a:r>
              <a:rPr lang="pt-BR" sz="2400" dirty="0"/>
              <a:t> - gera um intervalo de 0 a n-1 </a:t>
            </a: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endParaRPr lang="pt-BR" sz="2400" dirty="0"/>
          </a:p>
          <a:p>
            <a:pPr lvl="2" algn="just"/>
            <a:r>
              <a:rPr lang="pt-BR" sz="2400" b="1" dirty="0"/>
              <a:t>range(i , n)</a:t>
            </a:r>
            <a:r>
              <a:rPr lang="pt-BR" sz="2400" dirty="0"/>
              <a:t> - gera um intervalo de i a n-1 </a:t>
            </a:r>
          </a:p>
          <a:p>
            <a:pPr lvl="2" algn="just"/>
            <a:endParaRPr lang="pt-BR" sz="2400" dirty="0"/>
          </a:p>
          <a:p>
            <a:pPr lvl="2" algn="just"/>
            <a:r>
              <a:rPr lang="pt-BR" sz="2400" b="1" dirty="0"/>
              <a:t>range(i , n, p)</a:t>
            </a:r>
            <a:r>
              <a:rPr lang="pt-BR" sz="2400" dirty="0"/>
              <a:t> - gera um intervalo de i a n-1 com intervalo p entre os números</a:t>
            </a:r>
          </a:p>
        </p:txBody>
      </p:sp>
    </p:spTree>
    <p:extLst>
      <p:ext uri="{BB962C8B-B14F-4D97-AF65-F5344CB8AC3E}">
        <p14:creationId xmlns:p14="http://schemas.microsoft.com/office/powerpoint/2010/main" val="1194624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785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000" dirty="0">
                <a:solidFill>
                  <a:srgbClr val="003958"/>
                </a:solidFill>
                <a:latin typeface="+mj-lt"/>
              </a:rPr>
              <a:t>Criação de listas com </a:t>
            </a:r>
            <a:r>
              <a:rPr lang="pt-BR" sz="4000" b="1" dirty="0">
                <a:solidFill>
                  <a:srgbClr val="003958"/>
                </a:solidFill>
                <a:latin typeface="+mj-lt"/>
              </a:rPr>
              <a:t>range()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21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7685E2B-7EA2-4512-97D4-DC71FA58CA47}"/>
              </a:ext>
            </a:extLst>
          </p:cNvPr>
          <p:cNvSpPr txBox="1"/>
          <p:nvPr/>
        </p:nvSpPr>
        <p:spPr>
          <a:xfrm>
            <a:off x="800100" y="1494840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A função </a:t>
            </a:r>
            <a:r>
              <a:rPr lang="pt-BR" sz="2800" dirty="0">
                <a:solidFill>
                  <a:srgbClr val="FF0000"/>
                </a:solidFill>
              </a:rPr>
              <a:t>range()</a:t>
            </a:r>
            <a:r>
              <a:rPr lang="pt-BR" sz="2800" dirty="0"/>
              <a:t> define um intervalo de valores inteiros. Associada a </a:t>
            </a:r>
            <a:r>
              <a:rPr lang="pt-BR" sz="2800" b="1" dirty="0" err="1"/>
              <a:t>list</a:t>
            </a:r>
            <a:r>
              <a:rPr lang="pt-BR" sz="2800" b="1" dirty="0"/>
              <a:t>()</a:t>
            </a:r>
            <a:r>
              <a:rPr lang="pt-BR" sz="2800" dirty="0"/>
              <a:t>, cria uma lista com os valores do intervalo.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AD62EBE-F0AB-4CC8-829E-47BA0FE9B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455" y="2853470"/>
            <a:ext cx="5253968" cy="195047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F52167FD-E589-4AD1-9DCA-68F5B4194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4455" y="5291940"/>
            <a:ext cx="5977083" cy="95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34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705098" y="486593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Exemplo 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895101" y="1578837"/>
            <a:ext cx="106870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Desenvolva um script em linguagem Python com uma lista vazia. Em seguida, leia e insira 5 valores inteiros na lista. Ao final mostre na tela, os valores contidos na lista. Ordem de entrada e inversa.</a:t>
            </a:r>
          </a:p>
        </p:txBody>
      </p:sp>
    </p:spTree>
    <p:extLst>
      <p:ext uri="{BB962C8B-B14F-4D97-AF65-F5344CB8AC3E}">
        <p14:creationId xmlns:p14="http://schemas.microsoft.com/office/powerpoint/2010/main" val="2826019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97B387-1B14-4C56-9039-85EEE87AE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0" i="0" dirty="0">
                <a:solidFill>
                  <a:srgbClr val="FF0000"/>
                </a:solidFill>
                <a:effectLst/>
                <a:latin typeface="SFMono-Regular"/>
              </a:rPr>
              <a:t># Criando a lista </a:t>
            </a:r>
            <a:r>
              <a:rPr lang="pt-BR" sz="2400" b="0" i="0" dirty="0" err="1">
                <a:solidFill>
                  <a:srgbClr val="FF0000"/>
                </a:solidFill>
                <a:effectLst/>
                <a:latin typeface="SFMono-Regular"/>
              </a:rPr>
              <a:t>numeros</a:t>
            </a:r>
            <a:r>
              <a:rPr lang="pt-BR" sz="2400" b="0" i="0" dirty="0">
                <a:solidFill>
                  <a:srgbClr val="FF0000"/>
                </a:solidFill>
                <a:effectLst/>
                <a:latin typeface="SFMono-Regular"/>
              </a:rPr>
              <a:t> </a:t>
            </a:r>
          </a:p>
          <a:p>
            <a:pPr marL="0" indent="0">
              <a:buNone/>
            </a:pPr>
            <a:r>
              <a:rPr lang="pt-BR" sz="2400" b="0" i="0" dirty="0" err="1">
                <a:effectLst/>
                <a:latin typeface="SFMono-Regular"/>
              </a:rPr>
              <a:t>numeros</a:t>
            </a:r>
            <a:r>
              <a:rPr lang="pt-BR" sz="2400" b="0" i="0" dirty="0">
                <a:effectLst/>
                <a:latin typeface="SFMono-Regular"/>
              </a:rPr>
              <a:t> = []</a:t>
            </a:r>
          </a:p>
          <a:p>
            <a:pPr marL="0" indent="0">
              <a:buNone/>
            </a:pPr>
            <a:endParaRPr lang="pt-BR" sz="2400" b="0" i="0" dirty="0">
              <a:effectLst/>
              <a:latin typeface="SFMono-Regular"/>
            </a:endParaRPr>
          </a:p>
          <a:p>
            <a:pPr marL="0" indent="0">
              <a:buNone/>
            </a:pPr>
            <a:r>
              <a:rPr lang="pt-BR" sz="2400" b="0" i="0" dirty="0">
                <a:effectLst/>
                <a:latin typeface="SFMono-Regular"/>
              </a:rPr>
              <a:t>for contador in range(0,5):</a:t>
            </a:r>
          </a:p>
          <a:p>
            <a:pPr marL="0" indent="0">
              <a:buNone/>
            </a:pPr>
            <a:r>
              <a:rPr lang="pt-BR" sz="2400" b="0" i="0" dirty="0">
                <a:effectLst/>
                <a:latin typeface="SFMono-Regular"/>
              </a:rPr>
              <a:t>    valor = input("Insira um numero inteiro: ") </a:t>
            </a:r>
          </a:p>
          <a:p>
            <a:pPr marL="0" indent="0">
              <a:buNone/>
            </a:pPr>
            <a:r>
              <a:rPr lang="pt-BR" sz="2400" b="0" i="0" dirty="0">
                <a:effectLst/>
                <a:latin typeface="SFMono-Regular"/>
              </a:rPr>
              <a:t>    </a:t>
            </a:r>
            <a:r>
              <a:rPr lang="pt-BR" sz="2400" b="0" i="0" dirty="0" err="1">
                <a:effectLst/>
                <a:latin typeface="SFMono-Regular"/>
              </a:rPr>
              <a:t>numeros.append</a:t>
            </a:r>
            <a:r>
              <a:rPr lang="pt-BR" sz="2400" b="0" i="0" dirty="0">
                <a:effectLst/>
                <a:latin typeface="SFMono-Regular"/>
              </a:rPr>
              <a:t>(valor)</a:t>
            </a:r>
          </a:p>
          <a:p>
            <a:pPr marL="0" indent="0">
              <a:buNone/>
            </a:pPr>
            <a:endParaRPr lang="pt-BR" sz="2400" b="0" i="0" dirty="0">
              <a:effectLst/>
              <a:latin typeface="SFMono-Regular"/>
            </a:endParaRPr>
          </a:p>
          <a:p>
            <a:pPr marL="0" indent="0">
              <a:buNone/>
            </a:pPr>
            <a:r>
              <a:rPr lang="pt-BR" sz="2400" b="0" i="0" dirty="0">
                <a:effectLst/>
                <a:latin typeface="SFMono-Regular"/>
              </a:rPr>
              <a:t>print ("Lista de </a:t>
            </a:r>
            <a:r>
              <a:rPr lang="pt-BR" sz="2400" b="0" i="0" dirty="0" err="1">
                <a:effectLst/>
                <a:latin typeface="SFMono-Regular"/>
              </a:rPr>
              <a:t>numeros</a:t>
            </a:r>
            <a:r>
              <a:rPr lang="pt-BR" sz="2400" b="0" i="0" dirty="0">
                <a:effectLst/>
                <a:latin typeface="SFMono-Regular"/>
              </a:rPr>
              <a:t> digitados : ",</a:t>
            </a:r>
            <a:r>
              <a:rPr lang="pt-BR" sz="2400" b="0" i="0" dirty="0" err="1">
                <a:effectLst/>
                <a:latin typeface="SFMono-Regular"/>
              </a:rPr>
              <a:t>numeros</a:t>
            </a:r>
            <a:r>
              <a:rPr lang="pt-BR" sz="2400" b="0" i="0" dirty="0">
                <a:effectLst/>
                <a:latin typeface="SFMono-Regular"/>
              </a:rPr>
              <a:t>)</a:t>
            </a:r>
            <a:endParaRPr lang="pt-BR" sz="24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7FECE1-FDFB-4019-9E8B-6724A0746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23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83474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705098" y="518124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Exemplo 2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800100" y="1494840"/>
            <a:ext cx="106870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Elabore um script em linguagem Python que contenha uma lista com o nome de 5 dos seus melhores amigos. Mostrar na tela a seguir, cada nome em uma linha separada por meio de estrutura de repetição.</a:t>
            </a:r>
          </a:p>
          <a:p>
            <a:pPr algn="just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896850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97B387-1B14-4C56-9039-85EEE87AE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0" i="0" dirty="0">
                <a:solidFill>
                  <a:srgbClr val="FF0000"/>
                </a:solidFill>
                <a:effectLst/>
                <a:latin typeface="SFMono-Regular"/>
              </a:rPr>
              <a:t># Criando a lista amigos </a:t>
            </a:r>
          </a:p>
          <a:p>
            <a:pPr marL="0" indent="0">
              <a:buNone/>
            </a:pPr>
            <a:r>
              <a:rPr lang="pt-BR" sz="2400" b="0" i="0" dirty="0">
                <a:solidFill>
                  <a:srgbClr val="212529"/>
                </a:solidFill>
                <a:effectLst/>
                <a:latin typeface="SFMono-Regular"/>
              </a:rPr>
              <a:t>amigos = []</a:t>
            </a:r>
          </a:p>
          <a:p>
            <a:pPr marL="0" indent="0">
              <a:buNone/>
            </a:pPr>
            <a:endParaRPr lang="pt-BR" sz="2400" b="0" i="0" dirty="0">
              <a:solidFill>
                <a:srgbClr val="212529"/>
              </a:solidFill>
              <a:effectLst/>
              <a:latin typeface="SFMono-Regular"/>
            </a:endParaRPr>
          </a:p>
          <a:p>
            <a:pPr marL="0" indent="0">
              <a:buNone/>
            </a:pPr>
            <a:r>
              <a:rPr lang="pt-BR" sz="2400" b="0" i="0" dirty="0" err="1">
                <a:solidFill>
                  <a:srgbClr val="212529"/>
                </a:solidFill>
                <a:effectLst/>
                <a:latin typeface="SFMono-Regular"/>
              </a:rPr>
              <a:t>while</a:t>
            </a:r>
            <a:r>
              <a:rPr lang="pt-BR" sz="2400" b="0" i="0" dirty="0">
                <a:solidFill>
                  <a:srgbClr val="212529"/>
                </a:solidFill>
                <a:effectLst/>
                <a:latin typeface="SFMono-Regular"/>
              </a:rPr>
              <a:t> </a:t>
            </a:r>
            <a:r>
              <a:rPr lang="pt-BR" sz="2400" b="0" i="0" dirty="0" err="1">
                <a:solidFill>
                  <a:srgbClr val="212529"/>
                </a:solidFill>
                <a:effectLst/>
                <a:latin typeface="SFMono-Regular"/>
              </a:rPr>
              <a:t>True</a:t>
            </a:r>
            <a:r>
              <a:rPr lang="pt-BR" sz="2400" b="0" i="0" dirty="0">
                <a:solidFill>
                  <a:srgbClr val="212529"/>
                </a:solidFill>
                <a:effectLst/>
                <a:latin typeface="SFMono-Regular"/>
              </a:rPr>
              <a:t>: </a:t>
            </a:r>
          </a:p>
          <a:p>
            <a:pPr marL="0" indent="0">
              <a:buNone/>
            </a:pPr>
            <a:r>
              <a:rPr lang="pt-BR" sz="2400" b="0" i="0" dirty="0">
                <a:solidFill>
                  <a:srgbClr val="212529"/>
                </a:solidFill>
                <a:effectLst/>
                <a:latin typeface="SFMono-Regular"/>
              </a:rPr>
              <a:t>    nomes = input("Insira um nome de amigo: ") </a:t>
            </a:r>
          </a:p>
          <a:p>
            <a:pPr marL="0" indent="0">
              <a:buNone/>
            </a:pPr>
            <a:r>
              <a:rPr lang="pt-BR" sz="2400" b="0" i="0" dirty="0">
                <a:solidFill>
                  <a:srgbClr val="212529"/>
                </a:solidFill>
                <a:effectLst/>
                <a:latin typeface="SFMono-Regular"/>
              </a:rPr>
              <a:t>    </a:t>
            </a:r>
            <a:r>
              <a:rPr lang="pt-BR" sz="2400" b="0" i="0" dirty="0" err="1">
                <a:solidFill>
                  <a:srgbClr val="212529"/>
                </a:solidFill>
                <a:effectLst/>
                <a:latin typeface="SFMono-Regular"/>
              </a:rPr>
              <a:t>amigos.append</a:t>
            </a:r>
            <a:r>
              <a:rPr lang="pt-BR" sz="2400" b="0" i="0" dirty="0">
                <a:solidFill>
                  <a:srgbClr val="212529"/>
                </a:solidFill>
                <a:effectLst/>
                <a:latin typeface="SFMono-Regular"/>
              </a:rPr>
              <a:t>(nomes)</a:t>
            </a:r>
          </a:p>
          <a:p>
            <a:pPr marL="0" indent="0">
              <a:buNone/>
            </a:pPr>
            <a:r>
              <a:rPr lang="pt-BR" sz="2400" b="0" i="0" dirty="0">
                <a:solidFill>
                  <a:srgbClr val="212529"/>
                </a:solidFill>
                <a:effectLst/>
                <a:latin typeface="SFMono-Regular"/>
              </a:rPr>
              <a:t>    </a:t>
            </a:r>
            <a:r>
              <a:rPr lang="pt-BR" sz="2400" b="0" i="0" dirty="0" err="1">
                <a:solidFill>
                  <a:srgbClr val="212529"/>
                </a:solidFill>
                <a:effectLst/>
                <a:latin typeface="SFMono-Regular"/>
              </a:rPr>
              <a:t>opcao</a:t>
            </a:r>
            <a:r>
              <a:rPr lang="pt-BR" sz="2400" b="0" i="0" dirty="0">
                <a:solidFill>
                  <a:srgbClr val="212529"/>
                </a:solidFill>
                <a:effectLst/>
                <a:latin typeface="SFMono-Regular"/>
              </a:rPr>
              <a:t> = input("Deseja cadastrar mais nomes S ou N ? ").</a:t>
            </a:r>
            <a:r>
              <a:rPr lang="pt-BR" sz="2400" b="0" i="0" dirty="0" err="1">
                <a:solidFill>
                  <a:srgbClr val="212529"/>
                </a:solidFill>
                <a:effectLst/>
                <a:latin typeface="SFMono-Regular"/>
              </a:rPr>
              <a:t>upper</a:t>
            </a:r>
            <a:r>
              <a:rPr lang="pt-BR" sz="2400" b="0" i="0" dirty="0">
                <a:solidFill>
                  <a:srgbClr val="212529"/>
                </a:solidFill>
                <a:effectLst/>
                <a:latin typeface="SFMono-Regular"/>
              </a:rPr>
              <a:t>()</a:t>
            </a:r>
          </a:p>
          <a:p>
            <a:pPr marL="0" indent="0">
              <a:buNone/>
            </a:pPr>
            <a:r>
              <a:rPr lang="pt-BR" sz="2400" b="0" i="0" dirty="0">
                <a:solidFill>
                  <a:srgbClr val="212529"/>
                </a:solidFill>
                <a:effectLst/>
                <a:latin typeface="SFMono-Regular"/>
              </a:rPr>
              <a:t>    </a:t>
            </a:r>
            <a:r>
              <a:rPr lang="pt-BR" sz="2400" b="0" i="0" dirty="0" err="1">
                <a:solidFill>
                  <a:srgbClr val="212529"/>
                </a:solidFill>
                <a:effectLst/>
                <a:latin typeface="SFMono-Regular"/>
              </a:rPr>
              <a:t>if</a:t>
            </a:r>
            <a:r>
              <a:rPr lang="pt-BR" sz="2400" b="0" i="0" dirty="0">
                <a:solidFill>
                  <a:srgbClr val="212529"/>
                </a:solidFill>
                <a:effectLst/>
                <a:latin typeface="SFMono-Regular"/>
              </a:rPr>
              <a:t> </a:t>
            </a:r>
            <a:r>
              <a:rPr lang="pt-BR" sz="2400" b="0" i="0" dirty="0" err="1">
                <a:solidFill>
                  <a:srgbClr val="212529"/>
                </a:solidFill>
                <a:effectLst/>
                <a:latin typeface="SFMono-Regular"/>
              </a:rPr>
              <a:t>opcao</a:t>
            </a:r>
            <a:r>
              <a:rPr lang="pt-BR" sz="2400" b="0" i="0" dirty="0">
                <a:solidFill>
                  <a:srgbClr val="212529"/>
                </a:solidFill>
                <a:effectLst/>
                <a:latin typeface="SFMono-Regular"/>
              </a:rPr>
              <a:t> == "N":</a:t>
            </a:r>
          </a:p>
          <a:p>
            <a:pPr marL="0" indent="0">
              <a:buNone/>
            </a:pPr>
            <a:r>
              <a:rPr lang="pt-BR" sz="2400" b="0" i="0" dirty="0">
                <a:solidFill>
                  <a:srgbClr val="212529"/>
                </a:solidFill>
                <a:effectLst/>
                <a:latin typeface="SFMono-Regular"/>
              </a:rPr>
              <a:t>        break</a:t>
            </a:r>
          </a:p>
          <a:p>
            <a:pPr marL="0" indent="0">
              <a:buNone/>
            </a:pPr>
            <a:endParaRPr lang="pt-BR" sz="2400" b="0" i="0" dirty="0">
              <a:solidFill>
                <a:srgbClr val="212529"/>
              </a:solidFill>
              <a:effectLst/>
              <a:latin typeface="SFMono-Regular"/>
            </a:endParaRPr>
          </a:p>
          <a:p>
            <a:pPr marL="0" indent="0">
              <a:buNone/>
            </a:pPr>
            <a:r>
              <a:rPr lang="pt-BR" sz="2400" b="0" i="0" dirty="0">
                <a:solidFill>
                  <a:srgbClr val="212529"/>
                </a:solidFill>
                <a:effectLst/>
                <a:latin typeface="SFMono-Regular"/>
              </a:rPr>
              <a:t>print (“Lista de amigos : ",amigos)</a:t>
            </a:r>
            <a:endParaRPr lang="pt-BR" sz="24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7FECE1-FDFB-4019-9E8B-6724A0746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25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2491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705098" y="486593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Exemplo 3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E18A340-A37F-4AD4-AEC0-70C12AD70905}"/>
              </a:ext>
            </a:extLst>
          </p:cNvPr>
          <p:cNvSpPr txBox="1"/>
          <p:nvPr/>
        </p:nvSpPr>
        <p:spPr>
          <a:xfrm>
            <a:off x="895101" y="1485847"/>
            <a:ext cx="10687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Em um script Python, crie uma lista vazia, que seja preenchida com médias de N alunos. Após a leitura das notas, mostrar a lista de notas:</a:t>
            </a:r>
          </a:p>
        </p:txBody>
      </p:sp>
    </p:spTree>
    <p:extLst>
      <p:ext uri="{BB962C8B-B14F-4D97-AF65-F5344CB8AC3E}">
        <p14:creationId xmlns:p14="http://schemas.microsoft.com/office/powerpoint/2010/main" val="365241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97B387-1B14-4C56-9039-85EEE87AE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0" i="0" dirty="0">
                <a:solidFill>
                  <a:srgbClr val="FF0000"/>
                </a:solidFill>
                <a:effectLst/>
                <a:latin typeface="SFMono-Regular"/>
              </a:rPr>
              <a:t># Criando a lista notas </a:t>
            </a:r>
          </a:p>
          <a:p>
            <a:pPr marL="0" indent="0">
              <a:buNone/>
            </a:pPr>
            <a:r>
              <a:rPr lang="pt-BR" sz="2400" b="0" i="0" dirty="0">
                <a:effectLst/>
                <a:latin typeface="SFMono-Regular"/>
              </a:rPr>
              <a:t>medias = []</a:t>
            </a:r>
          </a:p>
          <a:p>
            <a:pPr marL="0" indent="0">
              <a:buNone/>
            </a:pPr>
            <a:r>
              <a:rPr lang="pt-BR" sz="2400" b="0" i="0" dirty="0">
                <a:effectLst/>
                <a:latin typeface="SFMono-Regular"/>
              </a:rPr>
              <a:t>n = </a:t>
            </a:r>
            <a:r>
              <a:rPr lang="pt-BR" sz="2400" b="0" i="0" dirty="0" err="1">
                <a:effectLst/>
                <a:latin typeface="SFMono-Regular"/>
              </a:rPr>
              <a:t>int</a:t>
            </a:r>
            <a:r>
              <a:rPr lang="pt-BR" sz="2400" b="0" i="0" dirty="0">
                <a:effectLst/>
                <a:latin typeface="SFMono-Regular"/>
              </a:rPr>
              <a:t>(input("Quantos alunos deseja cadastrar médias: "))</a:t>
            </a:r>
          </a:p>
          <a:p>
            <a:pPr marL="0" indent="0">
              <a:buNone/>
            </a:pPr>
            <a:endParaRPr lang="pt-BR" sz="2400" b="0" i="0" dirty="0">
              <a:effectLst/>
              <a:latin typeface="SFMono-Regular"/>
            </a:endParaRPr>
          </a:p>
          <a:p>
            <a:pPr marL="0" indent="0">
              <a:buNone/>
            </a:pPr>
            <a:r>
              <a:rPr lang="pt-BR" sz="2400" b="0" i="0" dirty="0">
                <a:effectLst/>
                <a:latin typeface="SFMono-Regular"/>
              </a:rPr>
              <a:t>for contador in range(0,n):</a:t>
            </a:r>
          </a:p>
          <a:p>
            <a:pPr marL="0" indent="0">
              <a:buNone/>
            </a:pPr>
            <a:r>
              <a:rPr lang="pt-BR" sz="2400" b="0" i="0" dirty="0">
                <a:effectLst/>
                <a:latin typeface="SFMono-Regular"/>
              </a:rPr>
              <a:t>    valor = input("Insira uma nota: ") </a:t>
            </a:r>
          </a:p>
          <a:p>
            <a:pPr marL="0" indent="0">
              <a:buNone/>
            </a:pPr>
            <a:r>
              <a:rPr lang="pt-BR" sz="2400" b="0" i="0" dirty="0">
                <a:effectLst/>
                <a:latin typeface="SFMono-Regular"/>
              </a:rPr>
              <a:t>    </a:t>
            </a:r>
            <a:r>
              <a:rPr lang="pt-BR" sz="2400" b="0" i="0" dirty="0" err="1">
                <a:effectLst/>
                <a:latin typeface="SFMono-Regular"/>
              </a:rPr>
              <a:t>medias.append</a:t>
            </a:r>
            <a:r>
              <a:rPr lang="pt-BR" sz="2400" b="0" i="0" dirty="0">
                <a:effectLst/>
                <a:latin typeface="SFMono-Regular"/>
              </a:rPr>
              <a:t>(valor)</a:t>
            </a:r>
          </a:p>
          <a:p>
            <a:pPr marL="0" indent="0">
              <a:buNone/>
            </a:pPr>
            <a:endParaRPr lang="pt-BR" sz="2400" b="0" i="0" dirty="0">
              <a:effectLst/>
              <a:latin typeface="SFMono-Regular"/>
            </a:endParaRPr>
          </a:p>
          <a:p>
            <a:pPr marL="0" indent="0">
              <a:buNone/>
            </a:pPr>
            <a:r>
              <a:rPr lang="pt-BR" sz="2400" b="0" i="0" dirty="0">
                <a:effectLst/>
                <a:latin typeface="SFMono-Regular"/>
              </a:rPr>
              <a:t>print ("Nr de alunos: ",n)</a:t>
            </a:r>
          </a:p>
          <a:p>
            <a:pPr marL="0" indent="0">
              <a:buNone/>
            </a:pPr>
            <a:r>
              <a:rPr lang="pt-BR" sz="2400" b="0" i="0" dirty="0">
                <a:effectLst/>
                <a:latin typeface="SFMono-Regular"/>
              </a:rPr>
              <a:t>print ("Lista de médias digitados : ",medias)</a:t>
            </a:r>
            <a:endParaRPr lang="pt-BR" sz="24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7FECE1-FDFB-4019-9E8B-6724A0746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27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16358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E1265A-7E9E-4906-82DA-3F35EAB15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861" y="1325880"/>
            <a:ext cx="11478684" cy="5252167"/>
          </a:xfrm>
        </p:spPr>
        <p:txBody>
          <a:bodyPr>
            <a:noAutofit/>
          </a:bodyPr>
          <a:lstStyle/>
          <a:p>
            <a:pPr algn="just">
              <a:buFont typeface="+mj-lt"/>
              <a:buAutoNum type="arabicPeriod"/>
            </a:pPr>
            <a:r>
              <a:rPr lang="pt-BR" sz="2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Faça um Programa Python que leia uma lista de 5 números inteiros e mostre-os no final</a:t>
            </a:r>
          </a:p>
          <a:p>
            <a:pPr algn="just">
              <a:buFont typeface="+mj-lt"/>
              <a:buAutoNum type="arabicPeriod"/>
            </a:pPr>
            <a:r>
              <a:rPr lang="pt-BR" sz="2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Faça um Programa Python que leia uma lista de 10 números inteiros e mostre-os na ordem inversa.</a:t>
            </a:r>
          </a:p>
          <a:p>
            <a:pPr algn="just">
              <a:buFont typeface="+mj-lt"/>
              <a:buAutoNum type="arabicPeriod"/>
            </a:pPr>
            <a:r>
              <a:rPr lang="pt-BR" sz="2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Faça um Programa Python que leia 4 notas, ao final mostre as notas e a média geral.</a:t>
            </a:r>
          </a:p>
          <a:p>
            <a:pPr algn="just">
              <a:buFont typeface="+mj-lt"/>
              <a:buAutoNum type="arabicPeriod"/>
            </a:pPr>
            <a:r>
              <a:rPr lang="pt-BR" sz="2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Faça um Programa Python que leia uma lista de 10 caracteres, e diga quantas vogais e consoantes foram lidas. Mostre a lista ao final.</a:t>
            </a:r>
          </a:p>
          <a:p>
            <a:pPr algn="just">
              <a:buFont typeface="+mj-lt"/>
              <a:buAutoNum type="arabicPeriod"/>
            </a:pPr>
            <a:r>
              <a:rPr lang="pt-BR" sz="2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Faça um Programa Python que leia 20 números inteiros e armazene-os numa lista. Armazene os números pares na lista PAR e os números impares na lista IMPAR. Imprima ao final os três vetores.</a:t>
            </a:r>
            <a:endParaRPr lang="pt-BR" sz="24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E18CA0B-821B-4AE9-AC43-F362BB28C8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28</a:t>
            </a:fld>
            <a:endParaRPr lang="pt-BR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24348E4-5C23-4744-A2C6-B5B22A53E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594" y="390988"/>
            <a:ext cx="9285218" cy="601522"/>
          </a:xfrm>
        </p:spPr>
        <p:txBody>
          <a:bodyPr>
            <a:normAutofit fontScale="90000"/>
          </a:bodyPr>
          <a:lstStyle/>
          <a:p>
            <a:r>
              <a:rPr lang="pt-BR" dirty="0"/>
              <a:t>Praticando com o Python</a:t>
            </a:r>
          </a:p>
        </p:txBody>
      </p:sp>
    </p:spTree>
    <p:extLst>
      <p:ext uri="{BB962C8B-B14F-4D97-AF65-F5344CB8AC3E}">
        <p14:creationId xmlns:p14="http://schemas.microsoft.com/office/powerpoint/2010/main" val="21403626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E1265A-7E9E-4906-82DA-3F35EAB15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861" y="1325880"/>
            <a:ext cx="11478684" cy="525216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6. Faça um Programa Python que peça as duas notas de 10 alunos e armazene numa lista. Calcule e mostre a média de cada aluno.</a:t>
            </a:r>
          </a:p>
          <a:p>
            <a:pPr marL="0" indent="0" algn="just">
              <a:buNone/>
            </a:pPr>
            <a:endParaRPr lang="pt-BR" sz="24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pt-BR" sz="2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7. Faça um Programa Python que leia uma lista de 5 números inteiros, mostre a soma dos elementos da lista.</a:t>
            </a:r>
          </a:p>
          <a:p>
            <a:pPr marL="0" indent="0" algn="just">
              <a:buNone/>
            </a:pPr>
            <a:endParaRPr lang="pt-BR" sz="24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pt-BR" sz="2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8. Faça um Programa Python que peça a idade de 10 pessoas, armazene  a informação na sua respectiva lista. Imprima a lista das idades na ordem menor para maior.</a:t>
            </a:r>
          </a:p>
          <a:p>
            <a:pPr marL="0" indent="0" algn="just">
              <a:buNone/>
            </a:pPr>
            <a:endParaRPr lang="pt-BR" sz="24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pt-BR" sz="2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9. Faça um Programa Python que leia uma lista com 10 números inteiros, calcule e mostre o maior e menor elemento da lista.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E18CA0B-821B-4AE9-AC43-F362BB28C8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4132491A-C8DB-4AC9-8AF1-41D5C714A7B5}" type="slidenum">
              <a:rPr lang="pt-BR" smtClean="0"/>
              <a:pPr algn="r"/>
              <a:t>29</a:t>
            </a:fld>
            <a:endParaRPr lang="pt-BR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24348E4-5C23-4744-A2C6-B5B22A53E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594" y="390988"/>
            <a:ext cx="9285218" cy="601522"/>
          </a:xfrm>
        </p:spPr>
        <p:txBody>
          <a:bodyPr>
            <a:normAutofit fontScale="90000"/>
          </a:bodyPr>
          <a:lstStyle/>
          <a:p>
            <a:r>
              <a:rPr lang="pt-BR" dirty="0"/>
              <a:t>Praticando com o Python</a:t>
            </a:r>
          </a:p>
        </p:txBody>
      </p:sp>
    </p:spTree>
    <p:extLst>
      <p:ext uri="{BB962C8B-B14F-4D97-AF65-F5344CB8AC3E}">
        <p14:creationId xmlns:p14="http://schemas.microsoft.com/office/powerpoint/2010/main" val="28968520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AC84A0-E29E-4787-8C74-3E7B8EE17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594" y="390988"/>
            <a:ext cx="9285218" cy="601522"/>
          </a:xfrm>
        </p:spPr>
        <p:txBody>
          <a:bodyPr>
            <a:normAutofit fontScale="90000"/>
          </a:bodyPr>
          <a:lstStyle/>
          <a:p>
            <a:r>
              <a:rPr lang="pt-BR" dirty="0"/>
              <a:t>Praticando com o Python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D9E3E9-00DD-4B2B-A928-DC1E792BE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10) Elabore um script em linguagem Python que leia de 10 números reais, inserindo-os numa lista e ao final, mostre-os na ordem inversa.</a:t>
            </a:r>
          </a:p>
          <a:p>
            <a:pPr marL="0" indent="0">
              <a:buNone/>
            </a:pPr>
            <a:endParaRPr lang="pt-BR" dirty="0"/>
          </a:p>
          <a:p>
            <a:pPr marL="0" indent="0" algn="just">
              <a:buNone/>
            </a:pPr>
            <a:r>
              <a:rPr lang="pt-BR" dirty="0"/>
              <a:t>11) Desenvolva um script em linguagem Python que peça as quatro notas de 10 alunos, calcule e armazene num vetor a média de cada aluno, imprima o número de alunos com média maior ou igual a 7.</a:t>
            </a:r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r>
              <a:rPr lang="pt-BR" dirty="0"/>
              <a:t>12) Crie um script em linguagem Python que leia dois vetores com 5 elementos cada. Gere um terceiro vetor de 10 elementos, cujos valores deverão ser compostos pelos elementos intercalados dos dois outros vetores. Exibir na tela todos os vetores em linhas separadas.</a:t>
            </a:r>
          </a:p>
        </p:txBody>
      </p:sp>
    </p:spTree>
    <p:extLst>
      <p:ext uri="{BB962C8B-B14F-4D97-AF65-F5344CB8AC3E}">
        <p14:creationId xmlns:p14="http://schemas.microsoft.com/office/powerpoint/2010/main" val="17471890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Resultado de imagem para Obrigado">
            <a:extLst>
              <a:ext uri="{FF2B5EF4-FFF2-40B4-BE49-F238E27FC236}">
                <a16:creationId xmlns:a16="http://schemas.microsoft.com/office/drawing/2014/main" id="{B74634BC-9B07-4B94-9AF7-B4B4921DC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014" y="1691721"/>
            <a:ext cx="5827052" cy="3858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9463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6265</TotalTime>
  <Words>1377</Words>
  <Application>Microsoft Office PowerPoint</Application>
  <PresentationFormat>Widescreen</PresentationFormat>
  <Paragraphs>234</Paragraphs>
  <Slides>31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Impact</vt:lpstr>
      <vt:lpstr>SFMono-Regular</vt:lpstr>
      <vt:lpstr>Tema do Office</vt:lpstr>
      <vt:lpstr>Listas em Python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Praticando com o Python</vt:lpstr>
      <vt:lpstr>Praticando com o Python</vt:lpstr>
      <vt:lpstr>Praticando com o Python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da Disciplina</dc:title>
  <dc:creator>Vagner Da Silva Rodrigues</dc:creator>
  <cp:lastModifiedBy>Cristiane Pavei Fernandes</cp:lastModifiedBy>
  <cp:revision>348</cp:revision>
  <dcterms:created xsi:type="dcterms:W3CDTF">2019-07-27T22:06:45Z</dcterms:created>
  <dcterms:modified xsi:type="dcterms:W3CDTF">2024-04-24T21:54:30Z</dcterms:modified>
</cp:coreProperties>
</file>