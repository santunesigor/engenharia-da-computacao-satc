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5"/>
  </p:notesMasterIdLst>
  <p:sldIdLst>
    <p:sldId id="314" r:id="rId2"/>
    <p:sldId id="365" r:id="rId3"/>
    <p:sldId id="428" r:id="rId4"/>
    <p:sldId id="453" r:id="rId5"/>
    <p:sldId id="468" r:id="rId6"/>
    <p:sldId id="356" r:id="rId7"/>
    <p:sldId id="357" r:id="rId8"/>
    <p:sldId id="358" r:id="rId9"/>
    <p:sldId id="470" r:id="rId10"/>
    <p:sldId id="469" r:id="rId11"/>
    <p:sldId id="437" r:id="rId12"/>
    <p:sldId id="364" r:id="rId13"/>
    <p:sldId id="436" r:id="rId14"/>
    <p:sldId id="438" r:id="rId15"/>
    <p:sldId id="435" r:id="rId16"/>
    <p:sldId id="439" r:id="rId17"/>
    <p:sldId id="359" r:id="rId18"/>
    <p:sldId id="440" r:id="rId19"/>
    <p:sldId id="361" r:id="rId20"/>
    <p:sldId id="441" r:id="rId21"/>
    <p:sldId id="362" r:id="rId22"/>
    <p:sldId id="442" r:id="rId23"/>
    <p:sldId id="443" r:id="rId24"/>
    <p:sldId id="363" r:id="rId25"/>
    <p:sldId id="444" r:id="rId26"/>
    <p:sldId id="449" r:id="rId27"/>
    <p:sldId id="445" r:id="rId28"/>
    <p:sldId id="424" r:id="rId29"/>
    <p:sldId id="450" r:id="rId30"/>
    <p:sldId id="451" r:id="rId31"/>
    <p:sldId id="446" r:id="rId32"/>
    <p:sldId id="447" r:id="rId33"/>
    <p:sldId id="448" r:id="rId34"/>
    <p:sldId id="433" r:id="rId35"/>
    <p:sldId id="434" r:id="rId36"/>
    <p:sldId id="462" r:id="rId37"/>
    <p:sldId id="289" r:id="rId38"/>
    <p:sldId id="463" r:id="rId39"/>
    <p:sldId id="454" r:id="rId40"/>
    <p:sldId id="464" r:id="rId41"/>
    <p:sldId id="465" r:id="rId42"/>
    <p:sldId id="466" r:id="rId43"/>
    <p:sldId id="467" r:id="rId4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8" autoAdjust="0"/>
    <p:restoredTop sz="89503" autoAdjust="0"/>
  </p:normalViewPr>
  <p:slideViewPr>
    <p:cSldViewPr snapToGrid="0">
      <p:cViewPr varScale="1">
        <p:scale>
          <a:sx n="64" d="100"/>
          <a:sy n="64" d="100"/>
        </p:scale>
        <p:origin x="96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911C30-626E-4C5C-9878-709A1E8994D6}" type="datetimeFigureOut">
              <a:rPr lang="pt-BR" smtClean="0"/>
              <a:t>15/05/2024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39C0C7-1D2E-42D8-884C-02BEF678E9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5973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9313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1785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1096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2913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6572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835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9267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35157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02005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54552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60447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21544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0096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364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68998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19244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94879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66232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19244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18035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44548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20231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26311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94280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11709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96388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42992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71434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44215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29895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48624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8590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9C0C7-1D2E-42D8-884C-02BEF678E9F0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8536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B5409A9E-3941-4E40-B88F-DD43A5F0148D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46AD8385-8CD2-4003-9CD4-D1585CAC37AD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64323B1F-25F9-44C6-B29D-609A44EEB13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Espaço Reservado para Número de Slide 5">
            <a:extLst>
              <a:ext uri="{FF2B5EF4-FFF2-40B4-BE49-F238E27FC236}">
                <a16:creationId xmlns:a16="http://schemas.microsoft.com/office/drawing/2014/main" id="{FFB2BB53-CA80-4B3B-9DED-1CD33F5F3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D0A55484-68C3-4AB3-8895-E103DE5734B3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A3E0EE07-BBF0-4775-91F9-569EEE9CBEEC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C7CF7A86-734C-4476-90AC-D1977459F81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Imagem 4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066A9223-FB4F-4815-B641-3FECFE1D71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13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DA38215F-4D46-46F3-9595-2C5D10F9AF94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EAD401B0-27CD-4563-982B-1D24272D9864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08BA0EDE-D02A-49E2-9EC9-0C5E537AA39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ECF9D6FD-661C-4C15-B70F-49122791E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0F733FA7-72CC-4177-A0C4-81C8ED3E2B0C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9F1BA48E-5484-4B3F-B298-F82BC73D773F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F87CF3AF-6649-40A9-9EFE-D08C25AD72B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D4B46475-BD9D-45D1-8B4B-BFD01FEC52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034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73296962-F7FE-4B71-B4F5-E182C438161F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07B45530-6EB5-4562-BD05-63F985B08734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E8C8BA90-4F4B-4B0A-ACF9-78254036111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0F79E05E-7BD9-4B27-99B4-31FC40C1D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406B26C5-A7F3-40EA-81D0-5FF10BEB50BF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3E916F81-8148-41DF-B575-EA269B3F06F2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59C9F423-E5AD-4D0C-8249-DFCDCCBEF1B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2ECF4FEB-A0E8-4F32-9DDD-92F5CE6C66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07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0B46B84-07BB-432B-B467-EA5E826F9859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DE71647A-04E6-47BD-A53B-F9850E4751E2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1DC843C7-2E37-4031-9804-6B5803FADA6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E3DCB8CC-F0C2-4710-AA29-D75F92613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C4C767C1-4281-457D-B858-2A96F9F0C50E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2F7D956E-52DE-4671-BDFE-3480F014537D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7E237CC9-0D83-47B9-94EC-ADCAF5BAE7E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55BC1C63-B62C-4D72-986B-A8553733F3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212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365126"/>
            <a:ext cx="10515600" cy="587828"/>
          </a:xfrm>
        </p:spPr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F1E81C7F-CE86-41CE-8CB4-36F7FB18E5C5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9" name="Conector reto 18">
              <a:extLst>
                <a:ext uri="{FF2B5EF4-FFF2-40B4-BE49-F238E27FC236}">
                  <a16:creationId xmlns:a16="http://schemas.microsoft.com/office/drawing/2014/main" id="{E54B37D9-A246-4215-8B5B-CADF0E8B0CF8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B63EA0EB-083D-43AF-8763-2A4AD6800F2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Número de Slide 5">
            <a:extLst>
              <a:ext uri="{FF2B5EF4-FFF2-40B4-BE49-F238E27FC236}">
                <a16:creationId xmlns:a16="http://schemas.microsoft.com/office/drawing/2014/main" id="{78B440E4-B93E-4124-9162-D18F2D5FC6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0F7EA419-53BB-4085-8069-69D9A98EA3B2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2" name="Conector reto 31">
              <a:extLst>
                <a:ext uri="{FF2B5EF4-FFF2-40B4-BE49-F238E27FC236}">
                  <a16:creationId xmlns:a16="http://schemas.microsoft.com/office/drawing/2014/main" id="{E5979A07-C966-48C6-B8EE-EEC198DCC42B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to 32">
              <a:extLst>
                <a:ext uri="{FF2B5EF4-FFF2-40B4-BE49-F238E27FC236}">
                  <a16:creationId xmlns:a16="http://schemas.microsoft.com/office/drawing/2014/main" id="{4201B899-CDBD-46BF-BFDA-1985B633A5B1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Imagem 14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7FBFF99F-9C33-4E25-A1D1-09EE731A15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733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3413726B-29ED-4CCE-8E7F-B20E055900FF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D70C039E-8FB4-4B0B-857D-ADC78AC126DC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1798E300-A761-4340-BB54-5D9FCBE86E6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Espaço Reservado para Número de Slide 5">
            <a:extLst>
              <a:ext uri="{FF2B5EF4-FFF2-40B4-BE49-F238E27FC236}">
                <a16:creationId xmlns:a16="http://schemas.microsoft.com/office/drawing/2014/main" id="{6907561A-CC1F-43BC-BAB2-D921B1545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39BC0B5B-180D-4566-BC71-BEF4FE060F9D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8" name="Conector reto 27">
              <a:extLst>
                <a:ext uri="{FF2B5EF4-FFF2-40B4-BE49-F238E27FC236}">
                  <a16:creationId xmlns:a16="http://schemas.microsoft.com/office/drawing/2014/main" id="{BE409561-B6D0-424D-8FB9-D881B5B9C904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8C8CD70F-2F0C-42E6-BAD6-78DC7512509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860E0FC7-913A-49F3-9150-56A5CE5666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046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6BC66E6E-6288-477E-9B48-BB1F09936C59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4FCB9A90-A49A-40F3-84D1-965C0E566298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4A9AAC23-66EB-43EA-A9B8-3746F2FB651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Espaço Reservado para Número de Slide 5">
            <a:extLst>
              <a:ext uri="{FF2B5EF4-FFF2-40B4-BE49-F238E27FC236}">
                <a16:creationId xmlns:a16="http://schemas.microsoft.com/office/drawing/2014/main" id="{CD7F9A15-3E74-45DD-89B3-17B50D9C3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D981D004-AFF4-44D5-B08E-7187786B8398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7" name="Conector reto 26">
              <a:extLst>
                <a:ext uri="{FF2B5EF4-FFF2-40B4-BE49-F238E27FC236}">
                  <a16:creationId xmlns:a16="http://schemas.microsoft.com/office/drawing/2014/main" id="{8651FFB3-0508-414F-8EB8-11ED66AFCBDA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to 27">
              <a:extLst>
                <a:ext uri="{FF2B5EF4-FFF2-40B4-BE49-F238E27FC236}">
                  <a16:creationId xmlns:a16="http://schemas.microsoft.com/office/drawing/2014/main" id="{10C5DDB5-6BBD-4D49-B6DD-560E8070366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Imagem 9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3E412A2F-D452-4303-A8FE-A320209C5F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863B7304-D3E3-44B8-B186-01FDAC692F76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27327B8C-FB09-41D0-ACE5-68131E743196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1006F54D-9B89-44F7-BAFF-8E809F630F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A4BA843D-E6F2-4A11-BD02-76AAF8824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8FDB391C-BB53-4AC7-8005-EDF934826CC4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B2E00096-242A-4EA5-BD0F-2C5AD5C89743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48DEEC1B-AEF7-4C5D-B9E2-0FF689302D6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1C91CB67-8175-4CFB-9DD2-BBF4165110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111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B2AC046-02A9-43DC-993D-0509150F3610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9C982EB7-4ECE-40FF-8E3C-A6911C9CAD06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B14F083C-B1E6-4AD5-892E-2B0BCB0A33E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F4171601-B1A2-4724-882B-0FD9FC055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CE00638C-D7F8-4591-99DE-B8D04F3A8066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3145D146-7234-4FA1-8EBA-622EE1340297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4E3683D6-BC3E-44B2-ABC8-86AEA164C58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F3909B64-FDA9-463F-9DDC-E160E58D46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609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3610B525-5A9A-47AC-8BE0-7FA389539D91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84DDE5BF-9C81-4C7E-906A-1A3462FE0BA9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A573DE45-5C64-44AD-9130-B22A9F7E6A8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ED0E32D1-CD33-45E1-A41D-0ECCF14B3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ED6D8575-EC83-4B80-B5A7-25F22D5B1AB2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8461D1B9-55AC-48EB-A791-0D8CEE6AEE3D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5119D623-1617-400D-9EA3-870B7D910F7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82AC2369-94F0-4F65-A3AC-08763C67BC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45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Título Vertical 1">
            <a:extLst>
              <a:ext uri="{FF2B5EF4-FFF2-40B4-BE49-F238E27FC236}">
                <a16:creationId xmlns:a16="http://schemas.microsoft.com/office/drawing/2014/main" id="{435488B4-07BE-45F8-A08D-6998844833B4}"/>
              </a:ext>
            </a:extLst>
          </p:cNvPr>
          <p:cNvSpPr txBox="1">
            <a:spLocks/>
          </p:cNvSpPr>
          <p:nvPr userDrawn="1"/>
        </p:nvSpPr>
        <p:spPr>
          <a:xfrm>
            <a:off x="5943600" y="909637"/>
            <a:ext cx="2628900" cy="5811838"/>
          </a:xfrm>
          <a:prstGeom prst="rect">
            <a:avLst/>
          </a:prstGeom>
        </p:spPr>
        <p:txBody>
          <a:bodyPr vert="ea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36DD95DD-5473-47DF-896B-102132AA6C25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F0B38431-0FE0-4BB2-B82C-C9C68FB3247A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id="{BA8D6F62-C6FF-45CB-A864-91BE010C954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Espaço Reservado para Número de Slide 5">
            <a:extLst>
              <a:ext uri="{FF2B5EF4-FFF2-40B4-BE49-F238E27FC236}">
                <a16:creationId xmlns:a16="http://schemas.microsoft.com/office/drawing/2014/main" id="{C1894782-5F5B-4537-87DE-1E65CEBC5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DBD8E15B-0CBB-4249-986D-3B87F76795EA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6D7DE2CC-E16A-434E-B039-F4F0293F4353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id="{408E9506-BDE6-4902-B945-89533560252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2C724FA7-60F7-4824-813F-66D6438E67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740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2275066" y="365125"/>
            <a:ext cx="9285218" cy="6015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8861" y="1065888"/>
            <a:ext cx="11478684" cy="5512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667611C3-7981-41FD-9AB4-3BA9591ABAD7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1648A425-969A-4602-8324-6D36E5A7CACC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id="{6504C654-8D56-4391-A532-1862C20C9F2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Imagem 26" descr="Desenho com traços pretos em fundo branco e letras pretas&#10;&#10;Descrição gerada automaticamente com confiança média">
            <a:extLst>
              <a:ext uri="{FF2B5EF4-FFF2-40B4-BE49-F238E27FC236}">
                <a16:creationId xmlns:a16="http://schemas.microsoft.com/office/drawing/2014/main" id="{906352E9-AC76-4B0E-A1D3-81199EDB1CA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04704" cy="842055"/>
          </a:xfrm>
          <a:prstGeom prst="rect">
            <a:avLst/>
          </a:prstGeom>
        </p:spPr>
      </p:pic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7238D1BF-9E73-4848-935C-825FB8F12B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9DC435A9-3247-4320-8DDB-1AE628E9B7DE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BE88F8B2-B90D-40D9-B386-6FFAFAF36935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79769E09-F4F0-4CC2-AFC1-66B37F3B72D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81345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B906F05A-FF54-4CB9-9DF3-C368ECDCC2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1350963"/>
            <a:ext cx="9144000" cy="2387600"/>
          </a:xfrm>
        </p:spPr>
        <p:txBody>
          <a:bodyPr>
            <a:normAutofit/>
          </a:bodyPr>
          <a:lstStyle/>
          <a:p>
            <a:r>
              <a:rPr lang="pt-BR" b="1" dirty="0">
                <a:cs typeface="Times New Roman" panose="02020603050405020304" pitchFamily="18" charset="0"/>
              </a:rPr>
              <a:t>Dicionários em Python</a:t>
            </a:r>
            <a:br>
              <a:rPr lang="pt-BR" b="1" dirty="0">
                <a:cs typeface="Times New Roman" panose="02020603050405020304" pitchFamily="18" charset="0"/>
              </a:rPr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3159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EE0F18AD-AB9F-4427-983D-D5356293741F}"/>
              </a:ext>
            </a:extLst>
          </p:cNvPr>
          <p:cNvSpPr txBox="1"/>
          <p:nvPr/>
        </p:nvSpPr>
        <p:spPr>
          <a:xfrm>
            <a:off x="657496" y="488236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Variáveis de estrutura de dados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D872585-2DA2-4D56-9B07-E82FDFEAE8E5}"/>
              </a:ext>
            </a:extLst>
          </p:cNvPr>
          <p:cNvSpPr txBox="1"/>
          <p:nvPr/>
        </p:nvSpPr>
        <p:spPr>
          <a:xfrm>
            <a:off x="752498" y="1451317"/>
            <a:ext cx="10687003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/>
              <a:t>Em Python é possível compor estruturas de dados primitivas, e armazená-las em outras estruturas, chamadas de estruturas compostas.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3200" dirty="0"/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Listas </a:t>
            </a:r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Tuplas </a:t>
            </a:r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FF0000"/>
                </a:solidFill>
              </a:rPr>
              <a:t>Dicionários </a:t>
            </a:r>
          </a:p>
        </p:txBody>
      </p:sp>
    </p:spTree>
    <p:extLst>
      <p:ext uri="{BB962C8B-B14F-4D97-AF65-F5344CB8AC3E}">
        <p14:creationId xmlns:p14="http://schemas.microsoft.com/office/powerpoint/2010/main" val="3984078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Seja a tupla </a:t>
            </a:r>
            <a:r>
              <a:rPr lang="pt-BR" sz="2800" b="1" dirty="0"/>
              <a:t>entrada</a:t>
            </a:r>
            <a:r>
              <a:rPr lang="pt-BR" sz="2800" dirty="0"/>
              <a:t> = (1000, 2000, 5, 15000, 12, 1, 0.5, -2, 1000). Elabore um script Python que, usando a instrução for, determine a soma de todos os números de valor menor do que 100.</a:t>
            </a: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42A8491A-6988-A6CF-72EB-80CB538469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28" y="3207951"/>
            <a:ext cx="6958634" cy="234651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DB1405B-EC32-4C96-9E89-A2FF4A49E67D}"/>
              </a:ext>
            </a:extLst>
          </p:cNvPr>
          <p:cNvSpPr txBox="1"/>
          <p:nvPr/>
        </p:nvSpPr>
        <p:spPr>
          <a:xfrm>
            <a:off x="657497" y="476969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</a:t>
            </a:r>
          </a:p>
        </p:txBody>
      </p:sp>
    </p:spTree>
    <p:extLst>
      <p:ext uri="{BB962C8B-B14F-4D97-AF65-F5344CB8AC3E}">
        <p14:creationId xmlns:p14="http://schemas.microsoft.com/office/powerpoint/2010/main" val="353036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7AF67D-0A4C-48E1-918B-4AFA15EF0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658" y="1494840"/>
            <a:ext cx="11478684" cy="25157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200" dirty="0"/>
              <a:t>1) Elabore um script Python para criar uma tupla, adicionando os dias da semana:</a:t>
            </a:r>
          </a:p>
          <a:p>
            <a:pPr marL="0" indent="0">
              <a:buNone/>
            </a:pPr>
            <a:r>
              <a:rPr lang="pt-BR" sz="2200" dirty="0"/>
              <a:t>Dias da semana:  </a:t>
            </a:r>
            <a:r>
              <a:rPr lang="pt-BR" sz="2000" dirty="0">
                <a:solidFill>
                  <a:srgbClr val="FF0000"/>
                </a:solidFill>
              </a:rPr>
              <a:t>semana = ("Domingo", "Segunda", "Terça", "Quarta", "Quinta", "Sexta", "Sábado“)</a:t>
            </a:r>
          </a:p>
          <a:p>
            <a:pPr marL="0" indent="0">
              <a:buNone/>
            </a:pPr>
            <a:endParaRPr lang="pt-BR" sz="2200" dirty="0"/>
          </a:p>
          <a:p>
            <a:pPr marL="0" indent="0">
              <a:buNone/>
            </a:pPr>
            <a:r>
              <a:rPr lang="pt-BR" sz="2400" b="1" dirty="0">
                <a:effectLst/>
                <a:latin typeface="Consolas" panose="020B0609020204030204" pitchFamily="49" charset="0"/>
              </a:rPr>
              <a:t>semana =</a:t>
            </a:r>
            <a:r>
              <a:rPr lang="pt-BR" sz="2000" b="1" dirty="0">
                <a:effectLst/>
                <a:latin typeface="Consolas" panose="020B0609020204030204" pitchFamily="49" charset="0"/>
              </a:rPr>
              <a:t> ('</a:t>
            </a:r>
            <a:r>
              <a:rPr lang="pt-BR" sz="2000" b="1" dirty="0" err="1">
                <a:effectLst/>
                <a:latin typeface="Consolas" panose="020B0609020204030204" pitchFamily="49" charset="0"/>
              </a:rPr>
              <a:t>Domingo','Segunda','Terça','Quarta','Quinta','Sexta','Sábado</a:t>
            </a:r>
            <a:r>
              <a:rPr lang="pt-BR" sz="2000" b="1" dirty="0">
                <a:effectLst/>
                <a:latin typeface="Consolas" panose="020B0609020204030204" pitchFamily="49" charset="0"/>
              </a:rPr>
              <a:t>')</a:t>
            </a:r>
          </a:p>
          <a:p>
            <a:pPr marL="0" indent="0">
              <a:buNone/>
            </a:pPr>
            <a:r>
              <a:rPr lang="pt-BR" sz="2400" b="1" dirty="0">
                <a:effectLst/>
                <a:latin typeface="Consolas" panose="020B0609020204030204" pitchFamily="49" charset="0"/>
              </a:rPr>
              <a:t>print ("Tupla criada: ",semana)</a:t>
            </a:r>
          </a:p>
          <a:p>
            <a:pPr marL="0" indent="0">
              <a:buNone/>
            </a:pPr>
            <a:endParaRPr lang="pt-BR" sz="2200" dirty="0"/>
          </a:p>
          <a:p>
            <a:pPr marL="0" indent="0">
              <a:buNone/>
            </a:pPr>
            <a:endParaRPr lang="pt-BR" sz="22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348CD7-393D-490A-ADB8-2B867DF04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4</a:t>
            </a:fld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FECE453-FBF4-4269-9111-3D64DE056D71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</a:t>
            </a:r>
          </a:p>
        </p:txBody>
      </p:sp>
    </p:spTree>
    <p:extLst>
      <p:ext uri="{BB962C8B-B14F-4D97-AF65-F5344CB8AC3E}">
        <p14:creationId xmlns:p14="http://schemas.microsoft.com/office/powerpoint/2010/main" val="2775441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7AF67D-0A4C-48E1-918B-4AFA15EF0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116" y="695467"/>
            <a:ext cx="11478684" cy="25157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200" dirty="0"/>
              <a:t>2) Elabore um script Python para criar duas tuplas A e B com valores numéricos, após criar uma nova tupla  C com os valores da união das tuplas A e B</a:t>
            </a:r>
          </a:p>
          <a:p>
            <a:pPr marL="0" indent="0">
              <a:buNone/>
            </a:pPr>
            <a:endParaRPr lang="pt-BR" sz="22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348CD7-393D-490A-ADB8-2B867DF04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5</a:t>
            </a:fld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FECE453-FBF4-4269-9111-3D64DE056D71}"/>
              </a:ext>
            </a:extLst>
          </p:cNvPr>
          <p:cNvSpPr txBox="1"/>
          <p:nvPr/>
        </p:nvSpPr>
        <p:spPr>
          <a:xfrm>
            <a:off x="745245" y="18597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0A88D3F-4BF8-4903-9EB6-05ED53F2B360}"/>
              </a:ext>
            </a:extLst>
          </p:cNvPr>
          <p:cNvSpPr txBox="1"/>
          <p:nvPr/>
        </p:nvSpPr>
        <p:spPr>
          <a:xfrm>
            <a:off x="637116" y="1568450"/>
            <a:ext cx="890016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 err="1">
                <a:effectLst/>
                <a:latin typeface="Consolas" panose="020B0609020204030204" pitchFamily="49" charset="0"/>
              </a:rPr>
              <a:t>tuplaA</a:t>
            </a:r>
            <a:r>
              <a:rPr lang="pt-BR" b="1" dirty="0">
                <a:effectLst/>
                <a:latin typeface="Consolas" panose="020B0609020204030204" pitchFamily="49" charset="0"/>
              </a:rPr>
              <a:t> = ()</a:t>
            </a:r>
          </a:p>
          <a:p>
            <a:r>
              <a:rPr lang="pt-BR" b="1" dirty="0" err="1">
                <a:effectLst/>
                <a:latin typeface="Consolas" panose="020B0609020204030204" pitchFamily="49" charset="0"/>
              </a:rPr>
              <a:t>tuplaB</a:t>
            </a:r>
            <a:r>
              <a:rPr lang="pt-BR" b="1" dirty="0">
                <a:effectLst/>
                <a:latin typeface="Consolas" panose="020B0609020204030204" pitchFamily="49" charset="0"/>
              </a:rPr>
              <a:t> = ()</a:t>
            </a:r>
          </a:p>
          <a:p>
            <a:r>
              <a:rPr lang="pt-BR" b="1" dirty="0" err="1">
                <a:effectLst/>
                <a:latin typeface="Consolas" panose="020B0609020204030204" pitchFamily="49" charset="0"/>
              </a:rPr>
              <a:t>tuplaC</a:t>
            </a:r>
            <a:r>
              <a:rPr lang="pt-BR" b="1" dirty="0">
                <a:effectLst/>
                <a:latin typeface="Consolas" panose="020B0609020204030204" pitchFamily="49" charset="0"/>
              </a:rPr>
              <a:t> = ()</a:t>
            </a:r>
          </a:p>
          <a:p>
            <a:br>
              <a:rPr lang="pt-BR" b="1" dirty="0">
                <a:effectLst/>
                <a:latin typeface="Consolas" panose="020B0609020204030204" pitchFamily="49" charset="0"/>
              </a:rPr>
            </a:br>
            <a:r>
              <a:rPr lang="pt-BR" b="1" dirty="0">
                <a:effectLst/>
                <a:latin typeface="Consolas" panose="020B0609020204030204" pitchFamily="49" charset="0"/>
              </a:rPr>
              <a:t>n1 =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int</a:t>
            </a:r>
            <a:r>
              <a:rPr lang="pt-BR" b="1" dirty="0">
                <a:effectLst/>
                <a:latin typeface="Consolas" panose="020B0609020204030204" pitchFamily="49" charset="0"/>
              </a:rPr>
              <a:t>(input("Digite nr elementos tupla A: "))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for contador in range(n1):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    valor =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int</a:t>
            </a:r>
            <a:r>
              <a:rPr lang="pt-BR" b="1" dirty="0">
                <a:effectLst/>
                <a:latin typeface="Consolas" panose="020B0609020204030204" pitchFamily="49" charset="0"/>
              </a:rPr>
              <a:t>(input("Digite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numeros</a:t>
            </a:r>
            <a:r>
              <a:rPr lang="pt-BR" b="1" dirty="0">
                <a:effectLst/>
                <a:latin typeface="Consolas" panose="020B0609020204030204" pitchFamily="49" charset="0"/>
              </a:rPr>
              <a:t> tupla A: "))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   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tuplaA</a:t>
            </a:r>
            <a:r>
              <a:rPr lang="pt-BR" b="1" dirty="0">
                <a:effectLst/>
                <a:latin typeface="Consolas" panose="020B0609020204030204" pitchFamily="49" charset="0"/>
              </a:rPr>
              <a:t> =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tuplaA</a:t>
            </a:r>
            <a:r>
              <a:rPr lang="pt-BR" b="1" dirty="0">
                <a:effectLst/>
                <a:latin typeface="Consolas" panose="020B0609020204030204" pitchFamily="49" charset="0"/>
              </a:rPr>
              <a:t> +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tuple</a:t>
            </a:r>
            <a:r>
              <a:rPr lang="pt-BR" b="1" dirty="0">
                <a:effectLst/>
                <a:latin typeface="Consolas" panose="020B0609020204030204" pitchFamily="49" charset="0"/>
              </a:rPr>
              <a:t>([valor])</a:t>
            </a:r>
          </a:p>
          <a:p>
            <a:br>
              <a:rPr lang="pt-BR" b="1" dirty="0">
                <a:effectLst/>
                <a:latin typeface="Consolas" panose="020B0609020204030204" pitchFamily="49" charset="0"/>
              </a:rPr>
            </a:br>
            <a:r>
              <a:rPr lang="pt-BR" b="1" dirty="0">
                <a:effectLst/>
                <a:latin typeface="Consolas" panose="020B0609020204030204" pitchFamily="49" charset="0"/>
              </a:rPr>
              <a:t>n2 =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int</a:t>
            </a:r>
            <a:r>
              <a:rPr lang="pt-BR" b="1" dirty="0">
                <a:effectLst/>
                <a:latin typeface="Consolas" panose="020B0609020204030204" pitchFamily="49" charset="0"/>
              </a:rPr>
              <a:t>(input("Digite nr elementos tupla B: "))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for contador in range(n2):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    valor =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int</a:t>
            </a:r>
            <a:r>
              <a:rPr lang="pt-BR" b="1" dirty="0">
                <a:effectLst/>
                <a:latin typeface="Consolas" panose="020B0609020204030204" pitchFamily="49" charset="0"/>
              </a:rPr>
              <a:t>(input("Digite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numeros</a:t>
            </a:r>
            <a:r>
              <a:rPr lang="pt-BR" b="1" dirty="0">
                <a:effectLst/>
                <a:latin typeface="Consolas" panose="020B0609020204030204" pitchFamily="49" charset="0"/>
              </a:rPr>
              <a:t> tupla B: "))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   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tuplaB</a:t>
            </a:r>
            <a:r>
              <a:rPr lang="pt-BR" b="1" dirty="0">
                <a:effectLst/>
                <a:latin typeface="Consolas" panose="020B0609020204030204" pitchFamily="49" charset="0"/>
              </a:rPr>
              <a:t> =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tuplaB</a:t>
            </a:r>
            <a:r>
              <a:rPr lang="pt-BR" b="1" dirty="0">
                <a:effectLst/>
                <a:latin typeface="Consolas" panose="020B0609020204030204" pitchFamily="49" charset="0"/>
              </a:rPr>
              <a:t> +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tuple</a:t>
            </a:r>
            <a:r>
              <a:rPr lang="pt-BR" b="1" dirty="0">
                <a:effectLst/>
                <a:latin typeface="Consolas" panose="020B0609020204030204" pitchFamily="49" charset="0"/>
              </a:rPr>
              <a:t>([valor])</a:t>
            </a:r>
          </a:p>
          <a:p>
            <a:br>
              <a:rPr lang="pt-BR" b="1" dirty="0">
                <a:effectLst/>
                <a:latin typeface="Consolas" panose="020B0609020204030204" pitchFamily="49" charset="0"/>
              </a:rPr>
            </a:br>
            <a:r>
              <a:rPr lang="pt-BR" b="1" dirty="0" err="1">
                <a:effectLst/>
                <a:latin typeface="Consolas" panose="020B0609020204030204" pitchFamily="49" charset="0"/>
              </a:rPr>
              <a:t>tuplaC</a:t>
            </a:r>
            <a:r>
              <a:rPr lang="pt-BR" b="1" dirty="0">
                <a:effectLst/>
                <a:latin typeface="Consolas" panose="020B0609020204030204" pitchFamily="49" charset="0"/>
              </a:rPr>
              <a:t> =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tuplaA</a:t>
            </a:r>
            <a:r>
              <a:rPr lang="pt-BR" b="1" dirty="0">
                <a:effectLst/>
                <a:latin typeface="Consolas" panose="020B0609020204030204" pitchFamily="49" charset="0"/>
              </a:rPr>
              <a:t> +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tuplaB</a:t>
            </a:r>
            <a:endParaRPr lang="pt-BR" b="1" dirty="0">
              <a:effectLst/>
              <a:latin typeface="Consolas" panose="020B0609020204030204" pitchFamily="49" charset="0"/>
            </a:endParaRP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print (“Elementos Tupla A: ",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tuplaA</a:t>
            </a:r>
            <a:r>
              <a:rPr lang="pt-BR" b="1" dirty="0"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print ("Elementos Tupla B: ",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tuplaB</a:t>
            </a:r>
            <a:r>
              <a:rPr lang="pt-BR" b="1" dirty="0"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print ("Elementos Tupla C: ",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tuplaC</a:t>
            </a:r>
            <a:r>
              <a:rPr lang="pt-BR" b="1" dirty="0"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8009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Dicionários em Python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1023257" y="1153749"/>
            <a:ext cx="106870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Dicionário é um </a:t>
            </a:r>
            <a:r>
              <a:rPr lang="pt-BR" sz="2800" dirty="0">
                <a:solidFill>
                  <a:srgbClr val="FF0000"/>
                </a:solidFill>
              </a:rPr>
              <a:t>conjunto de valores</a:t>
            </a:r>
            <a:r>
              <a:rPr lang="pt-BR" sz="2800" dirty="0"/>
              <a:t>, onde cada valor é associado a uma </a:t>
            </a:r>
            <a:r>
              <a:rPr lang="pt-BR" sz="2800" dirty="0">
                <a:solidFill>
                  <a:srgbClr val="FF0000"/>
                </a:solidFill>
              </a:rPr>
              <a:t>chave de acesso única</a:t>
            </a:r>
            <a:r>
              <a:rPr lang="pt-BR" sz="2800" dirty="0"/>
              <a:t>. A chave precisa ser de um tipo imutável, geralmente são usadas </a:t>
            </a:r>
            <a:r>
              <a:rPr lang="pt-BR" sz="2800" dirty="0" err="1"/>
              <a:t>strings</a:t>
            </a:r>
            <a:r>
              <a:rPr lang="pt-BR" sz="2800" dirty="0"/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/>
            <a:r>
              <a:rPr lang="pt-BR" sz="2800" dirty="0"/>
              <a:t>Listas e </a:t>
            </a:r>
            <a:r>
              <a:rPr lang="pt-BR" sz="2800" dirty="0" err="1"/>
              <a:t>tuplas</a:t>
            </a:r>
            <a:r>
              <a:rPr lang="pt-BR" sz="2800" dirty="0"/>
              <a:t> são indexadas pela ordem dos elementos, isto é, são ordenadas. Já os dicionários, não são.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/>
            <a:r>
              <a:rPr lang="pt-BR" sz="2800" dirty="0"/>
              <a:t>Nos dicionários, cada elemento recebe uma </a:t>
            </a:r>
            <a:r>
              <a:rPr lang="pt-BR" sz="2800" dirty="0">
                <a:solidFill>
                  <a:srgbClr val="FF0000"/>
                </a:solidFill>
              </a:rPr>
              <a:t>etiqueta</a:t>
            </a:r>
            <a:r>
              <a:rPr lang="pt-BR" sz="2800" dirty="0"/>
              <a:t>. Além disso, são </a:t>
            </a:r>
            <a:r>
              <a:rPr lang="pt-BR" sz="2800" dirty="0">
                <a:solidFill>
                  <a:srgbClr val="FF0000"/>
                </a:solidFill>
              </a:rPr>
              <a:t>mutáveis</a:t>
            </a:r>
            <a:r>
              <a:rPr lang="pt-BR" sz="2800" dirty="0"/>
              <a:t> e </a:t>
            </a:r>
            <a:r>
              <a:rPr lang="pt-BR" sz="2800" dirty="0">
                <a:solidFill>
                  <a:srgbClr val="FF0000"/>
                </a:solidFill>
              </a:rPr>
              <a:t>heterogêneas</a:t>
            </a:r>
            <a:r>
              <a:rPr lang="pt-BR" sz="2800" dirty="0"/>
              <a:t>. </a:t>
            </a:r>
          </a:p>
        </p:txBody>
      </p:sp>
      <p:pic>
        <p:nvPicPr>
          <p:cNvPr id="4098" name="Picture 2" descr="Dicionários e Arquivos Python — Treinamento de Python 2017.08.0001">
            <a:extLst>
              <a:ext uri="{FF2B5EF4-FFF2-40B4-BE49-F238E27FC236}">
                <a16:creationId xmlns:a16="http://schemas.microsoft.com/office/drawing/2014/main" id="{701D17DF-6431-43FD-AB80-FAFF27619D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6758" y="4559968"/>
            <a:ext cx="4442084" cy="1956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1055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Declaração de Dicionários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773340" y="2174694"/>
            <a:ext cx="1093691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7"/>
            <a:r>
              <a:rPr lang="pt-BR" sz="2800" dirty="0" err="1"/>
              <a:t>nome_dicionário</a:t>
            </a:r>
            <a:r>
              <a:rPr lang="pt-BR" sz="2800" dirty="0"/>
              <a:t> = { 	&lt;chave1&gt; : valor1,</a:t>
            </a:r>
          </a:p>
          <a:p>
            <a:pPr lvl="7"/>
            <a:r>
              <a:rPr lang="pt-BR" sz="2800" dirty="0"/>
              <a:t>				&lt;chave2&gt; : valor2,</a:t>
            </a:r>
          </a:p>
          <a:p>
            <a:pPr lvl="7"/>
            <a:r>
              <a:rPr lang="pt-BR" sz="2800" dirty="0"/>
              <a:t>				&lt;chave3&gt; : valor3,</a:t>
            </a:r>
          </a:p>
          <a:p>
            <a:pPr lvl="7"/>
            <a:r>
              <a:rPr lang="pt-BR" sz="2800" dirty="0"/>
              <a:t>				&lt;</a:t>
            </a:r>
            <a:r>
              <a:rPr lang="pt-BR" sz="2800" dirty="0" err="1"/>
              <a:t>chaveN</a:t>
            </a:r>
            <a:r>
              <a:rPr lang="pt-BR" sz="2800" dirty="0"/>
              <a:t>&gt; : </a:t>
            </a:r>
            <a:r>
              <a:rPr lang="pt-BR" sz="2800" dirty="0" err="1"/>
              <a:t>valorn</a:t>
            </a:r>
            <a:r>
              <a:rPr lang="pt-BR" sz="2800" dirty="0"/>
              <a:t>}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1118258" y="1365838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Um dicionário em Python é declarado com chaves da seguinte forma: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FC4A16-54E3-F4AF-C9A1-6D13E2A8FB5E}"/>
              </a:ext>
            </a:extLst>
          </p:cNvPr>
          <p:cNvSpPr txBox="1"/>
          <p:nvPr/>
        </p:nvSpPr>
        <p:spPr>
          <a:xfrm>
            <a:off x="1023257" y="4583109"/>
            <a:ext cx="609858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&lt;dicionário&gt; = {}</a:t>
            </a:r>
          </a:p>
          <a:p>
            <a:r>
              <a:rPr lang="pt-BR" sz="2800" dirty="0"/>
              <a:t>&lt;dicionário&gt;[&lt;chave1&gt;] = &lt;valor1&gt;</a:t>
            </a:r>
          </a:p>
          <a:p>
            <a:r>
              <a:rPr lang="pt-BR" sz="2800" dirty="0"/>
              <a:t>&lt;dicionário&gt;[&lt;chave2&gt;] = &lt;valor2&gt;</a:t>
            </a:r>
          </a:p>
          <a:p>
            <a:r>
              <a:rPr lang="pt-BR" sz="2800" dirty="0"/>
              <a:t>&lt;dicionário&gt;[&lt;</a:t>
            </a:r>
            <a:r>
              <a:rPr lang="pt-BR" sz="2800" dirty="0" err="1"/>
              <a:t>chaveN</a:t>
            </a:r>
            <a:r>
              <a:rPr lang="pt-BR" sz="2800" dirty="0"/>
              <a:t>&gt;] = &lt;</a:t>
            </a:r>
            <a:r>
              <a:rPr lang="pt-BR" sz="2800" dirty="0" err="1"/>
              <a:t>valorN</a:t>
            </a:r>
            <a:r>
              <a:rPr lang="pt-BR" sz="2800" dirty="0"/>
              <a:t>&gt;</a:t>
            </a:r>
          </a:p>
        </p:txBody>
      </p:sp>
      <p:sp>
        <p:nvSpPr>
          <p:cNvPr id="4" name="CaixaDeTexto 12">
            <a:extLst>
              <a:ext uri="{FF2B5EF4-FFF2-40B4-BE49-F238E27FC236}">
                <a16:creationId xmlns:a16="http://schemas.microsoft.com/office/drawing/2014/main" id="{B8BA5A1B-7081-663E-3547-8EAEF5D1AC99}"/>
              </a:ext>
            </a:extLst>
          </p:cNvPr>
          <p:cNvSpPr txBox="1"/>
          <p:nvPr/>
        </p:nvSpPr>
        <p:spPr>
          <a:xfrm>
            <a:off x="1023256" y="3775365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Ou</a:t>
            </a:r>
          </a:p>
        </p:txBody>
      </p:sp>
    </p:spTree>
    <p:extLst>
      <p:ext uri="{BB962C8B-B14F-4D97-AF65-F5344CB8AC3E}">
        <p14:creationId xmlns:p14="http://schemas.microsoft.com/office/powerpoint/2010/main" val="3336261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Exemplo de Dicionário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627539" y="1532529"/>
            <a:ext cx="109369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O dicionário do Python não fornece garantia de que as chaves estarão ordenadas.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AD60B3C-A5FF-48D3-8DEB-95C042D3D5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17" b="21562"/>
          <a:stretch/>
        </p:blipFill>
        <p:spPr>
          <a:xfrm>
            <a:off x="627539" y="2666357"/>
            <a:ext cx="10192049" cy="170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372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Exemplo de Dicionário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627539" y="1532529"/>
            <a:ext cx="10936919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Criando o dicionário com produtos (codigo e nome): </a:t>
            </a:r>
          </a:p>
          <a:p>
            <a:endParaRPr lang="pt-BR" sz="2000" b="0" dirty="0">
              <a:effectLst/>
              <a:latin typeface="Consolas" panose="020B0609020204030204" pitchFamily="49" charset="0"/>
            </a:endParaRPr>
          </a:p>
          <a:p>
            <a:r>
              <a:rPr lang="pt-BR" sz="2000" b="1" dirty="0">
                <a:effectLst/>
                <a:latin typeface="Consolas" panose="020B0609020204030204" pitchFamily="49" charset="0"/>
              </a:rPr>
              <a:t>estoque = {}</a:t>
            </a:r>
          </a:p>
          <a:p>
            <a:r>
              <a:rPr lang="pt-BR" sz="2000" b="1" dirty="0">
                <a:effectLst/>
                <a:latin typeface="Consolas" panose="020B0609020204030204" pitchFamily="49" charset="0"/>
              </a:rPr>
              <a:t>n = </a:t>
            </a:r>
            <a:r>
              <a:rPr lang="pt-BR" sz="2000" b="1" dirty="0" err="1">
                <a:effectLst/>
                <a:latin typeface="Consolas" panose="020B0609020204030204" pitchFamily="49" charset="0"/>
              </a:rPr>
              <a:t>int</a:t>
            </a:r>
            <a:r>
              <a:rPr lang="pt-BR" sz="2000" b="1" dirty="0">
                <a:effectLst/>
                <a:latin typeface="Consolas" panose="020B0609020204030204" pitchFamily="49" charset="0"/>
              </a:rPr>
              <a:t>(input("Quantos produtos deseja cadastrar? "))</a:t>
            </a:r>
          </a:p>
          <a:p>
            <a:br>
              <a:rPr lang="pt-BR" sz="2000" b="1" dirty="0">
                <a:effectLst/>
                <a:latin typeface="Consolas" panose="020B0609020204030204" pitchFamily="49" charset="0"/>
              </a:rPr>
            </a:br>
            <a:r>
              <a:rPr lang="pt-BR" sz="2000" b="1" dirty="0">
                <a:effectLst/>
                <a:latin typeface="Consolas" panose="020B0609020204030204" pitchFamily="49" charset="0"/>
              </a:rPr>
              <a:t>for i in range(n):</a:t>
            </a:r>
          </a:p>
          <a:p>
            <a:r>
              <a:rPr lang="pt-BR" sz="2000" b="1" dirty="0">
                <a:effectLst/>
                <a:latin typeface="Consolas" panose="020B0609020204030204" pitchFamily="49" charset="0"/>
              </a:rPr>
              <a:t>    codigo = </a:t>
            </a:r>
            <a:r>
              <a:rPr lang="pt-BR" sz="2000" b="1" dirty="0" err="1">
                <a:effectLst/>
                <a:latin typeface="Consolas" panose="020B0609020204030204" pitchFamily="49" charset="0"/>
              </a:rPr>
              <a:t>int</a:t>
            </a:r>
            <a:r>
              <a:rPr lang="pt-BR" sz="2000" b="1" dirty="0">
                <a:effectLst/>
                <a:latin typeface="Consolas" panose="020B0609020204030204" pitchFamily="49" charset="0"/>
              </a:rPr>
              <a:t>(input("Digite codigo produto: "))</a:t>
            </a:r>
          </a:p>
          <a:p>
            <a:r>
              <a:rPr lang="pt-BR" sz="2000" b="1" dirty="0">
                <a:effectLst/>
                <a:latin typeface="Consolas" panose="020B0609020204030204" pitchFamily="49" charset="0"/>
              </a:rPr>
              <a:t>    nome   = input("digite nome produto: ")</a:t>
            </a:r>
          </a:p>
          <a:p>
            <a:r>
              <a:rPr lang="pt-BR" sz="2000" b="1" dirty="0">
                <a:effectLst/>
                <a:latin typeface="Consolas" panose="020B0609020204030204" pitchFamily="49" charset="0"/>
              </a:rPr>
              <a:t>    estoque[codigo] = nome</a:t>
            </a:r>
          </a:p>
          <a:p>
            <a:r>
              <a:rPr lang="pt-BR" sz="2000" b="1" dirty="0">
                <a:effectLst/>
                <a:latin typeface="Consolas" panose="020B0609020204030204" pitchFamily="49" charset="0"/>
              </a:rPr>
              <a:t>      </a:t>
            </a:r>
          </a:p>
          <a:p>
            <a:r>
              <a:rPr lang="pt-BR" sz="2000" b="1" dirty="0">
                <a:effectLst/>
                <a:latin typeface="Consolas" panose="020B0609020204030204" pitchFamily="49" charset="0"/>
              </a:rPr>
              <a:t>print ("Lista de produtos cadastrados:", estoque)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431490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Exemplo de Dicionário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627539" y="1532529"/>
            <a:ext cx="109369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Criando o dicionário com produtos (nome e telefone): </a:t>
            </a:r>
          </a:p>
          <a:p>
            <a:endParaRPr lang="pt-BR" sz="20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ECC6985-37F7-4391-AEB4-4B7F4C0AA48D}"/>
              </a:ext>
            </a:extLst>
          </p:cNvPr>
          <p:cNvSpPr txBox="1"/>
          <p:nvPr/>
        </p:nvSpPr>
        <p:spPr>
          <a:xfrm>
            <a:off x="734219" y="2621576"/>
            <a:ext cx="805926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effectLst/>
                <a:latin typeface="Consolas" panose="020B0609020204030204" pitchFamily="49" charset="0"/>
              </a:rPr>
              <a:t>contatos = {}</a:t>
            </a:r>
          </a:p>
          <a:p>
            <a:r>
              <a:rPr lang="pt-BR" sz="2000" b="1" dirty="0">
                <a:effectLst/>
                <a:latin typeface="Consolas" panose="020B0609020204030204" pitchFamily="49" charset="0"/>
              </a:rPr>
              <a:t>n = </a:t>
            </a:r>
            <a:r>
              <a:rPr lang="pt-BR" sz="2000" b="1" dirty="0" err="1">
                <a:effectLst/>
                <a:latin typeface="Consolas" panose="020B0609020204030204" pitchFamily="49" charset="0"/>
              </a:rPr>
              <a:t>int</a:t>
            </a:r>
            <a:r>
              <a:rPr lang="pt-BR" sz="2000" b="1" dirty="0">
                <a:effectLst/>
                <a:latin typeface="Consolas" panose="020B0609020204030204" pitchFamily="49" charset="0"/>
              </a:rPr>
              <a:t>(input("Quantos nomes deseja cadastrar? "))</a:t>
            </a:r>
          </a:p>
          <a:p>
            <a:br>
              <a:rPr lang="pt-BR" sz="2000" b="1" dirty="0">
                <a:effectLst/>
                <a:latin typeface="Consolas" panose="020B0609020204030204" pitchFamily="49" charset="0"/>
              </a:rPr>
            </a:br>
            <a:r>
              <a:rPr lang="pt-BR" sz="2000" b="1" dirty="0">
                <a:effectLst/>
                <a:latin typeface="Consolas" panose="020B0609020204030204" pitchFamily="49" charset="0"/>
              </a:rPr>
              <a:t>for i in range(n):</a:t>
            </a:r>
          </a:p>
          <a:p>
            <a:r>
              <a:rPr lang="pt-BR" sz="2000" b="1" dirty="0">
                <a:effectLst/>
                <a:latin typeface="Consolas" panose="020B0609020204030204" pitchFamily="49" charset="0"/>
              </a:rPr>
              <a:t>    nome   = input("digite nome pessoa: ")</a:t>
            </a:r>
          </a:p>
          <a:p>
            <a:r>
              <a:rPr lang="pt-BR" sz="2000" b="1" dirty="0">
                <a:effectLst/>
                <a:latin typeface="Consolas" panose="020B0609020204030204" pitchFamily="49" charset="0"/>
              </a:rPr>
              <a:t>    telefone = </a:t>
            </a:r>
            <a:r>
              <a:rPr lang="pt-BR" sz="2000" b="1" dirty="0" err="1">
                <a:effectLst/>
                <a:latin typeface="Consolas" panose="020B0609020204030204" pitchFamily="49" charset="0"/>
              </a:rPr>
              <a:t>int</a:t>
            </a:r>
            <a:r>
              <a:rPr lang="pt-BR" sz="2000" b="1" dirty="0">
                <a:effectLst/>
                <a:latin typeface="Consolas" panose="020B0609020204030204" pitchFamily="49" charset="0"/>
              </a:rPr>
              <a:t>(input("Digite telefone pessoa: "))</a:t>
            </a:r>
          </a:p>
          <a:p>
            <a:r>
              <a:rPr lang="pt-BR" sz="2000" b="1" dirty="0">
                <a:effectLst/>
                <a:latin typeface="Consolas" panose="020B0609020204030204" pitchFamily="49" charset="0"/>
              </a:rPr>
              <a:t>    contatos[nome] = telefone</a:t>
            </a:r>
          </a:p>
          <a:p>
            <a:r>
              <a:rPr lang="pt-BR" sz="2000" b="1" dirty="0">
                <a:effectLst/>
                <a:latin typeface="Consolas" panose="020B0609020204030204" pitchFamily="49" charset="0"/>
              </a:rPr>
              <a:t>     </a:t>
            </a:r>
          </a:p>
          <a:p>
            <a:r>
              <a:rPr lang="pt-BR" sz="2000" b="1" dirty="0">
                <a:effectLst/>
                <a:latin typeface="Consolas" panose="020B0609020204030204" pitchFamily="49" charset="0"/>
              </a:rPr>
              <a:t>print ("Lista de contatos : ", contatos)</a:t>
            </a:r>
          </a:p>
        </p:txBody>
      </p:sp>
    </p:spTree>
    <p:extLst>
      <p:ext uri="{BB962C8B-B14F-4D97-AF65-F5344CB8AC3E}">
        <p14:creationId xmlns:p14="http://schemas.microsoft.com/office/powerpoint/2010/main" val="1591173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Exemplo de Dicionário (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get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)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627539" y="1532529"/>
            <a:ext cx="1093691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Uma outra maneira de acessar os elementos de um dicionário é usando o método </a:t>
            </a:r>
            <a:r>
              <a:rPr lang="pt-BR" sz="2800" b="1" dirty="0" err="1"/>
              <a:t>get</a:t>
            </a:r>
            <a:r>
              <a:rPr lang="pt-BR" sz="2800" b="1" dirty="0"/>
              <a:t>()</a:t>
            </a:r>
            <a:r>
              <a:rPr lang="pt-BR" sz="2800" dirty="0"/>
              <a:t>, cuja sintaxe é a seguinte:</a:t>
            </a:r>
          </a:p>
          <a:p>
            <a:endParaRPr lang="pt-BR" sz="2800" dirty="0"/>
          </a:p>
          <a:p>
            <a:r>
              <a:rPr lang="pt-BR" sz="2800" dirty="0"/>
              <a:t>	&lt;dicionário&gt;.</a:t>
            </a:r>
            <a:r>
              <a:rPr lang="pt-BR" sz="2800" b="1" dirty="0" err="1"/>
              <a:t>get</a:t>
            </a:r>
            <a:r>
              <a:rPr lang="pt-BR" sz="2800" b="1" dirty="0"/>
              <a:t>(</a:t>
            </a:r>
            <a:r>
              <a:rPr lang="pt-BR" sz="2800" dirty="0"/>
              <a:t>&lt;chave&gt;</a:t>
            </a:r>
            <a:r>
              <a:rPr lang="pt-BR" sz="2800" b="1" dirty="0"/>
              <a:t>)</a:t>
            </a:r>
          </a:p>
        </p:txBody>
      </p:sp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2D808E9C-0EF1-4D22-2E9B-5482CFFBAB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25" y="3928669"/>
            <a:ext cx="10161602" cy="181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02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Atualização em Dicionários (Atribuição)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solidFill>
                  <a:srgbClr val="000000"/>
                </a:solidFill>
              </a:rPr>
              <a:t>Inserindo e alterando um elemento de um dicionário.</a:t>
            </a:r>
            <a:endParaRPr lang="pt-BR" sz="28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46CE17B-5A31-4B55-B185-84B85CBF2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521" y="2475272"/>
            <a:ext cx="7903876" cy="88577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622E9C7-53E9-4E8C-99E0-73D797B223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7521" y="3744147"/>
            <a:ext cx="8125318" cy="987984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E369E6CD-FFEE-455B-82E9-943FD3A5EE2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8929"/>
          <a:stretch/>
        </p:blipFill>
        <p:spPr>
          <a:xfrm>
            <a:off x="2227521" y="5013022"/>
            <a:ext cx="7871472" cy="89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812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Atualização em Dicionários (update)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solidFill>
                  <a:srgbClr val="000000"/>
                </a:solidFill>
              </a:rPr>
              <a:t>Para incluir ou alterar elemento(s) em um dicionário, utiliza-se o método </a:t>
            </a:r>
            <a:r>
              <a:rPr lang="pt-BR" sz="2800" b="1" dirty="0">
                <a:solidFill>
                  <a:srgbClr val="000000"/>
                </a:solidFill>
              </a:rPr>
              <a:t>update()</a:t>
            </a:r>
            <a:r>
              <a:rPr lang="pt-BR" sz="2800" dirty="0">
                <a:solidFill>
                  <a:srgbClr val="000000"/>
                </a:solidFill>
              </a:rPr>
              <a:t>. Quando a chave já existe no dicionário, o valor associado a ela é alterado. Quando não, a chave e o valor são inseridos no dicionário.</a:t>
            </a: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r>
              <a:rPr lang="pt-BR" sz="2800" dirty="0">
                <a:solidFill>
                  <a:srgbClr val="000000"/>
                </a:solidFill>
              </a:rPr>
              <a:t>A sintaxe básica é a seguinte:</a:t>
            </a: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r>
              <a:rPr lang="pt-BR" sz="2800" dirty="0">
                <a:solidFill>
                  <a:srgbClr val="000000"/>
                </a:solidFill>
              </a:rPr>
              <a:t>	&lt;dicionário&gt;.</a:t>
            </a:r>
            <a:r>
              <a:rPr lang="pt-BR" sz="2800" b="1" dirty="0">
                <a:solidFill>
                  <a:srgbClr val="000000"/>
                </a:solidFill>
              </a:rPr>
              <a:t>update</a:t>
            </a:r>
            <a:r>
              <a:rPr lang="pt-BR" sz="2800" dirty="0">
                <a:solidFill>
                  <a:srgbClr val="000000"/>
                </a:solidFill>
              </a:rPr>
              <a:t>({&lt;chave&gt;: &lt;valor&gt;})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183518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Atualização em Dicionários (update)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solidFill>
                  <a:srgbClr val="000000"/>
                </a:solidFill>
              </a:rPr>
              <a:t>Quando a chave já existe no dicionário, o valor associado a ela é alterado. Quando não, a chave e o valor são inseridos no dicionário.</a:t>
            </a: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82E8589E-E2B1-67A0-101A-DF2941AEEA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28" y="3429000"/>
            <a:ext cx="10522343" cy="202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985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Tamanho do Dicionário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solidFill>
                  <a:srgbClr val="000000"/>
                </a:solidFill>
              </a:rPr>
              <a:t>A função </a:t>
            </a:r>
            <a:r>
              <a:rPr lang="pt-BR" sz="2800" b="1" dirty="0" err="1">
                <a:solidFill>
                  <a:srgbClr val="000000"/>
                </a:solidFill>
              </a:rPr>
              <a:t>len</a:t>
            </a:r>
            <a:r>
              <a:rPr lang="pt-BR" sz="2800" b="1" dirty="0">
                <a:solidFill>
                  <a:srgbClr val="000000"/>
                </a:solidFill>
              </a:rPr>
              <a:t>()</a:t>
            </a:r>
            <a:r>
              <a:rPr lang="pt-BR" sz="2800" dirty="0">
                <a:solidFill>
                  <a:srgbClr val="000000"/>
                </a:solidFill>
              </a:rPr>
              <a:t> recebe como argumento o nome de um dicionário e retorna a quantidade de elementos existentes.</a:t>
            </a: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r>
              <a:rPr lang="pt-BR" sz="2800" dirty="0">
                <a:solidFill>
                  <a:srgbClr val="000000"/>
                </a:solidFill>
              </a:rPr>
              <a:t>A sintaxe básica é a seguinte:</a:t>
            </a: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r>
              <a:rPr lang="pt-BR" sz="2800" dirty="0">
                <a:solidFill>
                  <a:srgbClr val="000000"/>
                </a:solidFill>
              </a:rPr>
              <a:t>	</a:t>
            </a:r>
            <a:r>
              <a:rPr lang="pt-BR" sz="2800" b="1" dirty="0" err="1">
                <a:solidFill>
                  <a:srgbClr val="000000"/>
                </a:solidFill>
              </a:rPr>
              <a:t>len</a:t>
            </a:r>
            <a:r>
              <a:rPr lang="pt-BR" sz="2800" b="1" dirty="0">
                <a:solidFill>
                  <a:srgbClr val="000000"/>
                </a:solidFill>
              </a:rPr>
              <a:t>(</a:t>
            </a:r>
            <a:r>
              <a:rPr lang="pt-BR" sz="2800" dirty="0">
                <a:solidFill>
                  <a:srgbClr val="000000"/>
                </a:solidFill>
              </a:rPr>
              <a:t>&lt;dicionário&gt;</a:t>
            </a:r>
            <a:r>
              <a:rPr lang="pt-BR" sz="2800" b="1" dirty="0">
                <a:solidFill>
                  <a:srgbClr val="000000"/>
                </a:solidFill>
              </a:rPr>
              <a:t>)</a:t>
            </a: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191263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Tamanho do Dicionário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solidFill>
                  <a:srgbClr val="000000"/>
                </a:solidFill>
              </a:rPr>
              <a:t>A função </a:t>
            </a:r>
            <a:r>
              <a:rPr lang="pt-BR" sz="2800" b="1" dirty="0" err="1">
                <a:solidFill>
                  <a:srgbClr val="000000"/>
                </a:solidFill>
              </a:rPr>
              <a:t>len</a:t>
            </a:r>
            <a:r>
              <a:rPr lang="pt-BR" sz="2800" b="1" dirty="0">
                <a:solidFill>
                  <a:srgbClr val="000000"/>
                </a:solidFill>
              </a:rPr>
              <a:t>()</a:t>
            </a:r>
            <a:r>
              <a:rPr lang="pt-BR" sz="2800" dirty="0">
                <a:solidFill>
                  <a:srgbClr val="000000"/>
                </a:solidFill>
              </a:rPr>
              <a:t> recebe como argumento o nome de um dicionário e retorna a quantidade de elementos existentes.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DB39C246-49D5-9280-C279-70B7D3C436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7" y="3158352"/>
            <a:ext cx="10015185" cy="287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240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Apagar Elementos em Dicionários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 comando </a:t>
            </a:r>
            <a:r>
              <a:rPr lang="pt-BR" sz="2800" b="1" dirty="0" err="1">
                <a:effectLst/>
              </a:rPr>
              <a:t>del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 remove um par </a:t>
            </a:r>
            <a:r>
              <a:rPr lang="pt-BR" sz="2800" b="1" i="1" dirty="0">
                <a:solidFill>
                  <a:srgbClr val="000000"/>
                </a:solidFill>
                <a:effectLst/>
              </a:rPr>
              <a:t>chave-valor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de um dicionário. </a:t>
            </a:r>
            <a:endParaRPr lang="pt-BR" sz="28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E7289DC-96C0-4B1C-B6EA-BDDFB3B3A2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676"/>
          <a:stretch/>
        </p:blipFill>
        <p:spPr>
          <a:xfrm>
            <a:off x="988331" y="2508823"/>
            <a:ext cx="9466310" cy="92690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97A6092-6313-4930-B036-4F08F7011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30" y="3852378"/>
            <a:ext cx="7900489" cy="106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368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Apagar Elementos em Dicionários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 comando </a:t>
            </a:r>
            <a:r>
              <a:rPr lang="pt-BR" sz="2800" b="1" dirty="0" err="1">
                <a:effectLst/>
              </a:rPr>
              <a:t>del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 remove um par </a:t>
            </a:r>
            <a:r>
              <a:rPr lang="pt-BR" sz="2800" b="1" i="1" dirty="0">
                <a:solidFill>
                  <a:srgbClr val="000000"/>
                </a:solidFill>
                <a:effectLst/>
              </a:rPr>
              <a:t>chave-valor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de um dicionário. </a:t>
            </a:r>
            <a:endParaRPr lang="pt-BR" sz="2800" dirty="0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004281C2-1A38-452D-3667-6ECE685A17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30" y="2507383"/>
            <a:ext cx="9755032" cy="258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311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Acessar chaves em Dicionários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 método </a:t>
            </a:r>
            <a:r>
              <a:rPr lang="pt-BR" sz="2800" b="1" i="0" dirty="0" err="1">
                <a:solidFill>
                  <a:srgbClr val="000000"/>
                </a:solidFill>
              </a:rPr>
              <a:t>k</a:t>
            </a:r>
            <a:r>
              <a:rPr lang="pt-BR" sz="2800" b="1" dirty="0" err="1">
                <a:effectLst/>
              </a:rPr>
              <a:t>eys</a:t>
            </a:r>
            <a:r>
              <a:rPr lang="pt-BR" sz="2800" b="1" dirty="0">
                <a:effectLst/>
              </a:rPr>
              <a:t>()</a:t>
            </a:r>
            <a:r>
              <a:rPr lang="pt-BR" sz="2800" b="0" i="0" dirty="0">
                <a:effectLst/>
              </a:rPr>
              <a:t> 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de um dicionário retorna uma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lista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com as chaves do mesmo.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446C671B-E416-48FA-8F0A-ABBA0846F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436" y="2684384"/>
            <a:ext cx="8519127" cy="892898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24D290EE-2789-4C7F-AB07-CA9CA8583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6436" y="3676431"/>
            <a:ext cx="5773978" cy="986117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7F291CA7-EE9C-4963-8D1E-E574343588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6436" y="4761697"/>
            <a:ext cx="3681502" cy="98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894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Acessar chaves em Dicionários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 método </a:t>
            </a:r>
            <a:r>
              <a:rPr lang="pt-BR" sz="2800" b="1" i="0" dirty="0" err="1">
                <a:solidFill>
                  <a:srgbClr val="000000"/>
                </a:solidFill>
              </a:rPr>
              <a:t>k</a:t>
            </a:r>
            <a:r>
              <a:rPr lang="pt-BR" sz="2800" b="1" dirty="0" err="1">
                <a:effectLst/>
              </a:rPr>
              <a:t>eys</a:t>
            </a:r>
            <a:r>
              <a:rPr lang="pt-BR" sz="2800" b="1" dirty="0">
                <a:effectLst/>
              </a:rPr>
              <a:t>()</a:t>
            </a:r>
            <a:r>
              <a:rPr lang="pt-BR" sz="2800" b="0" i="0" dirty="0">
                <a:effectLst/>
              </a:rPr>
              <a:t> 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de um dicionário retorna uma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lista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com as chaves do mesmo.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E5CD8B8B-8EA4-9087-4594-8E0DFF4B80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617" y="2938270"/>
            <a:ext cx="10214427" cy="2936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38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Acessar valores em Dicionários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800100" y="1435033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 método </a:t>
            </a:r>
            <a:r>
              <a:rPr lang="pt-BR" sz="2800" b="1" dirty="0" err="1">
                <a:effectLst/>
              </a:rPr>
              <a:t>values</a:t>
            </a:r>
            <a:r>
              <a:rPr lang="pt-BR" sz="2800" b="1" dirty="0">
                <a:effectLst/>
              </a:rPr>
              <a:t>()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de um dicionário retorna a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lista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dos valores do mesmo.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446C671B-E416-48FA-8F0A-ABBA0846F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483" y="2455179"/>
            <a:ext cx="8519127" cy="892898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24D290EE-2789-4C7F-AB07-CA9CA8583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3483" y="3524503"/>
            <a:ext cx="5773978" cy="98611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2119EE5-C65E-427C-BB57-130259B92D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3483" y="4687046"/>
            <a:ext cx="3668731" cy="120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04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Acessar valores em Dicionários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800100" y="1435033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 método </a:t>
            </a:r>
            <a:r>
              <a:rPr lang="pt-BR" sz="2800" b="1" dirty="0" err="1">
                <a:effectLst/>
              </a:rPr>
              <a:t>values</a:t>
            </a:r>
            <a:r>
              <a:rPr lang="pt-BR" sz="2800" b="1" dirty="0">
                <a:effectLst/>
              </a:rPr>
              <a:t>()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de um dicionário retorna a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lista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dos valores do mesmo.</a:t>
            </a: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83B2F3D5-FE65-04FC-254E-9D4DF9C04E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" y="3245307"/>
            <a:ext cx="10687003" cy="217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3384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Acessar itens em Dicionários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 método </a:t>
            </a:r>
            <a:r>
              <a:rPr lang="pt-BR" sz="2800" b="1" dirty="0" err="1">
                <a:effectLst/>
              </a:rPr>
              <a:t>items</a:t>
            </a:r>
            <a:r>
              <a:rPr lang="pt-BR" sz="2800" b="1" dirty="0">
                <a:effectLst/>
              </a:rPr>
              <a:t>()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de um dicionário retorna ambos, na forma de uma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lista de tuplas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- cada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tupla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com um par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chave-valor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.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446C671B-E416-48FA-8F0A-ABBA0846F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616" y="2803629"/>
            <a:ext cx="8519127" cy="892898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24D290EE-2789-4C7F-AB07-CA9CA8583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5165" y="3879582"/>
            <a:ext cx="5773978" cy="986117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86F74CB-4705-487D-A850-0909A0E6A1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5165" y="5104128"/>
            <a:ext cx="6569488" cy="98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434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Acessar itens em Dicionários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 método </a:t>
            </a:r>
            <a:r>
              <a:rPr lang="pt-BR" sz="2800" b="1" dirty="0" err="1">
                <a:effectLst/>
              </a:rPr>
              <a:t>items</a:t>
            </a:r>
            <a:r>
              <a:rPr lang="pt-BR" sz="2800" b="1" dirty="0">
                <a:effectLst/>
              </a:rPr>
              <a:t>()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de um dicionário retorna ambos, na forma de uma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lista de tuplas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- cada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tupla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com um par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chave-valor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.</a:t>
            </a:r>
          </a:p>
        </p:txBody>
      </p:sp>
      <p:pic>
        <p:nvPicPr>
          <p:cNvPr id="3" name="Picture 2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86B6CC76-88CE-EBED-B622-A001D7D7F4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63" y="3429000"/>
            <a:ext cx="10372273" cy="234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510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Remover Elementos em Dicionários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Para remover elementos de um dicionário, você pode utilizar o método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pop()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informando qual chave deseja remover, cuja sintaxe básica é a seguinte:</a:t>
            </a:r>
          </a:p>
          <a:p>
            <a:pPr algn="just"/>
            <a:endParaRPr lang="pt-BR" sz="2800" b="0" i="0" dirty="0">
              <a:solidFill>
                <a:srgbClr val="000000"/>
              </a:solidFill>
              <a:effectLst/>
            </a:endParaRPr>
          </a:p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	&lt;dicionário&gt;.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pop(&lt;chave&gt;)</a:t>
            </a:r>
          </a:p>
        </p:txBody>
      </p:sp>
    </p:spTree>
    <p:extLst>
      <p:ext uri="{BB962C8B-B14F-4D97-AF65-F5344CB8AC3E}">
        <p14:creationId xmlns:p14="http://schemas.microsoft.com/office/powerpoint/2010/main" val="30575033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Remover Elementos em Dicionários </a:t>
            </a: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6E84FE57-7D67-A89E-3A2C-43D128F30A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100" y="2732510"/>
            <a:ext cx="11059799" cy="247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4853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Clonar Dicionário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Para criar uma cópia de um dicionário, você pode utilizar a função </a:t>
            </a:r>
            <a:r>
              <a:rPr lang="pt-BR" sz="2800" b="1" i="0" dirty="0" err="1">
                <a:solidFill>
                  <a:srgbClr val="000000"/>
                </a:solidFill>
                <a:effectLst/>
              </a:rPr>
              <a:t>dict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()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, cuja sintaxe básica é a seguinte:</a:t>
            </a:r>
          </a:p>
          <a:p>
            <a:pPr algn="just"/>
            <a:endParaRPr lang="pt-BR" sz="2800" b="0" i="0" dirty="0">
              <a:solidFill>
                <a:srgbClr val="000000"/>
              </a:solidFill>
              <a:effectLst/>
            </a:endParaRPr>
          </a:p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	copia = </a:t>
            </a:r>
            <a:r>
              <a:rPr lang="pt-BR" sz="2800" b="1" i="0" dirty="0" err="1">
                <a:solidFill>
                  <a:srgbClr val="000000"/>
                </a:solidFill>
                <a:effectLst/>
              </a:rPr>
              <a:t>dict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(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&lt;</a:t>
            </a:r>
            <a:r>
              <a:rPr lang="pt-BR" sz="2800" b="0" i="0" dirty="0" err="1">
                <a:solidFill>
                  <a:srgbClr val="000000"/>
                </a:solidFill>
                <a:effectLst/>
              </a:rPr>
              <a:t>dicionario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&gt;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)</a:t>
            </a: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endParaRPr lang="pt-BR" sz="2800" b="0" i="0" dirty="0">
              <a:solidFill>
                <a:srgbClr val="000000"/>
              </a:solidFill>
              <a:effectLst/>
            </a:endParaRPr>
          </a:p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onde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&lt;</a:t>
            </a:r>
            <a:r>
              <a:rPr lang="pt-BR" sz="2800" b="1" i="0" dirty="0" err="1">
                <a:solidFill>
                  <a:srgbClr val="000000"/>
                </a:solidFill>
                <a:effectLst/>
              </a:rPr>
              <a:t>dicionario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&gt;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é o dicionário que está sendo clonado.</a:t>
            </a:r>
          </a:p>
          <a:p>
            <a:pPr algn="just"/>
            <a:endParaRPr lang="pt-BR" sz="2800" b="0" i="0" dirty="0">
              <a:solidFill>
                <a:srgbClr val="000000"/>
              </a:solidFill>
              <a:effectLst/>
            </a:endParaRPr>
          </a:p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Como resultado, o valor retornado pode ser atribuído a uma nova variável, formando um novo dicionário.</a:t>
            </a:r>
            <a:endParaRPr lang="pt-BR" sz="2800" b="1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14177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Esvaziar Dicionários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Caso você deseje esvaziar um dicionário, utilize o método </a:t>
            </a:r>
            <a:r>
              <a:rPr lang="pt-BR" sz="2800" b="1" i="0" dirty="0" err="1">
                <a:solidFill>
                  <a:srgbClr val="000000"/>
                </a:solidFill>
                <a:effectLst/>
              </a:rPr>
              <a:t>clear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()</a:t>
            </a: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 A sintaxe básica é a seguinte: </a:t>
            </a: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  <a:p>
            <a:pPr algn="just"/>
            <a:endParaRPr lang="pt-BR" sz="1400" b="0" i="0" dirty="0">
              <a:solidFill>
                <a:srgbClr val="000000"/>
              </a:solidFill>
              <a:effectLst/>
            </a:endParaRPr>
          </a:p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		&lt;dicionário&gt;.</a:t>
            </a:r>
            <a:r>
              <a:rPr lang="pt-BR" sz="2800" b="1" i="0" dirty="0" err="1">
                <a:solidFill>
                  <a:srgbClr val="000000"/>
                </a:solidFill>
                <a:effectLst/>
              </a:rPr>
              <a:t>clear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0282779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Ordenar Dicionários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88330" y="1568956"/>
            <a:ext cx="1068700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Em um dicionário, para retornar os elementos de forma ordenada, tomando como base as chaves, pode-se utilizar a função </a:t>
            </a:r>
            <a:r>
              <a:rPr lang="pt-BR" sz="2800" b="1" i="0" dirty="0" err="1">
                <a:solidFill>
                  <a:srgbClr val="000000"/>
                </a:solidFill>
                <a:effectLst/>
              </a:rPr>
              <a:t>sorted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()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, cuja sintaxe básica é a seguinte:</a:t>
            </a:r>
          </a:p>
          <a:p>
            <a:pPr algn="just"/>
            <a:endParaRPr lang="pt-BR" sz="2800" b="0" i="0" dirty="0">
              <a:solidFill>
                <a:srgbClr val="000000"/>
              </a:solidFill>
              <a:effectLst/>
            </a:endParaRPr>
          </a:p>
          <a:p>
            <a:pPr algn="just"/>
            <a:r>
              <a:rPr lang="pt-BR" sz="2800" b="1" i="0" dirty="0" err="1">
                <a:solidFill>
                  <a:srgbClr val="000000"/>
                </a:solidFill>
                <a:effectLst/>
              </a:rPr>
              <a:t>sorted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(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&lt;dicionário&gt;, </a:t>
            </a:r>
            <a:r>
              <a:rPr lang="pt-BR" sz="2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reverse = [</a:t>
            </a:r>
            <a:r>
              <a:rPr lang="pt-BR" sz="28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True|False</a:t>
            </a:r>
            <a:r>
              <a:rPr lang="pt-BR" sz="2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]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)</a:t>
            </a:r>
          </a:p>
          <a:p>
            <a:pPr algn="just"/>
            <a:endParaRPr lang="pt-BR" sz="2800" b="0" i="0" dirty="0">
              <a:solidFill>
                <a:srgbClr val="000000"/>
              </a:solidFill>
              <a:effectLst/>
            </a:endParaRPr>
          </a:p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onde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reverse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indica se o ordenamento deve ser reverso. Quando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reverse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= </a:t>
            </a:r>
            <a:r>
              <a:rPr lang="pt-BR" sz="2800" b="1" i="0" dirty="0" err="1">
                <a:solidFill>
                  <a:srgbClr val="000000"/>
                </a:solidFill>
                <a:effectLst/>
              </a:rPr>
              <a:t>True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, o ordenamento é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decrescente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e quando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reverse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=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False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 (que é o valor padrão e, por isso, não é necessário explicitá-lo), o ordenamento é </a:t>
            </a:r>
            <a:r>
              <a:rPr lang="pt-BR" sz="2800" b="1" i="0" dirty="0">
                <a:solidFill>
                  <a:srgbClr val="000000"/>
                </a:solidFill>
                <a:effectLst/>
              </a:rPr>
              <a:t>crescente</a:t>
            </a:r>
            <a:r>
              <a:rPr lang="pt-BR" sz="2800" b="0" i="0" dirty="0">
                <a:solidFill>
                  <a:srgbClr val="000000"/>
                </a:solidFill>
                <a:effectLst/>
              </a:rPr>
              <a:t>.</a:t>
            </a:r>
            <a:endParaRPr lang="pt-BR" sz="2800" b="1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641697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Ordenar Dicionários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6E4C7159-4C55-A140-4275-B8C0CE85FF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09" y="2146192"/>
            <a:ext cx="11054782" cy="256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873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Exemplo Dicionário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900563" y="1425798"/>
            <a:ext cx="1068700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</a:rPr>
              <a:t>Construa um script em linguagem Python que utilize um dicionário cujas chaves são os códigos do produto e os valores são o nome do produto, o preço unitário e a quantidade comprada. </a:t>
            </a:r>
            <a:r>
              <a:rPr lang="pt-BR" sz="2800" i="0" dirty="0">
                <a:solidFill>
                  <a:srgbClr val="000000"/>
                </a:solidFill>
                <a:effectLst/>
              </a:rPr>
              <a:t>A partir do dicionário, o programa deve imprimir os itens da compra e calcular o subtotal de cada um deles, ou seja (quantidade * preço unitário). Por fim, o programa deve apresentar o valor total da compra.</a:t>
            </a:r>
          </a:p>
        </p:txBody>
      </p:sp>
    </p:spTree>
    <p:extLst>
      <p:ext uri="{BB962C8B-B14F-4D97-AF65-F5344CB8AC3E}">
        <p14:creationId xmlns:p14="http://schemas.microsoft.com/office/powerpoint/2010/main" val="13192908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Exemplo Dicionário </a:t>
            </a: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F809F02E-7AB5-F730-80E5-7EB40E96C3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487" y="1153749"/>
            <a:ext cx="6772758" cy="516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3514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Exemplo Dicionário 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CEBAE9AA-D0B2-E3FC-9C35-E3E30B9C5F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257" y="1651091"/>
            <a:ext cx="8907084" cy="393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7893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399394" y="1568956"/>
            <a:ext cx="112759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1 – Desenvolva um código em Python que adicione em um dicionário “D” os seguintes campos: nome, idade, sexo e mostre os dados no final.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2 – Elabore um script em  linguagem Python, utilizando Dicionários, que contenha 4 funcionários, com o índice numérico e seu nome. Em seguida, solicite do usuário demitir um dos funcionários conforme o número de cadastro e mostre na tela os funcionários restantes.</a:t>
            </a:r>
          </a:p>
        </p:txBody>
      </p:sp>
    </p:spTree>
    <p:extLst>
      <p:ext uri="{BB962C8B-B14F-4D97-AF65-F5344CB8AC3E}">
        <p14:creationId xmlns:p14="http://schemas.microsoft.com/office/powerpoint/2010/main" val="3123929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399393" y="1358748"/>
            <a:ext cx="1087700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600" dirty="0"/>
              <a:t>3 – Desenvolva um script em linguagem Python, utilizando Dicionários, que solicite ao usuário inserir o nome de 05 produtos de papelaria e seus respectivos preços e os mostre na tela.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BBED751-2D30-410F-A724-1777CB721858}"/>
              </a:ext>
            </a:extLst>
          </p:cNvPr>
          <p:cNvSpPr txBox="1"/>
          <p:nvPr/>
        </p:nvSpPr>
        <p:spPr>
          <a:xfrm>
            <a:off x="399393" y="3130086"/>
            <a:ext cx="1087700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600" dirty="0"/>
              <a:t>4 – Desenvolva um script em linguagem Python, utilizando Dicionários, que solicite ao usuário inserir o nome de 05 livros e seus respectivos autores e os mostre na tela.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364E0A2-826B-4DD8-BA14-8C77773C21FA}"/>
              </a:ext>
            </a:extLst>
          </p:cNvPr>
          <p:cNvSpPr txBox="1"/>
          <p:nvPr/>
        </p:nvSpPr>
        <p:spPr>
          <a:xfrm>
            <a:off x="399392" y="4901424"/>
            <a:ext cx="1087700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600" dirty="0"/>
              <a:t>5 – Desenvolva um script em linguagem Python, utilizando Dicionários, que solicite ao usuário inserir o nome de 10 amigos e seus telefones e os mostre na tela.</a:t>
            </a:r>
          </a:p>
        </p:txBody>
      </p:sp>
    </p:spTree>
    <p:extLst>
      <p:ext uri="{BB962C8B-B14F-4D97-AF65-F5344CB8AC3E}">
        <p14:creationId xmlns:p14="http://schemas.microsoft.com/office/powerpoint/2010/main" val="2714284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4" grpId="0"/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399393" y="1358748"/>
            <a:ext cx="10877007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6) </a:t>
            </a:r>
            <a:r>
              <a:rPr lang="pt-BR" sz="2400" dirty="0"/>
              <a:t>Faça um programa, utilizando </a:t>
            </a:r>
            <a:r>
              <a:rPr lang="pt-BR" sz="2400" b="1" i="1" dirty="0"/>
              <a:t>Dicionário</a:t>
            </a:r>
            <a:r>
              <a:rPr lang="pt-BR" sz="2400" dirty="0"/>
              <a:t>, que peça para o usuário </a:t>
            </a:r>
            <a:r>
              <a:rPr lang="pt-BR" sz="2400" b="1" i="1" dirty="0"/>
              <a:t>inserir</a:t>
            </a:r>
            <a:r>
              <a:rPr lang="pt-BR" sz="2400" dirty="0"/>
              <a:t> o nome de 05 produtos de mercado e seus respectivos preços e os mostre na tela.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7) Faça um programa, utilizando </a:t>
            </a:r>
            <a:r>
              <a:rPr lang="pt-BR" sz="2400" b="1" i="1" dirty="0"/>
              <a:t>Dicionário</a:t>
            </a:r>
            <a:r>
              <a:rPr lang="pt-BR" sz="2400" dirty="0"/>
              <a:t>, que peça para o usuário </a:t>
            </a:r>
            <a:r>
              <a:rPr lang="pt-BR" sz="2400" b="1" i="1" dirty="0"/>
              <a:t>inserir</a:t>
            </a:r>
            <a:r>
              <a:rPr lang="pt-BR" sz="2400" dirty="0"/>
              <a:t> o nome do aluno e suas 03 notas numa lista. Calcule a média do aluno e mostre ao final, a situação: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Média &lt; 5, aluno esta Reprovado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Média entre 5 e 7, aluno esta em Recuperação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Média &gt;= 7, aluno está Aprovado.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400" dirty="0"/>
          </a:p>
          <a:p>
            <a:pPr algn="just"/>
            <a:r>
              <a:rPr lang="pt-BR" sz="2400" dirty="0"/>
              <a:t>8) Faça um programa, utilizando </a:t>
            </a:r>
            <a:r>
              <a:rPr lang="pt-BR" sz="2400" b="1" i="1" dirty="0"/>
              <a:t>Dicionário</a:t>
            </a:r>
            <a:r>
              <a:rPr lang="pt-BR" sz="2400" dirty="0"/>
              <a:t>, que peça para o usuário </a:t>
            </a:r>
            <a:r>
              <a:rPr lang="pt-BR" sz="2400" b="1" i="1" dirty="0"/>
              <a:t>inserir</a:t>
            </a:r>
            <a:r>
              <a:rPr lang="pt-BR" sz="2400" dirty="0"/>
              <a:t> o nome  de 05 amigos e seus respectivos telefones.  Após, peça ao usuário para inserir um novo nome e telefone.</a:t>
            </a:r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723083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Resultado de imagem para Obrigado">
            <a:extLst>
              <a:ext uri="{FF2B5EF4-FFF2-40B4-BE49-F238E27FC236}">
                <a16:creationId xmlns:a16="http://schemas.microsoft.com/office/drawing/2014/main" id="{B74634BC-9B07-4B94-9AF7-B4B4921DC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014" y="1691721"/>
            <a:ext cx="5827052" cy="3858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9463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168842-5748-46A8-BB62-516230DF7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658" y="2046610"/>
            <a:ext cx="11478684" cy="8543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3600" dirty="0"/>
              <a:t>Revisão Listas, Tuplas e Dicionários: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421C3B5-3A9D-4892-ADC1-2B05CF8649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38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791907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348CD7-393D-490A-ADB8-2B867DF04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39</a:t>
            </a:fld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8FC0086-CE03-4B2C-BC44-DCF9296DB06F}"/>
              </a:ext>
            </a:extLst>
          </p:cNvPr>
          <p:cNvSpPr txBox="1"/>
          <p:nvPr/>
        </p:nvSpPr>
        <p:spPr>
          <a:xfrm>
            <a:off x="386638" y="1239878"/>
            <a:ext cx="11545531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1) Crie uma tupla com um codigo e os nomes dos super-heróis que devem participar do Filme Vingadores seguindo a ordem: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200" dirty="0"/>
              <a:t>Homem de Ferro 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200" dirty="0"/>
              <a:t>Capitão América 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200" dirty="0"/>
              <a:t>Thor 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200" dirty="0"/>
              <a:t>Hulk 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200" dirty="0"/>
              <a:t>Viúva Negra 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200" dirty="0"/>
              <a:t>Gavião Arqueiro</a:t>
            </a:r>
          </a:p>
          <a:p>
            <a:endParaRPr lang="pt-BR" sz="2400" dirty="0"/>
          </a:p>
          <a:p>
            <a:r>
              <a:rPr lang="pt-BR" sz="2400" dirty="0"/>
              <a:t>Agora, inclua o Homem-Aranha no final da lista e mostre em qual posição está o Thor. </a:t>
            </a:r>
          </a:p>
          <a:p>
            <a:pPr algn="just"/>
            <a:r>
              <a:rPr lang="pt-BR" sz="2400" dirty="0"/>
              <a:t>Infelizmente a Viúva Negra e o Homem de Ferro não fazem mais parte do filme Vingadores, então retire-os da lista.</a:t>
            </a:r>
          </a:p>
        </p:txBody>
      </p:sp>
    </p:spTree>
    <p:extLst>
      <p:ext uri="{BB962C8B-B14F-4D97-AF65-F5344CB8AC3E}">
        <p14:creationId xmlns:p14="http://schemas.microsoft.com/office/powerpoint/2010/main" val="12363217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348CD7-393D-490A-ADB8-2B867DF04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40</a:t>
            </a:fld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8FC0086-CE03-4B2C-BC44-DCF9296DB06F}"/>
              </a:ext>
            </a:extLst>
          </p:cNvPr>
          <p:cNvSpPr txBox="1"/>
          <p:nvPr/>
        </p:nvSpPr>
        <p:spPr>
          <a:xfrm>
            <a:off x="386638" y="1239878"/>
            <a:ext cx="1154553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2) Crie uma tupla com os nomes de séries de TV seguindo a ordem:</a:t>
            </a:r>
          </a:p>
          <a:p>
            <a:endParaRPr lang="en-US" sz="2400" dirty="0"/>
          </a:p>
          <a:p>
            <a:r>
              <a:rPr lang="en-US" sz="2400" dirty="0"/>
              <a:t>series = ("Black Mirror", "Breaking Bad", "Friends", "Game of Thrones", </a:t>
            </a:r>
          </a:p>
          <a:p>
            <a:r>
              <a:rPr lang="en-US" sz="2400" dirty="0"/>
              <a:t>                "The Big Bang Theory”, “House”,  “The Last of Us”, “One Piece”,</a:t>
            </a:r>
          </a:p>
          <a:p>
            <a:r>
              <a:rPr lang="en-US" sz="2400" dirty="0"/>
              <a:t>                “</a:t>
            </a:r>
            <a:r>
              <a:rPr lang="pt-BR" sz="2400" b="0" i="0" dirty="0" err="1">
                <a:solidFill>
                  <a:srgbClr val="202124"/>
                </a:solidFill>
                <a:effectLst/>
                <a:latin typeface="Google Sans"/>
              </a:rPr>
              <a:t>Grey's</a:t>
            </a:r>
            <a:r>
              <a:rPr lang="pt-BR" sz="2400" b="0" i="0" dirty="0">
                <a:solidFill>
                  <a:srgbClr val="202124"/>
                </a:solidFill>
                <a:effectLst/>
                <a:latin typeface="Google Sans"/>
              </a:rPr>
              <a:t> </a:t>
            </a:r>
            <a:r>
              <a:rPr lang="pt-BR" sz="2400" b="0" i="0" dirty="0" err="1">
                <a:solidFill>
                  <a:srgbClr val="202124"/>
                </a:solidFill>
                <a:effectLst/>
                <a:latin typeface="Google Sans"/>
              </a:rPr>
              <a:t>Anatomy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Google Sans"/>
              </a:rPr>
              <a:t>”, “</a:t>
            </a:r>
            <a:r>
              <a:rPr lang="pt-BR" sz="2400" i="0" u="none" strike="noStrike" dirty="0">
                <a:effectLst/>
                <a:latin typeface="Google Sans"/>
              </a:rPr>
              <a:t>Stranger </a:t>
            </a:r>
            <a:r>
              <a:rPr lang="pt-BR" sz="2400" i="0" u="none" strike="noStrike" dirty="0" err="1">
                <a:effectLst/>
                <a:latin typeface="Google Sans"/>
              </a:rPr>
              <a:t>Things</a:t>
            </a:r>
            <a:r>
              <a:rPr lang="pt-BR" sz="2400" u="none" strike="noStrike" dirty="0">
                <a:latin typeface="Google Sans"/>
              </a:rPr>
              <a:t>”</a:t>
            </a:r>
            <a:r>
              <a:rPr lang="en-US" sz="2400" dirty="0">
                <a:latin typeface="Google Sans"/>
              </a:rPr>
              <a:t> )</a:t>
            </a:r>
            <a:endParaRPr lang="en-US" sz="2400" dirty="0"/>
          </a:p>
          <a:p>
            <a:endParaRPr lang="en-US" sz="2400" dirty="0"/>
          </a:p>
          <a:p>
            <a:r>
              <a:rPr lang="pt-BR" sz="2400" dirty="0"/>
              <a:t>Agora, inclua uma nova série no final da lista </a:t>
            </a:r>
          </a:p>
          <a:p>
            <a:r>
              <a:rPr lang="pt-BR" sz="2400" dirty="0"/>
              <a:t>Mostre em qual posição está a série  “</a:t>
            </a:r>
            <a:r>
              <a:rPr lang="pt-BR" sz="2400" dirty="0" err="1"/>
              <a:t>One</a:t>
            </a:r>
            <a:r>
              <a:rPr lang="pt-BR" sz="2400" dirty="0"/>
              <a:t> Piece”. </a:t>
            </a:r>
          </a:p>
          <a:p>
            <a:pPr algn="just"/>
            <a:r>
              <a:rPr lang="pt-BR" sz="2400" dirty="0"/>
              <a:t>Infelizmente a série “</a:t>
            </a:r>
            <a:r>
              <a:rPr lang="pt-BR" sz="2400" dirty="0" err="1"/>
              <a:t>House</a:t>
            </a:r>
            <a:r>
              <a:rPr lang="pt-BR" sz="2400" dirty="0"/>
              <a:t>” não fazem mais parte da lista e deve ser removida.</a:t>
            </a:r>
          </a:p>
          <a:p>
            <a:r>
              <a:rPr lang="pt-BR" sz="2400" dirty="0"/>
              <a:t>Ao final, mostre a lista completa de séries.</a:t>
            </a:r>
          </a:p>
        </p:txBody>
      </p:sp>
    </p:spTree>
    <p:extLst>
      <p:ext uri="{BB962C8B-B14F-4D97-AF65-F5344CB8AC3E}">
        <p14:creationId xmlns:p14="http://schemas.microsoft.com/office/powerpoint/2010/main" val="36739873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348CD7-393D-490A-ADB8-2B867DF04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41</a:t>
            </a:fld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8FC0086-CE03-4B2C-BC44-DCF9296DB06F}"/>
              </a:ext>
            </a:extLst>
          </p:cNvPr>
          <p:cNvSpPr txBox="1"/>
          <p:nvPr/>
        </p:nvSpPr>
        <p:spPr>
          <a:xfrm>
            <a:off x="569625" y="935078"/>
            <a:ext cx="11329995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3) Crie um dicionário com os nomes dos estados do Brasil e sua respectiva capital, seguindo a ordem:</a:t>
            </a:r>
          </a:p>
          <a:p>
            <a:endParaRPr lang="en-US" sz="2400" dirty="0"/>
          </a:p>
          <a:p>
            <a:r>
              <a:rPr lang="en-US" sz="2400" dirty="0"/>
              <a:t>estados = {</a:t>
            </a:r>
            <a:r>
              <a:rPr lang="en-US" sz="2200" dirty="0">
                <a:latin typeface="Google Sans"/>
              </a:rPr>
              <a:t>“Acre” : “Capital Rio Branco”,  “</a:t>
            </a:r>
            <a:r>
              <a:rPr lang="pt-BR" sz="2200" b="0" i="0" dirty="0">
                <a:solidFill>
                  <a:srgbClr val="202124"/>
                </a:solidFill>
                <a:effectLst/>
                <a:latin typeface="Google Sans"/>
              </a:rPr>
              <a:t>Alagoas” :  “Capital Maceió”, </a:t>
            </a:r>
          </a:p>
          <a:p>
            <a:r>
              <a:rPr lang="pt-BR" sz="2200" dirty="0">
                <a:solidFill>
                  <a:srgbClr val="202124"/>
                </a:solidFill>
                <a:latin typeface="Google Sans"/>
              </a:rPr>
              <a:t>                    “Amazonas”: “Capital Manaus”,  </a:t>
            </a:r>
            <a:r>
              <a:rPr lang="pt-BR" sz="2200" b="0" i="0" dirty="0">
                <a:solidFill>
                  <a:srgbClr val="202124"/>
                </a:solidFill>
                <a:effectLst/>
                <a:latin typeface="Google Sans"/>
              </a:rPr>
              <a:t>“Bahia” : “Capital Salvador”, </a:t>
            </a:r>
          </a:p>
          <a:p>
            <a:r>
              <a:rPr lang="en-US" sz="2200" dirty="0">
                <a:latin typeface="Google Sans"/>
              </a:rPr>
              <a:t>                    </a:t>
            </a:r>
            <a:r>
              <a:rPr lang="pt-BR" sz="2200" b="0" i="0" dirty="0">
                <a:solidFill>
                  <a:srgbClr val="202124"/>
                </a:solidFill>
                <a:effectLst/>
                <a:latin typeface="Google Sans"/>
              </a:rPr>
              <a:t>“Distrito Federal” : “Capital Brasília”, </a:t>
            </a:r>
            <a:r>
              <a:rPr lang="en-US" sz="2200" dirty="0">
                <a:latin typeface="Google Sans"/>
              </a:rPr>
              <a:t> “Santa Catarina” : “Capital Florianópolis”, </a:t>
            </a:r>
          </a:p>
          <a:p>
            <a:r>
              <a:rPr lang="en-US" sz="2200" dirty="0">
                <a:latin typeface="Google Sans"/>
              </a:rPr>
              <a:t>                    “</a:t>
            </a:r>
            <a:r>
              <a:rPr lang="pt-BR" sz="2200" b="0" i="0" dirty="0">
                <a:solidFill>
                  <a:srgbClr val="202124"/>
                </a:solidFill>
                <a:effectLst/>
                <a:latin typeface="Google Sans"/>
              </a:rPr>
              <a:t>Rio Grande do Sul</a:t>
            </a:r>
            <a:r>
              <a:rPr lang="en-US" sz="2200" b="0" i="0" dirty="0">
                <a:solidFill>
                  <a:srgbClr val="202124"/>
                </a:solidFill>
                <a:effectLst/>
                <a:latin typeface="Google Sans"/>
              </a:rPr>
              <a:t>” : “Capital </a:t>
            </a:r>
            <a:r>
              <a:rPr lang="pt-BR" sz="2200" i="0" u="none" strike="noStrike" dirty="0">
                <a:effectLst/>
                <a:latin typeface="Google Sans"/>
              </a:rPr>
              <a:t>Porto Alegre</a:t>
            </a:r>
            <a:r>
              <a:rPr lang="pt-BR" sz="2200" u="none" strike="noStrike" dirty="0">
                <a:latin typeface="Google Sans"/>
              </a:rPr>
              <a:t>”,</a:t>
            </a:r>
          </a:p>
          <a:p>
            <a:r>
              <a:rPr lang="en-US" sz="2200" dirty="0">
                <a:latin typeface="Google Sans"/>
              </a:rPr>
              <a:t>                    </a:t>
            </a:r>
            <a:r>
              <a:rPr lang="en-US" sz="2200" dirty="0"/>
              <a:t>“Paraná” : “Capital Curitiba”, “</a:t>
            </a:r>
            <a:r>
              <a:rPr lang="pt-BR" sz="2200" b="0" i="0" dirty="0">
                <a:solidFill>
                  <a:srgbClr val="202124"/>
                </a:solidFill>
                <a:effectLst/>
                <a:latin typeface="Google Sans"/>
              </a:rPr>
              <a:t>São Paulo</a:t>
            </a:r>
            <a:r>
              <a:rPr lang="en-US" sz="2200" b="0" i="0" dirty="0">
                <a:solidFill>
                  <a:srgbClr val="202124"/>
                </a:solidFill>
                <a:effectLst/>
                <a:latin typeface="Google Sans"/>
              </a:rPr>
              <a:t>” : “Capital </a:t>
            </a:r>
            <a:r>
              <a:rPr lang="pt-BR" sz="2200" i="0" u="none" strike="noStrike" dirty="0">
                <a:effectLst/>
                <a:latin typeface="Google Sans"/>
              </a:rPr>
              <a:t>São Paulo</a:t>
            </a:r>
            <a:r>
              <a:rPr lang="pt-BR" sz="2200" u="none" strike="noStrike" dirty="0">
                <a:latin typeface="Google Sans"/>
              </a:rPr>
              <a:t>”,</a:t>
            </a:r>
          </a:p>
          <a:p>
            <a:r>
              <a:rPr lang="pt-BR" sz="2200" dirty="0">
                <a:latin typeface="Google Sans"/>
              </a:rPr>
              <a:t>                    </a:t>
            </a:r>
            <a:r>
              <a:rPr lang="en-US" sz="2200" dirty="0"/>
              <a:t>“Minas Gerais” : “Cuiabá”, “</a:t>
            </a:r>
            <a:r>
              <a:rPr lang="pt-BR" sz="2200" b="0" i="0" dirty="0">
                <a:solidFill>
                  <a:srgbClr val="202124"/>
                </a:solidFill>
                <a:effectLst/>
                <a:latin typeface="Google Sans"/>
              </a:rPr>
              <a:t>Rio de Janeiro</a:t>
            </a:r>
            <a:r>
              <a:rPr lang="en-US" sz="2200" b="0" i="0" dirty="0">
                <a:solidFill>
                  <a:srgbClr val="202124"/>
                </a:solidFill>
                <a:effectLst/>
                <a:latin typeface="Google Sans"/>
              </a:rPr>
              <a:t>” : “</a:t>
            </a:r>
            <a:r>
              <a:rPr lang="pt-BR" sz="2200" i="0" u="none" strike="noStrike" dirty="0">
                <a:effectLst/>
                <a:latin typeface="Google Sans"/>
              </a:rPr>
              <a:t>Rio de Janeiro</a:t>
            </a:r>
            <a:r>
              <a:rPr lang="pt-BR" sz="2200" u="none" strike="noStrike" dirty="0">
                <a:latin typeface="Google Sans"/>
              </a:rPr>
              <a:t>”,</a:t>
            </a:r>
          </a:p>
          <a:p>
            <a:r>
              <a:rPr lang="pt-BR" sz="2200" dirty="0">
                <a:latin typeface="Google Sans"/>
              </a:rPr>
              <a:t>                    “Tocantins”: “Capital Palmas”}</a:t>
            </a:r>
            <a:endParaRPr lang="pt-BR" sz="2200" u="none" strike="noStrike" dirty="0">
              <a:latin typeface="Google Sans"/>
            </a:endParaRPr>
          </a:p>
          <a:p>
            <a:endParaRPr lang="pt-BR" sz="2400" dirty="0"/>
          </a:p>
          <a:p>
            <a:r>
              <a:rPr lang="pt-BR" sz="2200" dirty="0"/>
              <a:t>Agora, inclua um novo estado e sua capital no final da lista.</a:t>
            </a:r>
          </a:p>
          <a:p>
            <a:r>
              <a:rPr lang="pt-BR" sz="2200" dirty="0"/>
              <a:t>Mostre se o estado   “Distrito Federal” está cadastrado.</a:t>
            </a:r>
          </a:p>
          <a:p>
            <a:r>
              <a:rPr lang="pt-BR" sz="2200" dirty="0"/>
              <a:t>Altere a capital do estado “Minas Gerais” para “Belo Horizonte”</a:t>
            </a:r>
          </a:p>
          <a:p>
            <a:r>
              <a:rPr lang="pt-BR" sz="2200" dirty="0"/>
              <a:t>Ao final, mostre a lista completa de estados. </a:t>
            </a:r>
          </a:p>
        </p:txBody>
      </p:sp>
    </p:spTree>
    <p:extLst>
      <p:ext uri="{BB962C8B-B14F-4D97-AF65-F5344CB8AC3E}">
        <p14:creationId xmlns:p14="http://schemas.microsoft.com/office/powerpoint/2010/main" val="7686710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348CD7-393D-490A-ADB8-2B867DF04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42</a:t>
            </a:fld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8FC0086-CE03-4B2C-BC44-DCF9296DB06F}"/>
              </a:ext>
            </a:extLst>
          </p:cNvPr>
          <p:cNvSpPr txBox="1"/>
          <p:nvPr/>
        </p:nvSpPr>
        <p:spPr>
          <a:xfrm>
            <a:off x="674557" y="1239878"/>
            <a:ext cx="1125761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4) Crie um dicionário com os nomes de times de futebol de SC, seguindo a ordem:</a:t>
            </a:r>
          </a:p>
          <a:p>
            <a:endParaRPr lang="en-US" sz="2400" dirty="0"/>
          </a:p>
          <a:p>
            <a:r>
              <a:rPr lang="en-US" sz="2400" dirty="0"/>
              <a:t>times = {1: “Criciuma”,  2: “Avai”,  3: “</a:t>
            </a:r>
            <a:r>
              <a:rPr lang="pt-BR" sz="2400" dirty="0"/>
              <a:t>Marcilio Dias</a:t>
            </a:r>
            <a:r>
              <a:rPr lang="pt-BR" sz="2400" u="none" strike="noStrike" dirty="0">
                <a:latin typeface="Google Sans"/>
              </a:rPr>
              <a:t>”, 4: “Joinville”, </a:t>
            </a:r>
          </a:p>
          <a:p>
            <a:r>
              <a:rPr lang="pt-BR" sz="2400" dirty="0">
                <a:latin typeface="Google Sans"/>
              </a:rPr>
              <a:t>                5: “Figueirense”,  6: “Chapecoense”,  7: “Brusque”, 8: “Metropolitano”</a:t>
            </a:r>
          </a:p>
          <a:p>
            <a:r>
              <a:rPr lang="pt-BR" sz="2400" dirty="0">
                <a:latin typeface="Google Sans"/>
              </a:rPr>
              <a:t>                9: “Hercílio Luz”, 10: “Inter de Lages”</a:t>
            </a:r>
            <a:r>
              <a:rPr lang="en-US" sz="2400" dirty="0">
                <a:latin typeface="Google Sans"/>
              </a:rPr>
              <a:t> }</a:t>
            </a:r>
            <a:endParaRPr lang="en-US" sz="2400" dirty="0"/>
          </a:p>
          <a:p>
            <a:endParaRPr lang="en-US" sz="2400" dirty="0"/>
          </a:p>
          <a:p>
            <a:r>
              <a:rPr lang="pt-BR" sz="2400" dirty="0"/>
              <a:t>Agora, inclua um novo time no final da lista </a:t>
            </a:r>
          </a:p>
          <a:p>
            <a:r>
              <a:rPr lang="pt-BR" sz="2400" dirty="0"/>
              <a:t>Mostre se o time  “Joinville” está cadastrado.</a:t>
            </a:r>
          </a:p>
          <a:p>
            <a:pPr algn="just"/>
            <a:r>
              <a:rPr lang="pt-BR" sz="2400" dirty="0"/>
              <a:t>Infelizmente o time 2: “Avaí” não fazem mais parte da lista e deve ser removida.</a:t>
            </a:r>
          </a:p>
          <a:p>
            <a:r>
              <a:rPr lang="pt-BR" sz="2400" dirty="0"/>
              <a:t>Ao final, mostre a lista completa de times.</a:t>
            </a:r>
          </a:p>
        </p:txBody>
      </p:sp>
    </p:spTree>
    <p:extLst>
      <p:ext uri="{BB962C8B-B14F-4D97-AF65-F5344CB8AC3E}">
        <p14:creationId xmlns:p14="http://schemas.microsoft.com/office/powerpoint/2010/main" val="2131202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348CD7-393D-490A-ADB8-2B867DF04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43</a:t>
            </a:fld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8FC0086-CE03-4B2C-BC44-DCF9296DB06F}"/>
              </a:ext>
            </a:extLst>
          </p:cNvPr>
          <p:cNvSpPr txBox="1"/>
          <p:nvPr/>
        </p:nvSpPr>
        <p:spPr>
          <a:xfrm>
            <a:off x="506559" y="775183"/>
            <a:ext cx="1154553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5) Crie um dicionário com os nomes de atletas famosos, seguindo a ordem:</a:t>
            </a:r>
          </a:p>
          <a:p>
            <a:endParaRPr lang="en-US" sz="2400" dirty="0"/>
          </a:p>
          <a:p>
            <a:r>
              <a:rPr lang="en-US" sz="2400" dirty="0" err="1"/>
              <a:t>atletas</a:t>
            </a:r>
            <a:r>
              <a:rPr lang="en-US" sz="2400" dirty="0"/>
              <a:t> = { “Cristiano Ronaldo” : “Futebol”, “</a:t>
            </a:r>
            <a:r>
              <a:rPr lang="pt-BR" sz="2400" i="0" dirty="0">
                <a:solidFill>
                  <a:srgbClr val="1D1E1F"/>
                </a:solidFill>
                <a:effectLst/>
                <a:latin typeface="-apple-system"/>
              </a:rPr>
              <a:t>LeBron James” : “Basquete”,</a:t>
            </a:r>
          </a:p>
          <a:p>
            <a:r>
              <a:rPr lang="pt-BR" sz="2400" i="0" dirty="0">
                <a:solidFill>
                  <a:srgbClr val="1D1E1F"/>
                </a:solidFill>
                <a:effectLst/>
                <a:latin typeface="-apple-system"/>
              </a:rPr>
              <a:t>                    “Lionel Messi” : “Futebol”, “Neymar” : “Futebol”,</a:t>
            </a:r>
          </a:p>
          <a:p>
            <a:r>
              <a:rPr lang="pt-BR" sz="2400" dirty="0">
                <a:solidFill>
                  <a:srgbClr val="1D1E1F"/>
                </a:solidFill>
                <a:latin typeface="-apple-system"/>
              </a:rPr>
              <a:t>                    “</a:t>
            </a:r>
            <a:r>
              <a:rPr lang="pt-BR" sz="2400" i="0" dirty="0">
                <a:solidFill>
                  <a:srgbClr val="1D1E1F"/>
                </a:solidFill>
                <a:effectLst/>
                <a:latin typeface="-apple-system"/>
              </a:rPr>
              <a:t>Conor McGregor” : “MMA”, “Roger Federer” : “Tênis”,</a:t>
            </a:r>
          </a:p>
          <a:p>
            <a:r>
              <a:rPr lang="pt-BR" sz="2400" i="0" dirty="0">
                <a:solidFill>
                  <a:srgbClr val="1D1E1F"/>
                </a:solidFill>
                <a:effectLst/>
                <a:latin typeface="-apple-system"/>
              </a:rPr>
              <a:t>                     “Rafael Nadal” : “Tênis”,  “Stephen Curry” : “Basquete”,</a:t>
            </a:r>
          </a:p>
          <a:p>
            <a:r>
              <a:rPr lang="pt-BR" sz="2400" dirty="0">
                <a:solidFill>
                  <a:srgbClr val="1D1E1F"/>
                </a:solidFill>
                <a:latin typeface="-apple-system"/>
              </a:rPr>
              <a:t>                     “</a:t>
            </a:r>
            <a:r>
              <a:rPr lang="pt-BR" sz="2400" i="0" dirty="0">
                <a:solidFill>
                  <a:srgbClr val="1D1E1F"/>
                </a:solidFill>
                <a:effectLst/>
                <a:latin typeface="-apple-system"/>
              </a:rPr>
              <a:t>Tiger Woods” : “Golfe”,  “Kevin Durant” : “Basquete”,</a:t>
            </a:r>
          </a:p>
          <a:p>
            <a:r>
              <a:rPr lang="pt-BR" sz="2400" dirty="0">
                <a:solidFill>
                  <a:srgbClr val="1D1E1F"/>
                </a:solidFill>
                <a:latin typeface="-apple-system"/>
              </a:rPr>
              <a:t>                      “</a:t>
            </a:r>
            <a:r>
              <a:rPr lang="pt-BR" sz="2400" i="0" dirty="0">
                <a:solidFill>
                  <a:srgbClr val="1D1E1F"/>
                </a:solidFill>
                <a:effectLst/>
                <a:latin typeface="-apple-system"/>
              </a:rPr>
              <a:t>Lewis Hamilton” : “Fórmula 1”, “Sun Yang” : “Natação” }</a:t>
            </a:r>
          </a:p>
          <a:p>
            <a:endParaRPr lang="en-US" sz="2400" dirty="0"/>
          </a:p>
          <a:p>
            <a:r>
              <a:rPr lang="pt-BR" sz="2400" dirty="0"/>
              <a:t>Agora, inclua um novo atleta no final da lista </a:t>
            </a:r>
          </a:p>
          <a:p>
            <a:r>
              <a:rPr lang="pt-BR" sz="2400" dirty="0"/>
              <a:t>Mostre se o atleta “Roger Federer” : “Tênis” está cadastrado. </a:t>
            </a:r>
          </a:p>
          <a:p>
            <a:pPr algn="just"/>
            <a:r>
              <a:rPr lang="pt-BR" sz="2400" dirty="0"/>
              <a:t>Infelizmente o atleta “Tiger Woods” : “Golfe”  não faz mais parte da lista e deve ser removido.</a:t>
            </a:r>
          </a:p>
          <a:p>
            <a:r>
              <a:rPr lang="pt-BR" sz="2400" dirty="0"/>
              <a:t>Ao final, mostre a lista completa de atletas.</a:t>
            </a:r>
          </a:p>
        </p:txBody>
      </p:sp>
    </p:spTree>
    <p:extLst>
      <p:ext uri="{BB962C8B-B14F-4D97-AF65-F5344CB8AC3E}">
        <p14:creationId xmlns:p14="http://schemas.microsoft.com/office/powerpoint/2010/main" val="29484617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6615</TotalTime>
  <Words>2431</Words>
  <Application>Microsoft Office PowerPoint</Application>
  <PresentationFormat>Widescreen</PresentationFormat>
  <Paragraphs>294</Paragraphs>
  <Slides>43</Slides>
  <Notes>33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50" baseType="lpstr">
      <vt:lpstr>-apple-system</vt:lpstr>
      <vt:lpstr>Arial</vt:lpstr>
      <vt:lpstr>Calibri</vt:lpstr>
      <vt:lpstr>Calibri Light</vt:lpstr>
      <vt:lpstr>Consolas</vt:lpstr>
      <vt:lpstr>Google Sans</vt:lpstr>
      <vt:lpstr>Tema do Office</vt:lpstr>
      <vt:lpstr>Dicionários em Python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da Disciplina</dc:title>
  <dc:creator>Vagner Da Silva Rodrigues</dc:creator>
  <cp:lastModifiedBy>Cristiane Pavei Fernandes</cp:lastModifiedBy>
  <cp:revision>435</cp:revision>
  <dcterms:created xsi:type="dcterms:W3CDTF">2019-07-27T22:06:45Z</dcterms:created>
  <dcterms:modified xsi:type="dcterms:W3CDTF">2024-05-15T17:42:54Z</dcterms:modified>
</cp:coreProperties>
</file>