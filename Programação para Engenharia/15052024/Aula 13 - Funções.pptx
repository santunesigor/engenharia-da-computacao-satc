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314" r:id="rId2"/>
    <p:sldId id="333" r:id="rId3"/>
    <p:sldId id="351" r:id="rId4"/>
    <p:sldId id="336" r:id="rId5"/>
    <p:sldId id="343" r:id="rId6"/>
    <p:sldId id="337" r:id="rId7"/>
    <p:sldId id="344" r:id="rId8"/>
    <p:sldId id="340" r:id="rId9"/>
    <p:sldId id="347" r:id="rId10"/>
    <p:sldId id="360" r:id="rId11"/>
    <p:sldId id="348" r:id="rId12"/>
    <p:sldId id="363" r:id="rId13"/>
    <p:sldId id="364" r:id="rId14"/>
    <p:sldId id="338" r:id="rId15"/>
    <p:sldId id="345" r:id="rId16"/>
    <p:sldId id="339" r:id="rId17"/>
    <p:sldId id="346" r:id="rId18"/>
    <p:sldId id="341" r:id="rId19"/>
    <p:sldId id="349" r:id="rId20"/>
    <p:sldId id="342" r:id="rId21"/>
    <p:sldId id="356" r:id="rId22"/>
    <p:sldId id="357" r:id="rId23"/>
    <p:sldId id="358" r:id="rId24"/>
    <p:sldId id="359" r:id="rId25"/>
    <p:sldId id="355" r:id="rId26"/>
    <p:sldId id="350" r:id="rId27"/>
    <p:sldId id="353" r:id="rId28"/>
    <p:sldId id="362" r:id="rId29"/>
    <p:sldId id="352" r:id="rId30"/>
    <p:sldId id="361" r:id="rId31"/>
    <p:sldId id="289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89503" autoAdjust="0"/>
  </p:normalViewPr>
  <p:slideViewPr>
    <p:cSldViewPr snapToGrid="0">
      <p:cViewPr varScale="1">
        <p:scale>
          <a:sx n="64" d="100"/>
          <a:sy n="64" d="100"/>
        </p:scale>
        <p:origin x="9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cs typeface="Times New Roman" panose="02020603050405020304" pitchFamily="18" charset="0"/>
              </a:rPr>
              <a:t>Funções em Python</a:t>
            </a:r>
            <a:br>
              <a:rPr lang="pt-BR" b="1" dirty="0"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5" name="Subtítulo 7">
            <a:extLst>
              <a:ext uri="{FF2B5EF4-FFF2-40B4-BE49-F238E27FC236}">
                <a16:creationId xmlns:a16="http://schemas.microsoft.com/office/drawing/2014/main" id="{F3838233-CEAB-5253-2F7E-9F3CAA9C9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07250"/>
          </a:xfrm>
        </p:spPr>
        <p:txBody>
          <a:bodyPr>
            <a:normAutofit fontScale="70000" lnSpcReduction="20000"/>
          </a:bodyPr>
          <a:lstStyle/>
          <a:p>
            <a:r>
              <a:rPr lang="pt-BR" altLang="pt-BR" sz="2800" b="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Disciplina: Programação para Engenharia</a:t>
            </a:r>
          </a:p>
          <a:p>
            <a:endParaRPr lang="pt-BR" altLang="pt-BR" b="1" i="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Professores:	Cristiane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Pavei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Martinello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Fernandes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Douglas de Medeiros Deolindo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Giovani Martins Cascaes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Joel Barbosa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Panchyniak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Marcelo Marcos Amoroso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Marcos Antônio Jeremias Coelho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Ramon de Souza Coan</a:t>
            </a:r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 que são funções?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946739" y="1673772"/>
            <a:ext cx="103686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dirty="0"/>
              <a:t>Funções são pequenos trechos de código reutilizáveis;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000" dirty="0"/>
          </a:p>
          <a:p>
            <a:pPr algn="just"/>
            <a:r>
              <a:rPr lang="pt-BR" sz="3000" dirty="0"/>
              <a:t>Elas permitem dar um nome a um bloco de comandos e executar esse bloco, a partir de qualquer lugar do programa;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000" dirty="0"/>
          </a:p>
          <a:p>
            <a:pPr algn="just"/>
            <a:r>
              <a:rPr lang="pt-BR" sz="3000" dirty="0"/>
              <a:t>Definições de funções auxiliam para automatizar procedimentos que são recorrentes no código, evitando a necessidade de escrevê-los várias vezes.</a:t>
            </a:r>
          </a:p>
        </p:txBody>
      </p:sp>
    </p:spTree>
    <p:extLst>
      <p:ext uri="{BB962C8B-B14F-4D97-AF65-F5344CB8AC3E}">
        <p14:creationId xmlns:p14="http://schemas.microsoft.com/office/powerpoint/2010/main" val="41563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 que são funções?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1231E6-0310-4E7E-B9FF-C306FDB91D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2" t="2821" r="2803" b="9160"/>
          <a:stretch/>
        </p:blipFill>
        <p:spPr>
          <a:xfrm>
            <a:off x="676234" y="1345132"/>
            <a:ext cx="6968750" cy="517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7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Como definir uma função em Python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946739" y="1673772"/>
            <a:ext cx="1036864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Bem como as outras estruturas do Python, a estrutura de definição de funções também segue as regras da indentação e dos dois pontos;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Para definir a função, usa-se a palavra reservada </a:t>
            </a:r>
            <a:r>
              <a:rPr lang="pt-BR" sz="2800" i="1" dirty="0" err="1">
                <a:solidFill>
                  <a:srgbClr val="FF0000"/>
                </a:solidFill>
              </a:rPr>
              <a:t>def</a:t>
            </a:r>
            <a:r>
              <a:rPr lang="pt-BR" sz="2800" dirty="0"/>
              <a:t>, seguida do </a:t>
            </a:r>
            <a:r>
              <a:rPr lang="pt-BR" sz="2800" dirty="0">
                <a:solidFill>
                  <a:srgbClr val="FF0000"/>
                </a:solidFill>
              </a:rPr>
              <a:t>nome da função</a:t>
            </a:r>
            <a:r>
              <a:rPr lang="pt-BR" sz="2800" dirty="0"/>
              <a:t>, dos </a:t>
            </a:r>
            <a:r>
              <a:rPr lang="pt-BR" sz="2800" dirty="0">
                <a:solidFill>
                  <a:srgbClr val="FF0000"/>
                </a:solidFill>
              </a:rPr>
              <a:t>parâmetros entre parênteses</a:t>
            </a:r>
            <a:r>
              <a:rPr lang="pt-BR" sz="2800" dirty="0"/>
              <a:t> e dos </a:t>
            </a:r>
            <a:r>
              <a:rPr lang="pt-BR" sz="2800" dirty="0">
                <a:solidFill>
                  <a:srgbClr val="FF0000"/>
                </a:solidFill>
              </a:rPr>
              <a:t>dois pontos</a:t>
            </a:r>
            <a:r>
              <a:rPr lang="pt-BR" sz="2800" dirty="0"/>
              <a:t>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endParaRPr lang="pt-BR" sz="2800" dirty="0"/>
          </a:p>
          <a:p>
            <a:pPr algn="just"/>
            <a:endParaRPr lang="pt-BR" sz="2800" dirty="0"/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Para retornar valores ou apenas para indicar o término da função, deve-se usar a palavra </a:t>
            </a:r>
            <a:r>
              <a:rPr lang="pt-BR" sz="2800" i="1" dirty="0" err="1">
                <a:solidFill>
                  <a:srgbClr val="FF0000"/>
                </a:solidFill>
              </a:rPr>
              <a:t>return</a:t>
            </a:r>
            <a:r>
              <a:rPr lang="pt-BR" sz="2800" dirty="0"/>
              <a:t>.</a:t>
            </a:r>
          </a:p>
        </p:txBody>
      </p:sp>
      <p:pic>
        <p:nvPicPr>
          <p:cNvPr id="5" name="Picture 4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849DB571-3FC1-F7B5-40DA-508E42EA0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384" y="4246489"/>
            <a:ext cx="4665232" cy="11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 de uma função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362594" y="1293166"/>
            <a:ext cx="315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Palavra reservada </a:t>
            </a:r>
            <a:r>
              <a:rPr lang="pt-BR" sz="2400" b="1" dirty="0" err="1">
                <a:solidFill>
                  <a:srgbClr val="FF0000"/>
                </a:solidFill>
              </a:rPr>
              <a:t>def</a:t>
            </a:r>
            <a:r>
              <a:rPr lang="pt-BR" sz="2400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D2306F-5BAE-4551-A66D-65862363E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132" y="2700119"/>
            <a:ext cx="6340718" cy="2409087"/>
          </a:xfrm>
          <a:prstGeom prst="rect">
            <a:avLst/>
          </a:prstGeom>
        </p:spPr>
      </p:pic>
      <p:cxnSp>
        <p:nvCxnSpPr>
          <p:cNvPr id="11" name="Conector: Curvo 10">
            <a:extLst>
              <a:ext uri="{FF2B5EF4-FFF2-40B4-BE49-F238E27FC236}">
                <a16:creationId xmlns:a16="http://schemas.microsoft.com/office/drawing/2014/main" id="{A78D3FF0-2CA8-459F-A1A1-DD6B9A718FCD}"/>
              </a:ext>
            </a:extLst>
          </p:cNvPr>
          <p:cNvCxnSpPr>
            <a:cxnSpLocks/>
            <a:endCxn id="9" idx="1"/>
          </p:cNvCxnSpPr>
          <p:nvPr/>
        </p:nvCxnSpPr>
        <p:spPr>
          <a:xfrm rot="5400000" flipH="1" flipV="1">
            <a:off x="3145219" y="1684856"/>
            <a:ext cx="1378232" cy="1056518"/>
          </a:xfrm>
          <a:prstGeom prst="curvedConnector2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50781B2-1935-49C7-BEE2-43FD91220D16}"/>
              </a:ext>
            </a:extLst>
          </p:cNvPr>
          <p:cNvSpPr txBox="1"/>
          <p:nvPr/>
        </p:nvSpPr>
        <p:spPr>
          <a:xfrm>
            <a:off x="5489028" y="1867622"/>
            <a:ext cx="315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Nome dado a função</a:t>
            </a:r>
          </a:p>
        </p:txBody>
      </p:sp>
      <p:cxnSp>
        <p:nvCxnSpPr>
          <p:cNvPr id="19" name="Conector: Curvo 18">
            <a:extLst>
              <a:ext uri="{FF2B5EF4-FFF2-40B4-BE49-F238E27FC236}">
                <a16:creationId xmlns:a16="http://schemas.microsoft.com/office/drawing/2014/main" id="{B6AA7723-0712-4847-9496-4EF04AA2C79E}"/>
              </a:ext>
            </a:extLst>
          </p:cNvPr>
          <p:cNvCxnSpPr>
            <a:cxnSpLocks/>
            <a:endCxn id="18" idx="1"/>
          </p:cNvCxnSpPr>
          <p:nvPr/>
        </p:nvCxnSpPr>
        <p:spPr>
          <a:xfrm rot="5400000" flipH="1" flipV="1">
            <a:off x="4691500" y="2217495"/>
            <a:ext cx="916567" cy="678489"/>
          </a:xfrm>
          <a:prstGeom prst="curvedConnector2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DC6BEA5-8B07-4145-83D4-31FF01F8F565}"/>
              </a:ext>
            </a:extLst>
          </p:cNvPr>
          <p:cNvSpPr txBox="1"/>
          <p:nvPr/>
        </p:nvSpPr>
        <p:spPr>
          <a:xfrm>
            <a:off x="4905932" y="5967140"/>
            <a:ext cx="5444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Palavra reservada para retorno </a:t>
            </a:r>
            <a:r>
              <a:rPr lang="pt-BR" sz="2400" b="1" dirty="0" err="1">
                <a:solidFill>
                  <a:srgbClr val="FF0000"/>
                </a:solidFill>
              </a:rPr>
              <a:t>return</a:t>
            </a:r>
            <a:r>
              <a:rPr lang="pt-BR" sz="2400" dirty="0"/>
              <a:t> </a:t>
            </a:r>
          </a:p>
        </p:txBody>
      </p:sp>
      <p:cxnSp>
        <p:nvCxnSpPr>
          <p:cNvPr id="23" name="Conector: Curvo 22">
            <a:extLst>
              <a:ext uri="{FF2B5EF4-FFF2-40B4-BE49-F238E27FC236}">
                <a16:creationId xmlns:a16="http://schemas.microsoft.com/office/drawing/2014/main" id="{A1190B00-1DD6-48C9-8463-A16F487739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62157" y="5192831"/>
            <a:ext cx="1466947" cy="543338"/>
          </a:xfrm>
          <a:prstGeom prst="curvedConnector2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44DA88F-1146-42A3-80B2-FCE99ABAD2C6}"/>
              </a:ext>
            </a:extLst>
          </p:cNvPr>
          <p:cNvSpPr txBox="1"/>
          <p:nvPr/>
        </p:nvSpPr>
        <p:spPr>
          <a:xfrm>
            <a:off x="7868040" y="3350664"/>
            <a:ext cx="31540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AA17073-24E5-4DDB-B377-48B74FD08C9F}"/>
              </a:ext>
            </a:extLst>
          </p:cNvPr>
          <p:cNvSpPr txBox="1"/>
          <p:nvPr/>
        </p:nvSpPr>
        <p:spPr>
          <a:xfrm>
            <a:off x="10143773" y="2593179"/>
            <a:ext cx="1936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Dois pontos para controle de fluxo</a:t>
            </a:r>
          </a:p>
        </p:txBody>
      </p:sp>
      <p:cxnSp>
        <p:nvCxnSpPr>
          <p:cNvPr id="28" name="Conector: Curvo 27">
            <a:extLst>
              <a:ext uri="{FF2B5EF4-FFF2-40B4-BE49-F238E27FC236}">
                <a16:creationId xmlns:a16="http://schemas.microsoft.com/office/drawing/2014/main" id="{4AD7A024-82ED-4F3A-B334-2EECF1C098FC}"/>
              </a:ext>
            </a:extLst>
          </p:cNvPr>
          <p:cNvCxnSpPr>
            <a:cxnSpLocks/>
          </p:cNvCxnSpPr>
          <p:nvPr/>
        </p:nvCxnSpPr>
        <p:spPr>
          <a:xfrm flipV="1">
            <a:off x="8309113" y="4100443"/>
            <a:ext cx="990162" cy="1877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37932022-8277-4A00-85CE-2A8295A96765}"/>
              </a:ext>
            </a:extLst>
          </p:cNvPr>
          <p:cNvSpPr/>
          <p:nvPr/>
        </p:nvSpPr>
        <p:spPr>
          <a:xfrm>
            <a:off x="8583255" y="2957651"/>
            <a:ext cx="441878" cy="43384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: Curvo 32">
            <a:extLst>
              <a:ext uri="{FF2B5EF4-FFF2-40B4-BE49-F238E27FC236}">
                <a16:creationId xmlns:a16="http://schemas.microsoft.com/office/drawing/2014/main" id="{847C7C74-39C3-47E2-9A46-77697B2D480C}"/>
              </a:ext>
            </a:extLst>
          </p:cNvPr>
          <p:cNvCxnSpPr>
            <a:cxnSpLocks/>
          </p:cNvCxnSpPr>
          <p:nvPr/>
        </p:nvCxnSpPr>
        <p:spPr>
          <a:xfrm flipV="1">
            <a:off x="9105258" y="3174574"/>
            <a:ext cx="990162" cy="1877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CCC214C-C7EC-42F9-857E-D3B16F076695}"/>
              </a:ext>
            </a:extLst>
          </p:cNvPr>
          <p:cNvSpPr txBox="1"/>
          <p:nvPr/>
        </p:nvSpPr>
        <p:spPr>
          <a:xfrm>
            <a:off x="9451675" y="3995506"/>
            <a:ext cx="315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Corpo da função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1DE9812-947C-458C-A434-28F192F082F0}"/>
              </a:ext>
            </a:extLst>
          </p:cNvPr>
          <p:cNvSpPr txBox="1"/>
          <p:nvPr/>
        </p:nvSpPr>
        <p:spPr>
          <a:xfrm rot="16200000">
            <a:off x="7707050" y="2045757"/>
            <a:ext cx="6784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7B40672-3A4A-4A0D-951E-AE6C2C244365}"/>
              </a:ext>
            </a:extLst>
          </p:cNvPr>
          <p:cNvSpPr txBox="1"/>
          <p:nvPr/>
        </p:nvSpPr>
        <p:spPr>
          <a:xfrm>
            <a:off x="9110958" y="1170313"/>
            <a:ext cx="2789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Parâmetros da função</a:t>
            </a:r>
          </a:p>
        </p:txBody>
      </p: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B2F1E05E-F339-4B43-B17C-2539EE3DF377}"/>
              </a:ext>
            </a:extLst>
          </p:cNvPr>
          <p:cNvCxnSpPr>
            <a:cxnSpLocks/>
            <a:endCxn id="36" idx="1"/>
          </p:cNvCxnSpPr>
          <p:nvPr/>
        </p:nvCxnSpPr>
        <p:spPr>
          <a:xfrm rot="5400000" flipH="1" flipV="1">
            <a:off x="8058724" y="1647885"/>
            <a:ext cx="1114307" cy="990162"/>
          </a:xfrm>
          <a:prstGeom prst="curvedConnector2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7992C11-206F-46E2-AA95-5B80F41CFD6F}"/>
              </a:ext>
            </a:extLst>
          </p:cNvPr>
          <p:cNvSpPr txBox="1"/>
          <p:nvPr/>
        </p:nvSpPr>
        <p:spPr>
          <a:xfrm>
            <a:off x="2860020" y="2780619"/>
            <a:ext cx="6784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rgbClr val="FF0000"/>
                </a:solidFill>
              </a:rPr>
              <a:t>_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4370C16-632C-4D4D-B812-85F17DC85490}"/>
              </a:ext>
            </a:extLst>
          </p:cNvPr>
          <p:cNvSpPr txBox="1"/>
          <p:nvPr/>
        </p:nvSpPr>
        <p:spPr>
          <a:xfrm>
            <a:off x="102340" y="3776816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Indentação</a:t>
            </a:r>
          </a:p>
        </p:txBody>
      </p:sp>
      <p:cxnSp>
        <p:nvCxnSpPr>
          <p:cNvPr id="43" name="Conector: Curvo 42">
            <a:extLst>
              <a:ext uri="{FF2B5EF4-FFF2-40B4-BE49-F238E27FC236}">
                <a16:creationId xmlns:a16="http://schemas.microsoft.com/office/drawing/2014/main" id="{F61999B6-8D58-48DB-AE1C-5B8C65B0E4C6}"/>
              </a:ext>
            </a:extLst>
          </p:cNvPr>
          <p:cNvCxnSpPr>
            <a:cxnSpLocks/>
          </p:cNvCxnSpPr>
          <p:nvPr/>
        </p:nvCxnSpPr>
        <p:spPr>
          <a:xfrm rot="10800000">
            <a:off x="1655211" y="4018830"/>
            <a:ext cx="1237514" cy="1643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10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22" grpId="0"/>
      <p:bldP spid="26" grpId="0"/>
      <p:bldP spid="27" grpId="0"/>
      <p:bldP spid="32" grpId="0" animBg="1"/>
      <p:bldP spid="34" grpId="0"/>
      <p:bldP spid="35" grpId="0"/>
      <p:bldP spid="36" grpId="0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Parâmetros e argumentos das funções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946739" y="1673772"/>
            <a:ext cx="103686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/>
              <a:t>Parâmetros</a:t>
            </a:r>
            <a:r>
              <a:rPr lang="pt-BR" sz="2800" dirty="0"/>
              <a:t> são as variáveis que podem ser incluídas nos parênteses das funções;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Quando a função é chamada são passados valores para essas variáveis. Esses valores são chamados argumentos;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O corpo da função pode utilizar essas variáveis, cujos valores podem modificar o comportamento da função.</a:t>
            </a:r>
          </a:p>
        </p:txBody>
      </p:sp>
    </p:spTree>
    <p:extLst>
      <p:ext uri="{BB962C8B-B14F-4D97-AF65-F5344CB8AC3E}">
        <p14:creationId xmlns:p14="http://schemas.microsoft.com/office/powerpoint/2010/main" val="408245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Parâmetros e argumentos das funções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A7A06E-6786-46C7-9936-705526262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06" y="1822955"/>
            <a:ext cx="4519104" cy="193437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BF866A3-8710-44E4-9FD9-9DC9CE75D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06" y="4354767"/>
            <a:ext cx="10271406" cy="217920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F4B6EE-5547-48F7-94BE-F680E7529B9E}"/>
              </a:ext>
            </a:extLst>
          </p:cNvPr>
          <p:cNvSpPr txBox="1"/>
          <p:nvPr/>
        </p:nvSpPr>
        <p:spPr>
          <a:xfrm rot="16200000">
            <a:off x="3821578" y="1068674"/>
            <a:ext cx="6784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9EF7485-AF13-4B7F-895B-B326682CD572}"/>
              </a:ext>
            </a:extLst>
          </p:cNvPr>
          <p:cNvSpPr txBox="1"/>
          <p:nvPr/>
        </p:nvSpPr>
        <p:spPr>
          <a:xfrm>
            <a:off x="7956652" y="1673477"/>
            <a:ext cx="292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Parâmetros da função</a:t>
            </a:r>
          </a:p>
        </p:txBody>
      </p:sp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7746D71D-2840-4EA3-8755-530E4CB25D15}"/>
              </a:ext>
            </a:extLst>
          </p:cNvPr>
          <p:cNvCxnSpPr>
            <a:cxnSpLocks/>
            <a:stCxn id="12" idx="3"/>
          </p:cNvCxnSpPr>
          <p:nvPr/>
        </p:nvCxnSpPr>
        <p:spPr>
          <a:xfrm rot="16200000" flipH="1">
            <a:off x="6724501" y="-1110973"/>
            <a:ext cx="220772" cy="5348128"/>
          </a:xfrm>
          <a:prstGeom prst="curvedConnector4">
            <a:avLst>
              <a:gd name="adj1" fmla="val -103546"/>
              <a:gd name="adj2" fmla="val 100004"/>
            </a:avLst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157ED9A-B799-45EF-A15D-9F1FDDEB4077}"/>
              </a:ext>
            </a:extLst>
          </p:cNvPr>
          <p:cNvSpPr txBox="1"/>
          <p:nvPr/>
        </p:nvSpPr>
        <p:spPr>
          <a:xfrm rot="16200000">
            <a:off x="6122516" y="4520940"/>
            <a:ext cx="6784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8A2BA98-B986-43FC-B4C7-3BB9A4831B57}"/>
              </a:ext>
            </a:extLst>
          </p:cNvPr>
          <p:cNvSpPr txBox="1"/>
          <p:nvPr/>
        </p:nvSpPr>
        <p:spPr>
          <a:xfrm>
            <a:off x="7450080" y="3014122"/>
            <a:ext cx="292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Argumentos passados</a:t>
            </a:r>
          </a:p>
        </p:txBody>
      </p:sp>
      <p:cxnSp>
        <p:nvCxnSpPr>
          <p:cNvPr id="34" name="Conector: Curvo 33">
            <a:extLst>
              <a:ext uri="{FF2B5EF4-FFF2-40B4-BE49-F238E27FC236}">
                <a16:creationId xmlns:a16="http://schemas.microsoft.com/office/drawing/2014/main" id="{FC85E710-FCD1-4DCC-AE76-9E42ADC3545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56860" y="3033901"/>
            <a:ext cx="1659814" cy="245001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25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Retorno de valores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023257" y="2113694"/>
            <a:ext cx="1059590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dirty="0"/>
              <a:t>O comando </a:t>
            </a:r>
            <a:r>
              <a:rPr lang="pt-BR" sz="3000" dirty="0" err="1">
                <a:solidFill>
                  <a:srgbClr val="FF0000"/>
                </a:solidFill>
              </a:rPr>
              <a:t>return</a:t>
            </a:r>
            <a:r>
              <a:rPr lang="pt-BR" sz="3000" dirty="0"/>
              <a:t> é usado para retornar um valor de uma função e encerrá-la. </a:t>
            </a:r>
          </a:p>
          <a:p>
            <a:pPr algn="just"/>
            <a:endParaRPr lang="pt-BR" sz="3000" dirty="0"/>
          </a:p>
          <a:p>
            <a:pPr algn="just"/>
            <a:r>
              <a:rPr lang="pt-BR" sz="3000" dirty="0"/>
              <a:t>Caso não seja declarado um valor de retorno, a função retorna o valor </a:t>
            </a:r>
            <a:r>
              <a:rPr lang="pt-BR" sz="3000" dirty="0" err="1">
                <a:solidFill>
                  <a:srgbClr val="FF0000"/>
                </a:solidFill>
              </a:rPr>
              <a:t>None</a:t>
            </a:r>
            <a:r>
              <a:rPr lang="pt-BR" sz="3000" dirty="0"/>
              <a:t> (que significa nenhum, sem valor).</a:t>
            </a:r>
          </a:p>
        </p:txBody>
      </p:sp>
    </p:spTree>
    <p:extLst>
      <p:ext uri="{BB962C8B-B14F-4D97-AF65-F5344CB8AC3E}">
        <p14:creationId xmlns:p14="http://schemas.microsoft.com/office/powerpoint/2010/main" val="322620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Retorno de valores e variáveis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F7A156-931A-4838-8C83-2BA47EC28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52" y="1301234"/>
            <a:ext cx="5383696" cy="369759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1DC9EAE-1759-4920-8A7C-B9394D5E2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152" y="5313396"/>
            <a:ext cx="1474304" cy="120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Retorno de múltiplos valores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023257" y="1268958"/>
            <a:ext cx="105959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dirty="0"/>
              <a:t>Funções também podem retornar múltiplos dados.</a:t>
            </a:r>
          </a:p>
        </p:txBody>
      </p:sp>
      <p:pic>
        <p:nvPicPr>
          <p:cNvPr id="3" name="Picture 2" descr="A picture containing text, screenshot, software, font&#10;&#10;Description automatically generated">
            <a:extLst>
              <a:ext uri="{FF2B5EF4-FFF2-40B4-BE49-F238E27FC236}">
                <a16:creationId xmlns:a16="http://schemas.microsoft.com/office/drawing/2014/main" id="{0F0BF4D5-5C39-212C-A546-279C85DB3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33" y="2387303"/>
            <a:ext cx="7398392" cy="3409063"/>
          </a:xfrm>
          <a:prstGeom prst="rect">
            <a:avLst/>
          </a:prstGeom>
        </p:spPr>
      </p:pic>
      <p:pic>
        <p:nvPicPr>
          <p:cNvPr id="5" name="Picture 4" descr="A picture containing text, font, number, screenshot&#10;&#10;Description automatically generated">
            <a:extLst>
              <a:ext uri="{FF2B5EF4-FFF2-40B4-BE49-F238E27FC236}">
                <a16:creationId xmlns:a16="http://schemas.microsoft.com/office/drawing/2014/main" id="{85B3B959-BB0D-13E3-488C-382DDD5DB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573" y="4422150"/>
            <a:ext cx="2283624" cy="137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1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Boas práticas com Funções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B0F11E-FECD-4637-A786-D16AE2B76615}"/>
              </a:ext>
            </a:extLst>
          </p:cNvPr>
          <p:cNvSpPr txBox="1"/>
          <p:nvPr/>
        </p:nvSpPr>
        <p:spPr>
          <a:xfrm>
            <a:off x="956345" y="1524000"/>
            <a:ext cx="1040234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Uso da função </a:t>
            </a:r>
            <a:r>
              <a:rPr lang="pt-BR" sz="2800" b="1" dirty="0" err="1"/>
              <a:t>main</a:t>
            </a:r>
            <a:r>
              <a:rPr lang="pt-BR" sz="2800" b="1" dirty="0"/>
              <a:t>()</a:t>
            </a:r>
          </a:p>
          <a:p>
            <a:endParaRPr lang="pt-BR" sz="2800" dirty="0"/>
          </a:p>
          <a:p>
            <a:r>
              <a:rPr lang="pt-BR" sz="2800" b="1" dirty="0"/>
              <a:t>__</a:t>
            </a:r>
            <a:r>
              <a:rPr lang="pt-BR" sz="2800" b="1" dirty="0" err="1"/>
              <a:t>main</a:t>
            </a:r>
            <a:r>
              <a:rPr lang="pt-BR" sz="2800" b="1" dirty="0"/>
              <a:t>__</a:t>
            </a:r>
            <a:r>
              <a:rPr lang="pt-BR" sz="2800" dirty="0"/>
              <a:t> é o nome do ambiente principal no qual o código é executado</a:t>
            </a:r>
          </a:p>
          <a:p>
            <a:endParaRPr lang="pt-BR" sz="2800" dirty="0"/>
          </a:p>
          <a:p>
            <a:r>
              <a:rPr lang="pt-BR" sz="2800" dirty="0"/>
              <a:t>“</a:t>
            </a:r>
            <a:r>
              <a:rPr lang="pt-BR" sz="2800" b="1" dirty="0"/>
              <a:t>Ambiente de código principal” </a:t>
            </a:r>
            <a:r>
              <a:rPr lang="pt-BR" sz="2800" dirty="0"/>
              <a:t>é o primeiro módulo Python definido pelo usuário que começa a ser executado</a:t>
            </a:r>
          </a:p>
          <a:p>
            <a:endParaRPr lang="pt-BR" sz="2800" dirty="0"/>
          </a:p>
          <a:p>
            <a:r>
              <a:rPr lang="pt-BR" sz="2800" dirty="0"/>
              <a:t>É considerado principal porque ele importa todos os outros módulos que o programa precisa</a:t>
            </a:r>
          </a:p>
        </p:txBody>
      </p:sp>
    </p:spTree>
    <p:extLst>
      <p:ext uri="{BB962C8B-B14F-4D97-AF65-F5344CB8AC3E}">
        <p14:creationId xmlns:p14="http://schemas.microsoft.com/office/powerpoint/2010/main" val="175727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Boas práticas com Funções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B0F11E-FECD-4637-A786-D16AE2B76615}"/>
              </a:ext>
            </a:extLst>
          </p:cNvPr>
          <p:cNvSpPr txBox="1"/>
          <p:nvPr/>
        </p:nvSpPr>
        <p:spPr>
          <a:xfrm>
            <a:off x="956345" y="1524000"/>
            <a:ext cx="10402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Uso da função </a:t>
            </a:r>
            <a:r>
              <a:rPr lang="pt-BR" sz="2800" b="1" dirty="0" err="1"/>
              <a:t>main</a:t>
            </a:r>
            <a:r>
              <a:rPr lang="pt-BR" sz="2800" b="1" dirty="0"/>
              <a:t>()</a:t>
            </a:r>
          </a:p>
        </p:txBody>
      </p:sp>
      <p:pic>
        <p:nvPicPr>
          <p:cNvPr id="3" name="Picture 2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0A9132F0-DB6D-B871-FB10-248A35166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235" y="2327660"/>
            <a:ext cx="7443530" cy="368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20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Boas práticas com Funções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B0F11E-FECD-4637-A786-D16AE2B76615}"/>
              </a:ext>
            </a:extLst>
          </p:cNvPr>
          <p:cNvSpPr txBox="1"/>
          <p:nvPr/>
        </p:nvSpPr>
        <p:spPr>
          <a:xfrm>
            <a:off x="956345" y="1524000"/>
            <a:ext cx="10402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Uso da função </a:t>
            </a:r>
            <a:r>
              <a:rPr lang="pt-BR" sz="2800" b="1" dirty="0" err="1"/>
              <a:t>main</a:t>
            </a:r>
            <a:r>
              <a:rPr lang="pt-BR" sz="2800" b="1" dirty="0"/>
              <a:t>()</a:t>
            </a:r>
          </a:p>
        </p:txBody>
      </p:sp>
      <p:pic>
        <p:nvPicPr>
          <p:cNvPr id="3" name="Picture 2" descr="A computer screen with colorful text&#10;&#10;Description automatically generated">
            <a:extLst>
              <a:ext uri="{FF2B5EF4-FFF2-40B4-BE49-F238E27FC236}">
                <a16:creationId xmlns:a16="http://schemas.microsoft.com/office/drawing/2014/main" id="{1769B11F-68E3-8934-423B-E66DC003F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306" y="2047220"/>
            <a:ext cx="6511387" cy="448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82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Escopos de variáveis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023257" y="1524000"/>
            <a:ext cx="108770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Toda variável utilizada dentro de uma função tem escopo local, isto é, ela não será acessível por outras funções ou pelo programa principal.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Se houver variável com o mesmo nome fora da função, será uma outra variável, completamente independentes entre si;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1220062-3583-4874-AA9E-401AC457DB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69" b="11164"/>
          <a:stretch/>
        </p:blipFill>
        <p:spPr>
          <a:xfrm>
            <a:off x="2733169" y="3954221"/>
            <a:ext cx="7147216" cy="2587867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88070CAC-74D7-4D7B-AA51-9E0ED28C113E}"/>
              </a:ext>
            </a:extLst>
          </p:cNvPr>
          <p:cNvSpPr/>
          <p:nvPr/>
        </p:nvSpPr>
        <p:spPr>
          <a:xfrm>
            <a:off x="3949147" y="4965003"/>
            <a:ext cx="1895061" cy="52070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91CFBF9-6D97-40A9-ABEB-E3BD6FA39AF4}"/>
              </a:ext>
            </a:extLst>
          </p:cNvPr>
          <p:cNvSpPr/>
          <p:nvPr/>
        </p:nvSpPr>
        <p:spPr>
          <a:xfrm>
            <a:off x="3298899" y="6021385"/>
            <a:ext cx="1895061" cy="52070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32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escopo de variáveis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5B1680A-14DF-4886-8B8F-F3D34B665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48" y="1524000"/>
            <a:ext cx="7573303" cy="346084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51C8BBE-F018-4505-98A6-A6A543FBD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48" y="5367860"/>
            <a:ext cx="1179286" cy="114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51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Escopos de variáveis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946739" y="1673772"/>
            <a:ext cx="103686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Para uma variável ser compartilhada entre diversas funções e o programa principal, ela deve ser definida como variável global.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algn="just"/>
            <a:r>
              <a:rPr lang="pt-BR" sz="3200" dirty="0"/>
              <a:t>Para isto, utiliza se a instrução </a:t>
            </a:r>
            <a:r>
              <a:rPr lang="pt-BR" sz="3200" dirty="0">
                <a:solidFill>
                  <a:srgbClr val="FF0000"/>
                </a:solidFill>
              </a:rPr>
              <a:t>global</a:t>
            </a:r>
            <a:r>
              <a:rPr lang="pt-BR" sz="3200" dirty="0"/>
              <a:t> para declarar a variável em todas as funções para as quais ela deva estar acessível, o mesmo vale para o programa principal.</a:t>
            </a:r>
          </a:p>
        </p:txBody>
      </p:sp>
    </p:spTree>
    <p:extLst>
      <p:ext uri="{BB962C8B-B14F-4D97-AF65-F5344CB8AC3E}">
        <p14:creationId xmlns:p14="http://schemas.microsoft.com/office/powerpoint/2010/main" val="428357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escopo de variáveis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46AC46-F12B-495F-BD13-FBC6DC97C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073" y="1153749"/>
            <a:ext cx="7213374" cy="411190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8DBA479-6680-4469-BD05-7A006FCA5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073" y="5497060"/>
            <a:ext cx="1646589" cy="97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18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Valores padrões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946739" y="1673772"/>
            <a:ext cx="103686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É possível definir um valor padrão para os parâmetros da função.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algn="just"/>
            <a:r>
              <a:rPr lang="pt-BR" sz="3200" dirty="0"/>
              <a:t>Neste caso, quando o valor é omitido na chamada da função, a variável assume o valor padrão.</a:t>
            </a:r>
          </a:p>
        </p:txBody>
      </p:sp>
    </p:spTree>
    <p:extLst>
      <p:ext uri="{BB962C8B-B14F-4D97-AF65-F5344CB8AC3E}">
        <p14:creationId xmlns:p14="http://schemas.microsoft.com/office/powerpoint/2010/main" val="414416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Valores padrões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771BEA2-2C19-4968-A69E-981361CBE9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117"/>
          <a:stretch/>
        </p:blipFill>
        <p:spPr>
          <a:xfrm>
            <a:off x="2639667" y="1703687"/>
            <a:ext cx="6912665" cy="283203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BE673B6-51EA-4B99-9695-8ECC9E70A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67" y="4923079"/>
            <a:ext cx="2011846" cy="74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04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Parâmetro *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args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037722" y="1180493"/>
            <a:ext cx="103686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Caso se queira desenvolver uma função que recebe um número variável de parâmetros, você pode utilizar o parâmetro </a:t>
            </a:r>
            <a:r>
              <a:rPr lang="pt-BR" sz="2800" b="1" dirty="0"/>
              <a:t>*</a:t>
            </a:r>
            <a:r>
              <a:rPr lang="pt-BR" sz="2800" b="1" dirty="0" err="1"/>
              <a:t>args</a:t>
            </a:r>
            <a:r>
              <a:rPr lang="pt-BR" sz="2800" dirty="0"/>
              <a:t>!</a:t>
            </a:r>
          </a:p>
          <a:p>
            <a:pPr algn="just"/>
            <a:r>
              <a:rPr lang="pt-BR" sz="2800" dirty="0"/>
              <a:t>Dessa forma, a função receberá os argumentos em forma de Tupla e você poderá processá-los com um loop for por exemplo!</a:t>
            </a:r>
          </a:p>
        </p:txBody>
      </p:sp>
      <p:pic>
        <p:nvPicPr>
          <p:cNvPr id="8" name="Picture 7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B8C4E489-E88C-0EC3-D0E8-81B7E1DA1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22" y="3489654"/>
            <a:ext cx="4291976" cy="3027256"/>
          </a:xfrm>
          <a:prstGeom prst="rect">
            <a:avLst/>
          </a:prstGeom>
        </p:spPr>
      </p:pic>
      <p:pic>
        <p:nvPicPr>
          <p:cNvPr id="12" name="Picture 11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FDAB4DC3-C9AC-A4F4-92A9-AB84CD923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58861"/>
            <a:ext cx="5058913" cy="230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2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Parâmetro *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args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037722" y="1180493"/>
            <a:ext cx="103686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Observação: 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O nome </a:t>
            </a:r>
            <a:r>
              <a:rPr lang="pt-BR" sz="2800" b="1" dirty="0"/>
              <a:t>*</a:t>
            </a:r>
            <a:r>
              <a:rPr lang="pt-BR" sz="2800" b="1" dirty="0" err="1"/>
              <a:t>args</a:t>
            </a:r>
            <a:r>
              <a:rPr lang="pt-BR" sz="2800" b="1" dirty="0"/>
              <a:t> </a:t>
            </a:r>
            <a:r>
              <a:rPr lang="pt-BR" sz="2800" dirty="0"/>
              <a:t>é uma convenção, ou seja uma boa prática entre programadores Python!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Contudo, nada te impede de alterar esse nome para </a:t>
            </a:r>
            <a:r>
              <a:rPr lang="pt-BR" sz="2800" b="1" dirty="0"/>
              <a:t>*números </a:t>
            </a:r>
            <a:r>
              <a:rPr lang="pt-BR" sz="2800" dirty="0"/>
              <a:t>por exemplo. Dessa forma, a definição da função seria: </a:t>
            </a:r>
          </a:p>
          <a:p>
            <a:pPr algn="just"/>
            <a:endParaRPr lang="pt-BR" sz="2800" b="1" dirty="0"/>
          </a:p>
          <a:p>
            <a:pPr algn="just"/>
            <a:r>
              <a:rPr lang="pt-BR" sz="2800" b="1" dirty="0" err="1"/>
              <a:t>def</a:t>
            </a:r>
            <a:r>
              <a:rPr lang="pt-BR" sz="2800" b="1" dirty="0"/>
              <a:t> maior_30(*números):</a:t>
            </a:r>
          </a:p>
        </p:txBody>
      </p:sp>
    </p:spTree>
    <p:extLst>
      <p:ext uri="{BB962C8B-B14F-4D97-AF65-F5344CB8AC3E}">
        <p14:creationId xmlns:p14="http://schemas.microsoft.com/office/powerpoint/2010/main" val="52894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Parâmetro **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kwargs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037722" y="1180493"/>
            <a:ext cx="103686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Agora, se quiser desenvolver uma função com número variado de parâmetros nomeados, utilize </a:t>
            </a:r>
            <a:r>
              <a:rPr lang="pt-BR" sz="2800" b="1" dirty="0"/>
              <a:t>**</a:t>
            </a:r>
            <a:r>
              <a:rPr lang="pt-BR" sz="2800" b="1" dirty="0" err="1"/>
              <a:t>kwargs</a:t>
            </a:r>
            <a:r>
              <a:rPr lang="pt-BR" sz="2800" dirty="0"/>
              <a:t>.</a:t>
            </a:r>
          </a:p>
          <a:p>
            <a:pPr algn="just"/>
            <a:r>
              <a:rPr lang="pt-BR" sz="2800" dirty="0"/>
              <a:t>Dessa forma, todos os dados passados à função serão guardados nessa variável </a:t>
            </a:r>
            <a:r>
              <a:rPr lang="pt-BR" sz="2800" b="1" dirty="0"/>
              <a:t>**</a:t>
            </a:r>
            <a:r>
              <a:rPr lang="pt-BR" sz="2800" b="1" dirty="0" err="1"/>
              <a:t>kwargs</a:t>
            </a:r>
            <a:r>
              <a:rPr lang="pt-BR" sz="2800" dirty="0"/>
              <a:t>, em formato de um </a:t>
            </a:r>
            <a:r>
              <a:rPr lang="pt-BR" sz="2800" b="1" dirty="0"/>
              <a:t>dicionário</a:t>
            </a:r>
            <a:r>
              <a:rPr lang="pt-BR" sz="2800" dirty="0"/>
              <a:t>.</a:t>
            </a:r>
          </a:p>
        </p:txBody>
      </p:sp>
      <p:pic>
        <p:nvPicPr>
          <p:cNvPr id="3" name="Picture 2" descr="A computer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14D01868-88E1-3D5D-D8D3-D643AEFE3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303" y="3429000"/>
            <a:ext cx="10090061" cy="269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0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Parâmetro **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kwargs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023257" y="3923693"/>
            <a:ext cx="103686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Observação: 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O nome </a:t>
            </a:r>
            <a:r>
              <a:rPr lang="pt-BR" sz="2800" b="1" dirty="0"/>
              <a:t>**</a:t>
            </a:r>
            <a:r>
              <a:rPr lang="pt-BR" sz="2800" b="1" dirty="0" err="1"/>
              <a:t>kwargs</a:t>
            </a:r>
            <a:r>
              <a:rPr lang="pt-BR" sz="2800" b="1" dirty="0"/>
              <a:t> </a:t>
            </a:r>
            <a:r>
              <a:rPr lang="pt-BR" sz="2800" dirty="0"/>
              <a:t>é uma convenção, ou seja uma boa prática entre programadores Python! Contudo, nada te impede de alterar esse nome para </a:t>
            </a:r>
            <a:r>
              <a:rPr lang="pt-BR" sz="2800" b="1" dirty="0"/>
              <a:t>**pessoa </a:t>
            </a:r>
            <a:r>
              <a:rPr lang="pt-BR" sz="2800" dirty="0"/>
              <a:t>por exemplo.</a:t>
            </a:r>
          </a:p>
        </p:txBody>
      </p:sp>
      <p:pic>
        <p:nvPicPr>
          <p:cNvPr id="4" name="Picture 3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63DC5122-E033-136D-B65F-6A6BEA588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435" y="1402784"/>
            <a:ext cx="6855130" cy="227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Palavra reservada </a:t>
            </a:r>
            <a:r>
              <a:rPr lang="pt-BR" sz="4800" b="1" dirty="0" err="1">
                <a:solidFill>
                  <a:srgbClr val="003958"/>
                </a:solidFill>
                <a:latin typeface="+mj-lt"/>
              </a:rPr>
              <a:t>pass</a:t>
            </a:r>
            <a:endParaRPr lang="pt-BR" sz="4800" b="1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277438" y="1567951"/>
            <a:ext cx="103686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Caso se deseje definir uma função sem corpo nenhum, ou seja, sem código, saiba que isso irá disparar o erro </a:t>
            </a:r>
            <a:r>
              <a:rPr lang="pt-BR" sz="2800" b="1" i="1" dirty="0" err="1"/>
              <a:t>IndentationError</a:t>
            </a:r>
            <a:r>
              <a:rPr lang="pt-BR" sz="2800" dirty="0"/>
              <a:t>, pois funções não podem estar vazias.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Porém se por algum motivo precisar use a palavra reservada </a:t>
            </a:r>
            <a:r>
              <a:rPr lang="pt-BR" sz="2800" b="1" dirty="0" err="1"/>
              <a:t>pass</a:t>
            </a:r>
            <a:r>
              <a:rPr lang="pt-BR" sz="2800" dirty="0"/>
              <a:t>, da seguinte forma:</a:t>
            </a:r>
          </a:p>
        </p:txBody>
      </p:sp>
      <p:pic>
        <p:nvPicPr>
          <p:cNvPr id="3" name="Picture 2" descr="A picture containing text, font, clock, graphics&#10;&#10;Description automatically generated">
            <a:extLst>
              <a:ext uri="{FF2B5EF4-FFF2-40B4-BE49-F238E27FC236}">
                <a16:creationId xmlns:a16="http://schemas.microsoft.com/office/drawing/2014/main" id="{55366D8A-2CB4-1019-FCA0-B94CF110F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973" y="4659809"/>
            <a:ext cx="4862054" cy="161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3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Recursividade de funções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946739" y="1673772"/>
            <a:ext cx="103686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A recursividade é uma característica de certas funções que diz respeito a </a:t>
            </a:r>
            <a:r>
              <a:rPr lang="pt-BR" sz="2800" dirty="0">
                <a:solidFill>
                  <a:srgbClr val="FF0000"/>
                </a:solidFill>
              </a:rPr>
              <a:t>possibilidade de chamar a si mesmas</a:t>
            </a:r>
            <a:r>
              <a:rPr lang="pt-BR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Nesses casos, ao definir uma função recursiva é importante atentar-se para </a:t>
            </a:r>
            <a:r>
              <a:rPr lang="pt-BR" sz="2800" dirty="0">
                <a:solidFill>
                  <a:srgbClr val="FF0000"/>
                </a:solidFill>
              </a:rPr>
              <a:t>impor uma condição que termine a recursão</a:t>
            </a:r>
            <a:r>
              <a:rPr lang="pt-BR" sz="2800" dirty="0"/>
              <a:t>, porque caso contrário, a recursão será infinita e não retornará o resultado desejado.</a:t>
            </a:r>
          </a:p>
        </p:txBody>
      </p:sp>
    </p:spTree>
    <p:extLst>
      <p:ext uri="{BB962C8B-B14F-4D97-AF65-F5344CB8AC3E}">
        <p14:creationId xmlns:p14="http://schemas.microsoft.com/office/powerpoint/2010/main" val="51093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recursividade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B6DC12-405C-4540-984A-3B3F96178D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30"/>
          <a:stretch/>
        </p:blipFill>
        <p:spPr>
          <a:xfrm>
            <a:off x="6096000" y="1520839"/>
            <a:ext cx="5752523" cy="264574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3CA2AA3-76C9-41D8-ABF3-AB1DB2D8A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17226"/>
            <a:ext cx="1613308" cy="51856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6E9F2B8-FBC6-425E-B0AD-1D58D733FB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86" t="3034" r="38440" b="1650"/>
          <a:stretch/>
        </p:blipFill>
        <p:spPr>
          <a:xfrm>
            <a:off x="877288" y="1520839"/>
            <a:ext cx="5029725" cy="499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15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Utilizando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Docstrings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451999"/>
            <a:ext cx="109369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primeira </a:t>
            </a:r>
            <a:r>
              <a:rPr lang="pt-BR" sz="2400" i="1" dirty="0" err="1"/>
              <a:t>string</a:t>
            </a:r>
            <a:r>
              <a:rPr lang="pt-BR" sz="2400" dirty="0"/>
              <a:t> após a função é chamada de </a:t>
            </a:r>
            <a:r>
              <a:rPr lang="pt-BR" sz="2400" i="1" dirty="0" err="1"/>
              <a:t>string</a:t>
            </a:r>
            <a:r>
              <a:rPr lang="pt-BR" sz="2400" dirty="0"/>
              <a:t> de documento ou </a:t>
            </a:r>
            <a:r>
              <a:rPr lang="pt-BR" sz="2400" b="1" dirty="0" err="1"/>
              <a:t>docstring</a:t>
            </a:r>
            <a:r>
              <a:rPr lang="pt-BR" sz="2400" dirty="0"/>
              <a:t> em resumo.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r>
              <a:rPr lang="pt-BR" sz="2400" dirty="0"/>
              <a:t>Isso é usado para descrever a funcionalidade da função.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r>
              <a:rPr lang="pt-BR" sz="2400" dirty="0"/>
              <a:t>O uso de </a:t>
            </a:r>
            <a:r>
              <a:rPr lang="pt-BR" sz="2400" b="1" dirty="0" err="1"/>
              <a:t>docstring</a:t>
            </a:r>
            <a:r>
              <a:rPr lang="pt-BR" sz="2400" dirty="0"/>
              <a:t> em funções é opcional, mas é considerado uma boa prática.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2147615-5780-48CE-91B9-8E3D8EDD8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45" y="3940772"/>
            <a:ext cx="5585430" cy="257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5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 ...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B0F11E-FECD-4637-A786-D16AE2B76615}"/>
              </a:ext>
            </a:extLst>
          </p:cNvPr>
          <p:cNvSpPr txBox="1"/>
          <p:nvPr/>
        </p:nvSpPr>
        <p:spPr>
          <a:xfrm>
            <a:off x="956345" y="1524000"/>
            <a:ext cx="1040234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1) Fazer uma função que receba três notas de um aluno e que retorne a média dessas 3 notas.</a:t>
            </a:r>
          </a:p>
          <a:p>
            <a:endParaRPr lang="pt-BR" sz="2800" dirty="0"/>
          </a:p>
          <a:p>
            <a:r>
              <a:rPr lang="pt-BR" sz="2800" dirty="0"/>
              <a:t>2) Agora, faça uma função de acordo com a média da função anterior informe o status do aluno de acordo com a tabela a seguir: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Nota acima de 6: “Aprovado”;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Nota entre 4 e 6 :“Verificação Suplementar”; </a:t>
            </a:r>
          </a:p>
          <a:p>
            <a:pPr lvl="1"/>
            <a:endParaRPr lang="pt-B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/>
              <a:t>Nota abaixo de 4 : “Reprovado.</a:t>
            </a:r>
          </a:p>
        </p:txBody>
      </p:sp>
    </p:spTree>
    <p:extLst>
      <p:ext uri="{BB962C8B-B14F-4D97-AF65-F5344CB8AC3E}">
        <p14:creationId xmlns:p14="http://schemas.microsoft.com/office/powerpoint/2010/main" val="2068711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 ...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B0F11E-FECD-4637-A786-D16AE2B76615}"/>
              </a:ext>
            </a:extLst>
          </p:cNvPr>
          <p:cNvSpPr txBox="1"/>
          <p:nvPr/>
        </p:nvSpPr>
        <p:spPr>
          <a:xfrm>
            <a:off x="956345" y="1524000"/>
            <a:ext cx="104023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3) Escreva uma função para imprimir o nome e salário de um funcionário usando as seguintes condições.</a:t>
            </a:r>
          </a:p>
          <a:p>
            <a:pPr lvl="1" algn="just"/>
            <a:endParaRPr lang="pt-BR" sz="2400" dirty="0"/>
          </a:p>
          <a:p>
            <a:pPr algn="just"/>
            <a:r>
              <a:rPr lang="pt-BR" sz="2400" dirty="0"/>
              <a:t>Deve aceitar o nome e o salário do funcionário.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algn="just"/>
            <a:r>
              <a:rPr lang="pt-BR" sz="2400" dirty="0"/>
              <a:t>Se o salário estiver faltando na chamada de função, atribua o valor padrão 9000 ao salário.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4) Elabore uma função que recebe como entrada um número inteiro positivo n e retorne a soma de todos os inteiros positivos menores ou iguais a n.</a:t>
            </a:r>
          </a:p>
        </p:txBody>
      </p:sp>
    </p:spTree>
    <p:extLst>
      <p:ext uri="{BB962C8B-B14F-4D97-AF65-F5344CB8AC3E}">
        <p14:creationId xmlns:p14="http://schemas.microsoft.com/office/powerpoint/2010/main" val="166842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 ...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B0F11E-FECD-4637-A786-D16AE2B76615}"/>
              </a:ext>
            </a:extLst>
          </p:cNvPr>
          <p:cNvSpPr txBox="1"/>
          <p:nvPr/>
        </p:nvSpPr>
        <p:spPr>
          <a:xfrm>
            <a:off x="956345" y="1524000"/>
            <a:ext cx="104023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5) Desenvolva uma função que recebe dois números (a e b) como parâmetro e retorna </a:t>
            </a:r>
            <a:r>
              <a:rPr lang="pt-BR" sz="2400" b="1" dirty="0" err="1"/>
              <a:t>True</a:t>
            </a:r>
            <a:r>
              <a:rPr lang="pt-BR" sz="2400" dirty="0"/>
              <a:t> caso a soma dos dois seja maior que um terceiro parâmetro, chamado limite.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6) Crie uma função que recebe como entrada uma lista de números e retorna </a:t>
            </a:r>
            <a:r>
              <a:rPr lang="pt-BR" sz="2400" b="1" dirty="0" err="1"/>
              <a:t>True</a:t>
            </a:r>
            <a:r>
              <a:rPr lang="pt-BR" sz="2400" dirty="0"/>
              <a:t> se um número passado como parâmetro está presente na lista.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7) Elabore uma função que recebe como entrada um número ano e retorna </a:t>
            </a:r>
            <a:r>
              <a:rPr lang="pt-BR" sz="2400" b="1" dirty="0" err="1"/>
              <a:t>True</a:t>
            </a:r>
            <a:r>
              <a:rPr lang="pt-BR" sz="2400" dirty="0"/>
              <a:t> caso ano seja bissexto. Caso contrário, retorne </a:t>
            </a:r>
            <a:r>
              <a:rPr lang="pt-BR" sz="2400" b="1" dirty="0"/>
              <a:t>False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0410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Resultado de imagem para Obrigado">
            <a:extLst>
              <a:ext uri="{FF2B5EF4-FFF2-40B4-BE49-F238E27FC236}">
                <a16:creationId xmlns:a16="http://schemas.microsoft.com/office/drawing/2014/main" id="{B74634BC-9B07-4B94-9AF7-B4B4921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14" y="1691721"/>
            <a:ext cx="5827052" cy="385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46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6794</TotalTime>
  <Words>1173</Words>
  <Application>Microsoft Office PowerPoint</Application>
  <PresentationFormat>Widescreen</PresentationFormat>
  <Paragraphs>200</Paragraphs>
  <Slides>31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do Office</vt:lpstr>
      <vt:lpstr>Funções em Python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400</cp:revision>
  <dcterms:created xsi:type="dcterms:W3CDTF">2019-07-27T22:06:45Z</dcterms:created>
  <dcterms:modified xsi:type="dcterms:W3CDTF">2024-05-15T22:01:31Z</dcterms:modified>
</cp:coreProperties>
</file>