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6858000" cx="12192000"/>
  <p:notesSz cx="6858000" cy="9144000"/>
  <p:embeddedFontLst>
    <p:embeddedFont>
      <p:font typeface="La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hoPFazZXvr8icLgyGP++6QhTfm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Lato-bold.fntdata"/><Relationship Id="rId10" Type="http://schemas.openxmlformats.org/officeDocument/2006/relationships/slide" Target="slides/slide6.xml"/><Relationship Id="rId32" Type="http://schemas.openxmlformats.org/officeDocument/2006/relationships/font" Target="fonts/Lato-regular.fntdata"/><Relationship Id="rId13" Type="http://schemas.openxmlformats.org/officeDocument/2006/relationships/slide" Target="slides/slide9.xml"/><Relationship Id="rId35" Type="http://schemas.openxmlformats.org/officeDocument/2006/relationships/font" Target="fonts/Lato-boldItalic.fntdata"/><Relationship Id="rId12" Type="http://schemas.openxmlformats.org/officeDocument/2006/relationships/slide" Target="slides/slide8.xml"/><Relationship Id="rId34" Type="http://schemas.openxmlformats.org/officeDocument/2006/relationships/font" Target="fonts/Lato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customschemas.google.com/relationships/presentationmetadata" Target="meta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grpSp>
        <p:nvGrpSpPr>
          <p:cNvPr id="23" name="Google Shape;23;p29"/>
          <p:cNvGrpSpPr/>
          <p:nvPr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24" name="Google Shape;24;p29"/>
            <p:cNvCxnSpPr/>
            <p:nvPr/>
          </p:nvCxnSpPr>
          <p:spPr>
            <a:xfrm>
              <a:off x="11895188" y="250756"/>
              <a:ext cx="0" cy="587828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" name="Google Shape;25;p29"/>
            <p:cNvCxnSpPr/>
            <p:nvPr/>
          </p:nvCxnSpPr>
          <p:spPr>
            <a:xfrm rot="10800000">
              <a:off x="2057576" y="263490"/>
              <a:ext cx="9855479" cy="0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6" name="Google Shape;26;p29"/>
          <p:cNvSpPr txBox="1"/>
          <p:nvPr>
            <p:ph idx="12" type="sldNum"/>
          </p:nvPr>
        </p:nvSpPr>
        <p:spPr>
          <a:xfrm>
            <a:off x="11622251" y="0"/>
            <a:ext cx="5697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27" name="Google Shape;27;p29"/>
          <p:cNvGrpSpPr/>
          <p:nvPr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8" name="Google Shape;28;p29"/>
            <p:cNvCxnSpPr/>
            <p:nvPr/>
          </p:nvCxnSpPr>
          <p:spPr>
            <a:xfrm>
              <a:off x="11895188" y="250756"/>
              <a:ext cx="0" cy="587828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" name="Google Shape;29;p29"/>
            <p:cNvCxnSpPr/>
            <p:nvPr/>
          </p:nvCxnSpPr>
          <p:spPr>
            <a:xfrm rot="10800000">
              <a:off x="2057576" y="263490"/>
              <a:ext cx="9855479" cy="0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descr="Desenho de bandeira&#10;&#10;Descrição gerada automaticamente com confiança média" id="30" name="Google Shape;30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986836" cy="691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showMasterSp="0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0"/>
          <p:cNvSpPr txBox="1"/>
          <p:nvPr>
            <p:ph type="title"/>
          </p:nvPr>
        </p:nvSpPr>
        <p:spPr>
          <a:xfrm>
            <a:off x="2275066" y="365125"/>
            <a:ext cx="9285218" cy="6015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0"/>
          <p:cNvSpPr txBox="1"/>
          <p:nvPr>
            <p:ph idx="1" type="body"/>
          </p:nvPr>
        </p:nvSpPr>
        <p:spPr>
          <a:xfrm>
            <a:off x="348861" y="1065888"/>
            <a:ext cx="11478684" cy="5512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34" name="Google Shape;34;p30"/>
          <p:cNvGrpSpPr/>
          <p:nvPr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35" name="Google Shape;35;p30"/>
            <p:cNvCxnSpPr/>
            <p:nvPr/>
          </p:nvCxnSpPr>
          <p:spPr>
            <a:xfrm>
              <a:off x="11895188" y="250756"/>
              <a:ext cx="0" cy="587828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" name="Google Shape;36;p30"/>
            <p:cNvCxnSpPr/>
            <p:nvPr/>
          </p:nvCxnSpPr>
          <p:spPr>
            <a:xfrm rot="10800000">
              <a:off x="2057576" y="263490"/>
              <a:ext cx="9855479" cy="0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7" name="Google Shape;37;p30"/>
          <p:cNvSpPr txBox="1"/>
          <p:nvPr>
            <p:ph idx="12" type="sldNum"/>
          </p:nvPr>
        </p:nvSpPr>
        <p:spPr>
          <a:xfrm>
            <a:off x="11622251" y="0"/>
            <a:ext cx="5697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38" name="Google Shape;38;p30"/>
          <p:cNvGrpSpPr/>
          <p:nvPr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9" name="Google Shape;39;p30"/>
            <p:cNvCxnSpPr/>
            <p:nvPr/>
          </p:nvCxnSpPr>
          <p:spPr>
            <a:xfrm>
              <a:off x="11895188" y="250756"/>
              <a:ext cx="0" cy="587828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" name="Google Shape;40;p30"/>
            <p:cNvCxnSpPr/>
            <p:nvPr/>
          </p:nvCxnSpPr>
          <p:spPr>
            <a:xfrm rot="10800000">
              <a:off x="2057576" y="263490"/>
              <a:ext cx="9855479" cy="0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descr="Desenho de bandeira&#10;&#10;Descrição gerada automaticamente com confiança média" id="41" name="Google Shape;41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986836" cy="691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showMasterSp="0" type="blank">
  <p:cSld name="BLANK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31"/>
          <p:cNvGrpSpPr/>
          <p:nvPr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44" name="Google Shape;44;p31"/>
            <p:cNvCxnSpPr/>
            <p:nvPr/>
          </p:nvCxnSpPr>
          <p:spPr>
            <a:xfrm>
              <a:off x="11895188" y="250756"/>
              <a:ext cx="0" cy="587828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" name="Google Shape;45;p31"/>
            <p:cNvCxnSpPr/>
            <p:nvPr/>
          </p:nvCxnSpPr>
          <p:spPr>
            <a:xfrm rot="10800000">
              <a:off x="2057576" y="263490"/>
              <a:ext cx="9855479" cy="0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6" name="Google Shape;46;p31"/>
          <p:cNvSpPr txBox="1"/>
          <p:nvPr>
            <p:ph idx="12" type="sldNum"/>
          </p:nvPr>
        </p:nvSpPr>
        <p:spPr>
          <a:xfrm>
            <a:off x="11622251" y="0"/>
            <a:ext cx="5697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47" name="Google Shape;47;p31"/>
          <p:cNvGrpSpPr/>
          <p:nvPr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48" name="Google Shape;48;p31"/>
            <p:cNvCxnSpPr/>
            <p:nvPr/>
          </p:nvCxnSpPr>
          <p:spPr>
            <a:xfrm>
              <a:off x="11895188" y="250756"/>
              <a:ext cx="0" cy="587828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" name="Google Shape;49;p31"/>
            <p:cNvCxnSpPr/>
            <p:nvPr/>
          </p:nvCxnSpPr>
          <p:spPr>
            <a:xfrm rot="10800000">
              <a:off x="2057576" y="263490"/>
              <a:ext cx="9855479" cy="0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descr="Desenho de bandeira&#10;&#10;Descrição gerada automaticamente com confiança média" id="50" name="Google Shape;50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986836" cy="691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showMasterSp="0" type="secHead">
  <p:cSld name="SECTION_HEAD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grpSp>
        <p:nvGrpSpPr>
          <p:cNvPr id="54" name="Google Shape;54;p32"/>
          <p:cNvGrpSpPr/>
          <p:nvPr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55" name="Google Shape;55;p32"/>
            <p:cNvCxnSpPr/>
            <p:nvPr/>
          </p:nvCxnSpPr>
          <p:spPr>
            <a:xfrm>
              <a:off x="11895188" y="250756"/>
              <a:ext cx="0" cy="587828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" name="Google Shape;56;p32"/>
            <p:cNvCxnSpPr/>
            <p:nvPr/>
          </p:nvCxnSpPr>
          <p:spPr>
            <a:xfrm rot="10800000">
              <a:off x="2057576" y="263490"/>
              <a:ext cx="9855479" cy="0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7" name="Google Shape;57;p32"/>
          <p:cNvSpPr txBox="1"/>
          <p:nvPr>
            <p:ph idx="12" type="sldNum"/>
          </p:nvPr>
        </p:nvSpPr>
        <p:spPr>
          <a:xfrm>
            <a:off x="11622251" y="0"/>
            <a:ext cx="5697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58" name="Google Shape;58;p32"/>
          <p:cNvGrpSpPr/>
          <p:nvPr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59" name="Google Shape;59;p32"/>
            <p:cNvCxnSpPr/>
            <p:nvPr/>
          </p:nvCxnSpPr>
          <p:spPr>
            <a:xfrm>
              <a:off x="11895188" y="250756"/>
              <a:ext cx="0" cy="587828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" name="Google Shape;60;p32"/>
            <p:cNvCxnSpPr/>
            <p:nvPr/>
          </p:nvCxnSpPr>
          <p:spPr>
            <a:xfrm rot="10800000">
              <a:off x="2057576" y="263490"/>
              <a:ext cx="9855479" cy="0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descr="Desenho de bandeira&#10;&#10;Descrição gerada automaticamente com confiança média" id="61" name="Google Shape;6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986836" cy="691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showMasterSp="0" type="twoObj">
  <p:cSld name="TWO_OBJECT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3"/>
          <p:cNvSpPr txBox="1"/>
          <p:nvPr>
            <p:ph type="title"/>
          </p:nvPr>
        </p:nvSpPr>
        <p:spPr>
          <a:xfrm>
            <a:off x="2275066" y="365125"/>
            <a:ext cx="9285218" cy="6015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3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66" name="Google Shape;66;p33"/>
          <p:cNvGrpSpPr/>
          <p:nvPr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67" name="Google Shape;67;p33"/>
            <p:cNvCxnSpPr/>
            <p:nvPr/>
          </p:nvCxnSpPr>
          <p:spPr>
            <a:xfrm>
              <a:off x="11895188" y="250756"/>
              <a:ext cx="0" cy="587828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8" name="Google Shape;68;p33"/>
            <p:cNvCxnSpPr/>
            <p:nvPr/>
          </p:nvCxnSpPr>
          <p:spPr>
            <a:xfrm rot="10800000">
              <a:off x="2057576" y="263490"/>
              <a:ext cx="9855479" cy="0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9" name="Google Shape;69;p33"/>
          <p:cNvSpPr txBox="1"/>
          <p:nvPr>
            <p:ph idx="12" type="sldNum"/>
          </p:nvPr>
        </p:nvSpPr>
        <p:spPr>
          <a:xfrm>
            <a:off x="11622251" y="0"/>
            <a:ext cx="5697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70" name="Google Shape;70;p33"/>
          <p:cNvGrpSpPr/>
          <p:nvPr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71" name="Google Shape;71;p33"/>
            <p:cNvCxnSpPr/>
            <p:nvPr/>
          </p:nvCxnSpPr>
          <p:spPr>
            <a:xfrm>
              <a:off x="11895188" y="250756"/>
              <a:ext cx="0" cy="587828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" name="Google Shape;72;p33"/>
            <p:cNvCxnSpPr/>
            <p:nvPr/>
          </p:nvCxnSpPr>
          <p:spPr>
            <a:xfrm rot="10800000">
              <a:off x="2057576" y="263490"/>
              <a:ext cx="9855479" cy="0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descr="Desenho de bandeira&#10;&#10;Descrição gerada automaticamente com confiança média" id="73" name="Google Shape;73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986836" cy="691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showMasterSp="0" type="twoTxTwoObj">
  <p:cSld name="TWO_OBJECTS_WITH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/>
          <p:nvPr>
            <p:ph type="title"/>
          </p:nvPr>
        </p:nvSpPr>
        <p:spPr>
          <a:xfrm>
            <a:off x="839788" y="365126"/>
            <a:ext cx="10515600" cy="587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7" name="Google Shape;77;p3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9" name="Google Shape;79;p3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80" name="Google Shape;80;p34"/>
          <p:cNvGrpSpPr/>
          <p:nvPr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81" name="Google Shape;81;p34"/>
            <p:cNvCxnSpPr/>
            <p:nvPr/>
          </p:nvCxnSpPr>
          <p:spPr>
            <a:xfrm>
              <a:off x="11895188" y="250756"/>
              <a:ext cx="0" cy="587828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" name="Google Shape;82;p34"/>
            <p:cNvCxnSpPr/>
            <p:nvPr/>
          </p:nvCxnSpPr>
          <p:spPr>
            <a:xfrm rot="10800000">
              <a:off x="2057576" y="263490"/>
              <a:ext cx="9855479" cy="0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83" name="Google Shape;83;p34"/>
          <p:cNvSpPr txBox="1"/>
          <p:nvPr>
            <p:ph idx="12" type="sldNum"/>
          </p:nvPr>
        </p:nvSpPr>
        <p:spPr>
          <a:xfrm>
            <a:off x="11622251" y="0"/>
            <a:ext cx="5697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84" name="Google Shape;84;p34"/>
          <p:cNvGrpSpPr/>
          <p:nvPr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85" name="Google Shape;85;p34"/>
            <p:cNvCxnSpPr/>
            <p:nvPr/>
          </p:nvCxnSpPr>
          <p:spPr>
            <a:xfrm>
              <a:off x="11895188" y="250756"/>
              <a:ext cx="0" cy="587828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6" name="Google Shape;86;p34"/>
            <p:cNvCxnSpPr/>
            <p:nvPr/>
          </p:nvCxnSpPr>
          <p:spPr>
            <a:xfrm rot="10800000">
              <a:off x="2057576" y="263490"/>
              <a:ext cx="9855479" cy="0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descr="Desenho de bandeira&#10;&#10;Descrição gerada automaticamente com confiança média" id="87" name="Google Shape;87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986836" cy="691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showMasterSp="0" type="titleOnly">
  <p:cSld name="TITLE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5"/>
          <p:cNvSpPr txBox="1"/>
          <p:nvPr>
            <p:ph type="title"/>
          </p:nvPr>
        </p:nvSpPr>
        <p:spPr>
          <a:xfrm>
            <a:off x="2275066" y="365125"/>
            <a:ext cx="9285218" cy="6015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0" name="Google Shape;90;p35"/>
          <p:cNvGrpSpPr/>
          <p:nvPr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91" name="Google Shape;91;p35"/>
            <p:cNvCxnSpPr/>
            <p:nvPr/>
          </p:nvCxnSpPr>
          <p:spPr>
            <a:xfrm>
              <a:off x="11895188" y="250756"/>
              <a:ext cx="0" cy="587828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" name="Google Shape;92;p35"/>
            <p:cNvCxnSpPr/>
            <p:nvPr/>
          </p:nvCxnSpPr>
          <p:spPr>
            <a:xfrm rot="10800000">
              <a:off x="2057576" y="263490"/>
              <a:ext cx="9855479" cy="0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3" name="Google Shape;93;p35"/>
          <p:cNvSpPr txBox="1"/>
          <p:nvPr>
            <p:ph idx="12" type="sldNum"/>
          </p:nvPr>
        </p:nvSpPr>
        <p:spPr>
          <a:xfrm>
            <a:off x="11622251" y="0"/>
            <a:ext cx="5697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94" name="Google Shape;94;p35"/>
          <p:cNvGrpSpPr/>
          <p:nvPr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95" name="Google Shape;95;p35"/>
            <p:cNvCxnSpPr/>
            <p:nvPr/>
          </p:nvCxnSpPr>
          <p:spPr>
            <a:xfrm>
              <a:off x="11895188" y="250756"/>
              <a:ext cx="0" cy="587828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" name="Google Shape;96;p35"/>
            <p:cNvCxnSpPr/>
            <p:nvPr/>
          </p:nvCxnSpPr>
          <p:spPr>
            <a:xfrm rot="10800000">
              <a:off x="2057576" y="263490"/>
              <a:ext cx="9855479" cy="0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descr="Desenho de bandeira&#10;&#10;Descrição gerada automaticamente com confiança média" id="97" name="Google Shape;97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986836" cy="691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showMasterSp="0" type="objTx">
  <p:cSld name="OBJECT_WITH_CAPTION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1" name="Google Shape;101;p3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grpSp>
        <p:nvGrpSpPr>
          <p:cNvPr id="102" name="Google Shape;102;p36"/>
          <p:cNvGrpSpPr/>
          <p:nvPr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03" name="Google Shape;103;p36"/>
            <p:cNvCxnSpPr/>
            <p:nvPr/>
          </p:nvCxnSpPr>
          <p:spPr>
            <a:xfrm>
              <a:off x="11895188" y="250756"/>
              <a:ext cx="0" cy="587828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4" name="Google Shape;104;p36"/>
            <p:cNvCxnSpPr/>
            <p:nvPr/>
          </p:nvCxnSpPr>
          <p:spPr>
            <a:xfrm rot="10800000">
              <a:off x="2057576" y="263490"/>
              <a:ext cx="9855479" cy="0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05" name="Google Shape;105;p36"/>
          <p:cNvSpPr txBox="1"/>
          <p:nvPr>
            <p:ph idx="12" type="sldNum"/>
          </p:nvPr>
        </p:nvSpPr>
        <p:spPr>
          <a:xfrm>
            <a:off x="11622251" y="0"/>
            <a:ext cx="5697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106" name="Google Shape;106;p36"/>
          <p:cNvGrpSpPr/>
          <p:nvPr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107" name="Google Shape;107;p36"/>
            <p:cNvCxnSpPr/>
            <p:nvPr/>
          </p:nvCxnSpPr>
          <p:spPr>
            <a:xfrm>
              <a:off x="11895188" y="250756"/>
              <a:ext cx="0" cy="587828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" name="Google Shape;108;p36"/>
            <p:cNvCxnSpPr/>
            <p:nvPr/>
          </p:nvCxnSpPr>
          <p:spPr>
            <a:xfrm rot="10800000">
              <a:off x="2057576" y="263490"/>
              <a:ext cx="9855479" cy="0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descr="Desenho de bandeira&#10;&#10;Descrição gerada automaticamente com confiança média" id="109" name="Google Shape;10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986836" cy="691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showMasterSp="0" type="picTx">
  <p:cSld name="PICTURE_WITH_CAPTION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3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grpSp>
        <p:nvGrpSpPr>
          <p:cNvPr id="114" name="Google Shape;114;p37"/>
          <p:cNvGrpSpPr/>
          <p:nvPr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15" name="Google Shape;115;p37"/>
            <p:cNvCxnSpPr/>
            <p:nvPr/>
          </p:nvCxnSpPr>
          <p:spPr>
            <a:xfrm>
              <a:off x="11895188" y="250756"/>
              <a:ext cx="0" cy="587828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6" name="Google Shape;116;p37"/>
            <p:cNvCxnSpPr/>
            <p:nvPr/>
          </p:nvCxnSpPr>
          <p:spPr>
            <a:xfrm rot="10800000">
              <a:off x="2057576" y="263490"/>
              <a:ext cx="9855479" cy="0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17" name="Google Shape;117;p37"/>
          <p:cNvSpPr txBox="1"/>
          <p:nvPr>
            <p:ph idx="12" type="sldNum"/>
          </p:nvPr>
        </p:nvSpPr>
        <p:spPr>
          <a:xfrm>
            <a:off x="11622251" y="0"/>
            <a:ext cx="5697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118" name="Google Shape;118;p37"/>
          <p:cNvGrpSpPr/>
          <p:nvPr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119" name="Google Shape;119;p37"/>
            <p:cNvCxnSpPr/>
            <p:nvPr/>
          </p:nvCxnSpPr>
          <p:spPr>
            <a:xfrm>
              <a:off x="11895188" y="250756"/>
              <a:ext cx="0" cy="587828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" name="Google Shape;120;p37"/>
            <p:cNvCxnSpPr/>
            <p:nvPr/>
          </p:nvCxnSpPr>
          <p:spPr>
            <a:xfrm rot="10800000">
              <a:off x="2057576" y="263490"/>
              <a:ext cx="9855479" cy="0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descr="Desenho de bandeira&#10;&#10;Descrição gerada automaticamente com confiança média" id="121" name="Google Shape;121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986836" cy="691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showMasterSp="0" type="vertTx">
  <p:cSld name="VERTICAL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8"/>
          <p:cNvSpPr txBox="1"/>
          <p:nvPr>
            <p:ph type="title"/>
          </p:nvPr>
        </p:nvSpPr>
        <p:spPr>
          <a:xfrm>
            <a:off x="2275066" y="365125"/>
            <a:ext cx="9285218" cy="6015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8"/>
          <p:cNvSpPr txBox="1"/>
          <p:nvPr>
            <p:ph idx="1" type="body"/>
          </p:nvPr>
        </p:nvSpPr>
        <p:spPr>
          <a:xfrm rot="5400000">
            <a:off x="3332124" y="-1917375"/>
            <a:ext cx="5512159" cy="11478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25" name="Google Shape;125;p38"/>
          <p:cNvGrpSpPr/>
          <p:nvPr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26" name="Google Shape;126;p38"/>
            <p:cNvCxnSpPr/>
            <p:nvPr/>
          </p:nvCxnSpPr>
          <p:spPr>
            <a:xfrm>
              <a:off x="11895188" y="250756"/>
              <a:ext cx="0" cy="587828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" name="Google Shape;127;p38"/>
            <p:cNvCxnSpPr/>
            <p:nvPr/>
          </p:nvCxnSpPr>
          <p:spPr>
            <a:xfrm rot="10800000">
              <a:off x="2057576" y="263490"/>
              <a:ext cx="9855479" cy="0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28" name="Google Shape;128;p38"/>
          <p:cNvSpPr txBox="1"/>
          <p:nvPr>
            <p:ph idx="12" type="sldNum"/>
          </p:nvPr>
        </p:nvSpPr>
        <p:spPr>
          <a:xfrm>
            <a:off x="11622251" y="0"/>
            <a:ext cx="5697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129" name="Google Shape;129;p38"/>
          <p:cNvGrpSpPr/>
          <p:nvPr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130" name="Google Shape;130;p38"/>
            <p:cNvCxnSpPr/>
            <p:nvPr/>
          </p:nvCxnSpPr>
          <p:spPr>
            <a:xfrm>
              <a:off x="11895188" y="250756"/>
              <a:ext cx="0" cy="587828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1" name="Google Shape;131;p38"/>
            <p:cNvCxnSpPr/>
            <p:nvPr/>
          </p:nvCxnSpPr>
          <p:spPr>
            <a:xfrm rot="10800000">
              <a:off x="2057576" y="263490"/>
              <a:ext cx="9855479" cy="0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descr="Desenho de bandeira&#10;&#10;Descrição gerada automaticamente com confiança média" id="132" name="Google Shape;13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986836" cy="691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showMasterSp="0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39"/>
          <p:cNvSpPr txBox="1"/>
          <p:nvPr/>
        </p:nvSpPr>
        <p:spPr>
          <a:xfrm rot="5400000">
            <a:off x="4352131" y="2501106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Clique para editar o título mestre</a:t>
            </a:r>
            <a:endParaRPr/>
          </a:p>
        </p:txBody>
      </p:sp>
      <p:grpSp>
        <p:nvGrpSpPr>
          <p:cNvPr id="137" name="Google Shape;137;p39"/>
          <p:cNvGrpSpPr/>
          <p:nvPr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38" name="Google Shape;138;p39"/>
            <p:cNvCxnSpPr/>
            <p:nvPr/>
          </p:nvCxnSpPr>
          <p:spPr>
            <a:xfrm>
              <a:off x="11895188" y="250756"/>
              <a:ext cx="0" cy="587828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" name="Google Shape;139;p39"/>
            <p:cNvCxnSpPr/>
            <p:nvPr/>
          </p:nvCxnSpPr>
          <p:spPr>
            <a:xfrm rot="10800000">
              <a:off x="2057576" y="263490"/>
              <a:ext cx="9855479" cy="0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40" name="Google Shape;140;p39"/>
          <p:cNvSpPr txBox="1"/>
          <p:nvPr>
            <p:ph idx="12" type="sldNum"/>
          </p:nvPr>
        </p:nvSpPr>
        <p:spPr>
          <a:xfrm>
            <a:off x="11622251" y="0"/>
            <a:ext cx="5697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141" name="Google Shape;141;p39"/>
          <p:cNvGrpSpPr/>
          <p:nvPr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142" name="Google Shape;142;p39"/>
            <p:cNvCxnSpPr/>
            <p:nvPr/>
          </p:nvCxnSpPr>
          <p:spPr>
            <a:xfrm>
              <a:off x="11895188" y="250756"/>
              <a:ext cx="0" cy="587828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3" name="Google Shape;143;p39"/>
            <p:cNvCxnSpPr/>
            <p:nvPr/>
          </p:nvCxnSpPr>
          <p:spPr>
            <a:xfrm rot="10800000">
              <a:off x="2057576" y="263490"/>
              <a:ext cx="9855479" cy="0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descr="Desenho de bandeira&#10;&#10;Descrição gerada automaticamente com confiança média" id="144" name="Google Shape;144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986836" cy="691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type="title"/>
          </p:nvPr>
        </p:nvSpPr>
        <p:spPr>
          <a:xfrm>
            <a:off x="2275066" y="365125"/>
            <a:ext cx="9285218" cy="6015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8"/>
          <p:cNvSpPr txBox="1"/>
          <p:nvPr>
            <p:ph idx="1" type="body"/>
          </p:nvPr>
        </p:nvSpPr>
        <p:spPr>
          <a:xfrm>
            <a:off x="348861" y="1065888"/>
            <a:ext cx="11478684" cy="5512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2" name="Google Shape;12;p28"/>
          <p:cNvGrpSpPr/>
          <p:nvPr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3" name="Google Shape;13;p28"/>
            <p:cNvCxnSpPr/>
            <p:nvPr/>
          </p:nvCxnSpPr>
          <p:spPr>
            <a:xfrm>
              <a:off x="11895188" y="250756"/>
              <a:ext cx="0" cy="587828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" name="Google Shape;14;p28"/>
            <p:cNvCxnSpPr/>
            <p:nvPr/>
          </p:nvCxnSpPr>
          <p:spPr>
            <a:xfrm rot="10800000">
              <a:off x="2057576" y="263490"/>
              <a:ext cx="9855479" cy="0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descr="Desenho com traços pretos em fundo branco e letras pretas&#10;&#10;Descrição gerada automaticamente com confiança média" id="15" name="Google Shape;15;p2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704704" cy="84205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8"/>
          <p:cNvSpPr txBox="1"/>
          <p:nvPr>
            <p:ph idx="12" type="sldNum"/>
          </p:nvPr>
        </p:nvSpPr>
        <p:spPr>
          <a:xfrm>
            <a:off x="11622251" y="0"/>
            <a:ext cx="5697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17" name="Google Shape;17;p28"/>
          <p:cNvGrpSpPr/>
          <p:nvPr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18" name="Google Shape;18;p28"/>
            <p:cNvCxnSpPr/>
            <p:nvPr/>
          </p:nvCxnSpPr>
          <p:spPr>
            <a:xfrm>
              <a:off x="11895188" y="250756"/>
              <a:ext cx="0" cy="587828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" name="Google Shape;19;p28"/>
            <p:cNvCxnSpPr/>
            <p:nvPr/>
          </p:nvCxnSpPr>
          <p:spPr>
            <a:xfrm rot="10800000">
              <a:off x="2057576" y="263490"/>
              <a:ext cx="9855479" cy="0"/>
            </a:xfrm>
            <a:prstGeom prst="straightConnector1">
              <a:avLst/>
            </a:prstGeom>
            <a:noFill/>
            <a:ln cap="flat" cmpd="sng" w="38100">
              <a:solidFill>
                <a:srgbClr val="54813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pt-BR"/>
              <a:t>Estruturas de Repetições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800" u="none" cap="none" strike="noStrike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Controle de Fluxo</a:t>
            </a:r>
            <a:endParaRPr/>
          </a:p>
        </p:txBody>
      </p:sp>
      <p:sp>
        <p:nvSpPr>
          <p:cNvPr id="155" name="Google Shape;155;p2"/>
          <p:cNvSpPr/>
          <p:nvPr/>
        </p:nvSpPr>
        <p:spPr>
          <a:xfrm>
            <a:off x="491748" y="2261183"/>
            <a:ext cx="1678665" cy="733865"/>
          </a:xfrm>
          <a:prstGeom prst="rect">
            <a:avLst/>
          </a:prstGeom>
          <a:noFill/>
          <a:ln cap="flat" cmpd="sng" w="381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Instrução</a:t>
            </a:r>
            <a:endParaRPr/>
          </a:p>
        </p:txBody>
      </p:sp>
      <p:sp>
        <p:nvSpPr>
          <p:cNvPr id="156" name="Google Shape;156;p2"/>
          <p:cNvSpPr/>
          <p:nvPr/>
        </p:nvSpPr>
        <p:spPr>
          <a:xfrm>
            <a:off x="491748" y="3590202"/>
            <a:ext cx="1678665" cy="733865"/>
          </a:xfrm>
          <a:prstGeom prst="rect">
            <a:avLst/>
          </a:prstGeom>
          <a:noFill/>
          <a:ln cap="flat" cmpd="sng" w="381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Instrução</a:t>
            </a:r>
            <a:endParaRPr/>
          </a:p>
        </p:txBody>
      </p:sp>
      <p:sp>
        <p:nvSpPr>
          <p:cNvPr id="157" name="Google Shape;157;p2"/>
          <p:cNvSpPr txBox="1"/>
          <p:nvPr/>
        </p:nvSpPr>
        <p:spPr>
          <a:xfrm>
            <a:off x="460210" y="1401630"/>
            <a:ext cx="167866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Sequência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4894015" y="1401630"/>
            <a:ext cx="163595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Condição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"/>
          <p:cNvSpPr/>
          <p:nvPr/>
        </p:nvSpPr>
        <p:spPr>
          <a:xfrm>
            <a:off x="4731830" y="2238080"/>
            <a:ext cx="1798139" cy="1397220"/>
          </a:xfrm>
          <a:prstGeom prst="diamond">
            <a:avLst/>
          </a:prstGeom>
          <a:solidFill>
            <a:schemeClr val="lt1"/>
          </a:solidFill>
          <a:ln cap="flat" cmpd="sng" w="381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Condição</a:t>
            </a:r>
            <a:endParaRPr/>
          </a:p>
        </p:txBody>
      </p:sp>
      <p:sp>
        <p:nvSpPr>
          <p:cNvPr id="160" name="Google Shape;160;p2"/>
          <p:cNvSpPr/>
          <p:nvPr/>
        </p:nvSpPr>
        <p:spPr>
          <a:xfrm>
            <a:off x="491748" y="4928842"/>
            <a:ext cx="1678665" cy="733865"/>
          </a:xfrm>
          <a:prstGeom prst="rect">
            <a:avLst/>
          </a:prstGeom>
          <a:noFill/>
          <a:ln cap="flat" cmpd="sng" w="381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Instrução</a:t>
            </a:r>
            <a:endParaRPr/>
          </a:p>
        </p:txBody>
      </p:sp>
      <p:sp>
        <p:nvSpPr>
          <p:cNvPr id="161" name="Google Shape;161;p2"/>
          <p:cNvSpPr/>
          <p:nvPr/>
        </p:nvSpPr>
        <p:spPr>
          <a:xfrm>
            <a:off x="3531680" y="3719515"/>
            <a:ext cx="1678665" cy="733865"/>
          </a:xfrm>
          <a:prstGeom prst="rect">
            <a:avLst/>
          </a:prstGeom>
          <a:noFill/>
          <a:ln cap="flat" cmpd="sng" w="381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Instrução</a:t>
            </a:r>
            <a:endParaRPr/>
          </a:p>
        </p:txBody>
      </p:sp>
      <p:sp>
        <p:nvSpPr>
          <p:cNvPr id="162" name="Google Shape;162;p2"/>
          <p:cNvSpPr/>
          <p:nvPr/>
        </p:nvSpPr>
        <p:spPr>
          <a:xfrm>
            <a:off x="6118146" y="3750511"/>
            <a:ext cx="1678665" cy="733865"/>
          </a:xfrm>
          <a:prstGeom prst="rect">
            <a:avLst/>
          </a:prstGeom>
          <a:noFill/>
          <a:ln cap="flat" cmpd="sng" w="381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Instrução</a:t>
            </a:r>
            <a:endParaRPr/>
          </a:p>
        </p:txBody>
      </p:sp>
      <p:sp>
        <p:nvSpPr>
          <p:cNvPr id="163" name="Google Shape;163;p2"/>
          <p:cNvSpPr txBox="1"/>
          <p:nvPr/>
        </p:nvSpPr>
        <p:spPr>
          <a:xfrm>
            <a:off x="8763065" y="1332706"/>
            <a:ext cx="163595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Repetição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"/>
          <p:cNvSpPr/>
          <p:nvPr/>
        </p:nvSpPr>
        <p:spPr>
          <a:xfrm>
            <a:off x="8600880" y="2192982"/>
            <a:ext cx="1798139" cy="1397220"/>
          </a:xfrm>
          <a:prstGeom prst="diamond">
            <a:avLst/>
          </a:prstGeom>
          <a:solidFill>
            <a:schemeClr val="lt1"/>
          </a:solidFill>
          <a:ln cap="flat" cmpd="sng" w="381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Condição</a:t>
            </a:r>
            <a:endParaRPr/>
          </a:p>
        </p:txBody>
      </p:sp>
      <p:sp>
        <p:nvSpPr>
          <p:cNvPr id="165" name="Google Shape;165;p2"/>
          <p:cNvSpPr/>
          <p:nvPr/>
        </p:nvSpPr>
        <p:spPr>
          <a:xfrm>
            <a:off x="10348014" y="3516825"/>
            <a:ext cx="1678665" cy="733865"/>
          </a:xfrm>
          <a:prstGeom prst="rect">
            <a:avLst/>
          </a:prstGeom>
          <a:noFill/>
          <a:ln cap="flat" cmpd="sng" w="381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Instrução</a:t>
            </a:r>
            <a:endParaRPr/>
          </a:p>
        </p:txBody>
      </p:sp>
      <p:cxnSp>
        <p:nvCxnSpPr>
          <p:cNvPr id="166" name="Google Shape;166;p2"/>
          <p:cNvCxnSpPr>
            <a:stCxn id="155" idx="2"/>
            <a:endCxn id="156" idx="0"/>
          </p:cNvCxnSpPr>
          <p:nvPr/>
        </p:nvCxnSpPr>
        <p:spPr>
          <a:xfrm>
            <a:off x="1331081" y="2995048"/>
            <a:ext cx="0" cy="595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7" name="Google Shape;167;p2"/>
          <p:cNvCxnSpPr/>
          <p:nvPr/>
        </p:nvCxnSpPr>
        <p:spPr>
          <a:xfrm>
            <a:off x="1331081" y="4324067"/>
            <a:ext cx="0" cy="59515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8" name="Google Shape;168;p2"/>
          <p:cNvCxnSpPr>
            <a:stCxn id="159" idx="1"/>
            <a:endCxn id="161" idx="0"/>
          </p:cNvCxnSpPr>
          <p:nvPr/>
        </p:nvCxnSpPr>
        <p:spPr>
          <a:xfrm flipH="1">
            <a:off x="4370930" y="2936690"/>
            <a:ext cx="360900" cy="782700"/>
          </a:xfrm>
          <a:prstGeom prst="bentConnector2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9" name="Google Shape;169;p2"/>
          <p:cNvCxnSpPr>
            <a:stCxn id="159" idx="3"/>
          </p:cNvCxnSpPr>
          <p:nvPr/>
        </p:nvCxnSpPr>
        <p:spPr>
          <a:xfrm>
            <a:off x="6529969" y="2936690"/>
            <a:ext cx="403200" cy="827400"/>
          </a:xfrm>
          <a:prstGeom prst="bentConnector2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0" name="Google Shape;170;p2"/>
          <p:cNvCxnSpPr/>
          <p:nvPr/>
        </p:nvCxnSpPr>
        <p:spPr>
          <a:xfrm>
            <a:off x="1316096" y="5662707"/>
            <a:ext cx="0" cy="59515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1" name="Google Shape;171;p2"/>
          <p:cNvCxnSpPr>
            <a:stCxn id="161" idx="2"/>
          </p:cNvCxnSpPr>
          <p:nvPr/>
        </p:nvCxnSpPr>
        <p:spPr>
          <a:xfrm flipH="1" rot="-5400000">
            <a:off x="4246813" y="4577580"/>
            <a:ext cx="1587000" cy="1338600"/>
          </a:xfrm>
          <a:prstGeom prst="bentConnector3">
            <a:avLst>
              <a:gd fmla="val 50004" name="adj1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2" name="Google Shape;172;p2"/>
          <p:cNvCxnSpPr/>
          <p:nvPr/>
        </p:nvCxnSpPr>
        <p:spPr>
          <a:xfrm rot="5400000">
            <a:off x="5565329" y="4648503"/>
            <a:ext cx="1536300" cy="1248000"/>
          </a:xfrm>
          <a:prstGeom prst="bentConnector3">
            <a:avLst>
              <a:gd fmla="val 48863" name="adj1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3" name="Google Shape;173;p2"/>
          <p:cNvCxnSpPr/>
          <p:nvPr/>
        </p:nvCxnSpPr>
        <p:spPr>
          <a:xfrm>
            <a:off x="10399019" y="2891592"/>
            <a:ext cx="896100" cy="625200"/>
          </a:xfrm>
          <a:prstGeom prst="bentConnector3">
            <a:avLst>
              <a:gd fmla="val 9826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4" name="Google Shape;174;p2"/>
          <p:cNvCxnSpPr>
            <a:stCxn id="165" idx="2"/>
            <a:endCxn id="164" idx="2"/>
          </p:cNvCxnSpPr>
          <p:nvPr/>
        </p:nvCxnSpPr>
        <p:spPr>
          <a:xfrm flipH="1" rot="5400000">
            <a:off x="10013297" y="3076640"/>
            <a:ext cx="660600" cy="1687500"/>
          </a:xfrm>
          <a:prstGeom prst="bentConnector3">
            <a:avLst>
              <a:gd fmla="val -34605" name="adj1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5" name="Google Shape;175;p2"/>
          <p:cNvCxnSpPr>
            <a:stCxn id="164" idx="1"/>
          </p:cNvCxnSpPr>
          <p:nvPr/>
        </p:nvCxnSpPr>
        <p:spPr>
          <a:xfrm flipH="1">
            <a:off x="8197680" y="2891592"/>
            <a:ext cx="403200" cy="3366300"/>
          </a:xfrm>
          <a:prstGeom prst="bentConnector2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6" name="Google Shape;176;p2"/>
          <p:cNvSpPr txBox="1"/>
          <p:nvPr/>
        </p:nvSpPr>
        <p:spPr>
          <a:xfrm>
            <a:off x="7890110" y="2522259"/>
            <a:ext cx="6593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Falso</a:t>
            </a:r>
            <a:endParaRPr/>
          </a:p>
        </p:txBody>
      </p:sp>
      <p:sp>
        <p:nvSpPr>
          <p:cNvPr id="177" name="Google Shape;177;p2"/>
          <p:cNvSpPr txBox="1"/>
          <p:nvPr/>
        </p:nvSpPr>
        <p:spPr>
          <a:xfrm>
            <a:off x="4041338" y="2483143"/>
            <a:ext cx="6593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Falso</a:t>
            </a:r>
            <a:endParaRPr/>
          </a:p>
        </p:txBody>
      </p:sp>
      <p:sp>
        <p:nvSpPr>
          <p:cNvPr id="178" name="Google Shape;178;p2"/>
          <p:cNvSpPr txBox="1"/>
          <p:nvPr/>
        </p:nvSpPr>
        <p:spPr>
          <a:xfrm>
            <a:off x="6607722" y="2635543"/>
            <a:ext cx="12178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Verdadeiro</a:t>
            </a:r>
            <a:endParaRPr/>
          </a:p>
        </p:txBody>
      </p:sp>
      <p:sp>
        <p:nvSpPr>
          <p:cNvPr id="179" name="Google Shape;179;p2"/>
          <p:cNvSpPr txBox="1"/>
          <p:nvPr/>
        </p:nvSpPr>
        <p:spPr>
          <a:xfrm>
            <a:off x="10290695" y="2443449"/>
            <a:ext cx="12178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Verdadeiro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Estruturas de repetição em Python</a:t>
            </a:r>
            <a:endParaRPr/>
          </a:p>
        </p:txBody>
      </p:sp>
      <p:sp>
        <p:nvSpPr>
          <p:cNvPr id="185" name="Google Shape;185;p3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"/>
          <p:cNvSpPr txBox="1"/>
          <p:nvPr/>
        </p:nvSpPr>
        <p:spPr>
          <a:xfrm>
            <a:off x="1023257" y="1700888"/>
            <a:ext cx="10368643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estrutura de repetição é utilizada para executar uma mesma sequência de comandos várias vezes.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repetição está associada a uma condição, que indica se deve continuar ou não.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Estruturas de repetição em Python</a:t>
            </a:r>
            <a:endParaRPr/>
          </a:p>
        </p:txBody>
      </p:sp>
      <p:sp>
        <p:nvSpPr>
          <p:cNvPr id="192" name="Google Shape;192;p4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408660" y="1494840"/>
            <a:ext cx="1116374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estruturas de repetição são conhecidas também como laços (</a:t>
            </a:r>
            <a:r>
              <a:rPr b="1" i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loops</a:t>
            </a: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514662" y="2262336"/>
            <a:ext cx="11268678" cy="3724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1422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Em Python existem duas formas de criar uma estrutura de repetição: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•"/>
            </a:pPr>
            <a:r>
              <a:rPr b="0" i="0" lang="pt-BR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 comando </a:t>
            </a:r>
            <a:r>
              <a:rPr b="1" i="0" lang="pt-BR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FOR</a:t>
            </a:r>
            <a:r>
              <a:rPr b="0" i="0" lang="pt-BR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 é usado quando se quer iterar sobre um bloco de código um número determinado de vezes.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•"/>
            </a:pPr>
            <a:r>
              <a:rPr b="0" i="0" lang="pt-BR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 comando </a:t>
            </a:r>
            <a:r>
              <a:rPr b="1" i="0" lang="pt-BR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WHILE</a:t>
            </a:r>
            <a:r>
              <a:rPr b="0" i="0" lang="pt-BR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é usado quando queremos que o bloco de código seja repetido até que uma condição seja satisfeita. Ou seja, é necessário que uma expressão booliana dada seja verdadeira. Assim que ela se tornar falsa, o </a:t>
            </a: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while</a:t>
            </a:r>
            <a:r>
              <a:rPr b="0" i="0" lang="pt-BR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 para.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"/>
          <p:cNvSpPr txBox="1"/>
          <p:nvPr>
            <p:ph idx="1" type="body"/>
          </p:nvPr>
        </p:nvSpPr>
        <p:spPr>
          <a:xfrm>
            <a:off x="348861" y="1065888"/>
            <a:ext cx="11478684" cy="5512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b="1" lang="pt-BR" sz="3600">
                <a:latin typeface="Calibri"/>
                <a:ea typeface="Calibri"/>
                <a:cs typeface="Calibri"/>
                <a:sym typeface="Calibri"/>
              </a:rPr>
              <a:t>Contador e Acumulador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None/>
            </a:pPr>
            <a:r>
              <a:rPr b="0" i="0"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 situações onde é necessário realizarmos contagens de ocorrências, ou somatórios de valores dentro de um conjunto de dados, devemos utilizar variáveis específicas para fazer o armazenamento dos resultados.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None/>
            </a:pPr>
            <a:r>
              <a:rPr b="0" i="0"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Chamamos de </a:t>
            </a:r>
            <a:r>
              <a:rPr b="1" i="0"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contadores</a:t>
            </a:r>
            <a:r>
              <a:rPr b="0" i="0"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para as variáveis que realizam a contagem de ocorrências de um determinado valor e de </a:t>
            </a:r>
            <a:r>
              <a:rPr b="1" i="0"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acumuladores</a:t>
            </a:r>
            <a:r>
              <a:rPr b="0" i="0"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para as variáveis responsáveis por armazenar os resultados de somatórios de valores.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None/>
            </a:pP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Ex. </a:t>
            </a:r>
            <a:r>
              <a:rPr b="1"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CONTADOR</a:t>
            </a: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      cont = cont + 1    </a:t>
            </a:r>
            <a:r>
              <a:rPr b="1"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cont+=1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None/>
            </a:pP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Ex. </a:t>
            </a:r>
            <a:r>
              <a:rPr b="1"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ACUMULADOR</a:t>
            </a: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      soma = soma + salario    </a:t>
            </a:r>
            <a:r>
              <a:rPr b="1"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 </a:t>
            </a: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total = total + idade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 txBox="1"/>
          <p:nvPr>
            <p:ph idx="12" type="sldNum"/>
          </p:nvPr>
        </p:nvSpPr>
        <p:spPr>
          <a:xfrm>
            <a:off x="11622251" y="0"/>
            <a:ext cx="5697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Estruturas de repetição – Laço While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800100" y="1296153"/>
            <a:ext cx="10368643" cy="24006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laço </a:t>
            </a:r>
            <a:r>
              <a:rPr b="1" i="1"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</a:t>
            </a:r>
            <a:r>
              <a:rPr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trecho de código da repetição está associado a uma condição.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Enquanto a condição tiver valor verdadeiro, o trecho é executado. Quando a condição passa a ter valor falso, a repetição termina.</a:t>
            </a:r>
            <a:endParaRPr/>
          </a:p>
        </p:txBody>
      </p:sp>
      <p:sp>
        <p:nvSpPr>
          <p:cNvPr id="208" name="Google Shape;208;p6"/>
          <p:cNvSpPr txBox="1"/>
          <p:nvPr/>
        </p:nvSpPr>
        <p:spPr>
          <a:xfrm>
            <a:off x="800100" y="3888963"/>
            <a:ext cx="3721895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while</a:t>
            </a: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</a:t>
            </a:r>
            <a:r>
              <a:rPr lang="pt-BR" sz="2800">
                <a:solidFill>
                  <a:srgbClr val="7F6000"/>
                </a:solidFill>
                <a:latin typeface="Calibri"/>
                <a:ea typeface="Calibri"/>
                <a:cs typeface="Calibri"/>
                <a:sym typeface="Calibri"/>
              </a:rPr>
              <a:t>condição</a:t>
            </a: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pt-BR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&lt;bloco de comandos&gt;</a:t>
            </a:r>
            <a:endParaRPr/>
          </a:p>
        </p:txBody>
      </p:sp>
      <p:pic>
        <p:nvPicPr>
          <p:cNvPr id="209" name="Google Shape;209;p6"/>
          <p:cNvPicPr preferRelativeResize="0"/>
          <p:nvPr/>
        </p:nvPicPr>
        <p:blipFill rotWithShape="1">
          <a:blip r:embed="rId3">
            <a:alphaModFix/>
          </a:blip>
          <a:srcRect b="2389" l="0" r="0" t="0"/>
          <a:stretch/>
        </p:blipFill>
        <p:spPr>
          <a:xfrm>
            <a:off x="5077842" y="4101545"/>
            <a:ext cx="5946828" cy="230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Estruturas de repetição – Laço While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2053" y="2210719"/>
            <a:ext cx="1000125" cy="3480438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7"/>
          <p:cNvSpPr txBox="1"/>
          <p:nvPr/>
        </p:nvSpPr>
        <p:spPr>
          <a:xfrm>
            <a:off x="1619229" y="2013626"/>
            <a:ext cx="6098582" cy="45550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b="1" lang="pt-BR" sz="2400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inicializar contador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2E75B5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pt-BR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pt-BR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pt-BR" sz="2800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b="1" lang="pt-BR" sz="2400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estrutura</a:t>
            </a:r>
            <a:r>
              <a:rPr b="1" lang="pt-BR" sz="2800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pt-BR" sz="2400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repeticao</a:t>
            </a:r>
            <a:endParaRPr b="1" sz="2800">
              <a:solidFill>
                <a:srgbClr val="92D05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1" lang="pt-BR" sz="2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pt-BR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pt-BR" sz="28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pt-BR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&lt;= 10)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print(</a:t>
            </a:r>
            <a:r>
              <a:rPr b="1" lang="pt-BR" sz="28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pt-BR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1" lang="pt-BR" sz="28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pt-BR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pt-BR" sz="2400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#incremento contador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92D05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 ("Fim programa")</a:t>
            </a:r>
            <a:br>
              <a:rPr b="1" lang="pt-BR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1"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6461760" y="3437525"/>
            <a:ext cx="1878767" cy="65956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Resultado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Estruturas de repetição – Laço for</a:t>
            </a:r>
            <a:endParaRPr/>
          </a:p>
        </p:txBody>
      </p:sp>
      <p:sp>
        <p:nvSpPr>
          <p:cNvPr id="223" name="Google Shape;223;p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678483" y="1226221"/>
            <a:ext cx="10368643" cy="24006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Ao invés de avaliar uma condição, como o </a:t>
            </a:r>
            <a:r>
              <a:rPr b="1" i="1"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</a:t>
            </a:r>
            <a:r>
              <a:rPr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 </a:t>
            </a:r>
            <a:r>
              <a:rPr b="1" i="1"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atribui valores a uma variável até que a lista deles acabe.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 ser utilizado com uma sequência numérica gerada com o comando </a:t>
            </a:r>
            <a:r>
              <a:rPr b="1" i="1"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range() </a:t>
            </a:r>
            <a:r>
              <a:rPr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 associado a uma lista.</a:t>
            </a:r>
            <a:endParaRPr/>
          </a:p>
        </p:txBody>
      </p:sp>
      <p:sp>
        <p:nvSpPr>
          <p:cNvPr id="225" name="Google Shape;225;p8"/>
          <p:cNvSpPr txBox="1"/>
          <p:nvPr/>
        </p:nvSpPr>
        <p:spPr>
          <a:xfrm>
            <a:off x="784707" y="3898464"/>
            <a:ext cx="6574153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pt-BR" sz="28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&lt;variável&gt; </a:t>
            </a:r>
            <a:r>
              <a:rPr lang="pt-BR" sz="28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pt-BR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range</a:t>
            </a: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(início, limite, passo):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pt-BR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&lt;bloco de comandos&gt;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pt-BR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8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&lt;variável&gt; </a:t>
            </a:r>
            <a:r>
              <a:rPr lang="pt-BR" sz="28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lang="pt-BR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&lt;lista&gt;: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  &lt;bloco de comandos&gt;</a:t>
            </a:r>
            <a:endParaRPr/>
          </a:p>
        </p:txBody>
      </p:sp>
      <p:pic>
        <p:nvPicPr>
          <p:cNvPr id="226" name="Google Shape;22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5541" y="4590870"/>
            <a:ext cx="4191585" cy="1352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A Função range()</a:t>
            </a:r>
            <a:endParaRPr/>
          </a:p>
        </p:txBody>
      </p:sp>
      <p:sp>
        <p:nvSpPr>
          <p:cNvPr id="232" name="Google Shape;232;p9"/>
          <p:cNvSpPr txBox="1"/>
          <p:nvPr/>
        </p:nvSpPr>
        <p:spPr>
          <a:xfrm>
            <a:off x="659396" y="1659285"/>
            <a:ext cx="10873208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 Python, a função </a:t>
            </a:r>
            <a:r>
              <a:rPr b="1" i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range()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gera uma sequência de números dentro de uma faixa especificada.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bastante comum a utilização dessa função em conjunto com a estrutura de repetição </a:t>
            </a: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de duas formas: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range(</a:t>
            </a:r>
            <a:r>
              <a:rPr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&lt;quantidade_de_números_a_serem_gerados&gt;</a:t>
            </a:r>
            <a:r>
              <a:rPr b="1"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range(</a:t>
            </a:r>
            <a:r>
              <a:rPr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&lt;início_da_faixa&gt;, &lt;fim_da_faixa&gt;,[&lt;incremento&gt;]</a:t>
            </a:r>
            <a:r>
              <a:rPr b="1"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A Função range()</a:t>
            </a:r>
            <a:endParaRPr/>
          </a:p>
        </p:txBody>
      </p:sp>
      <p:sp>
        <p:nvSpPr>
          <p:cNvPr id="238" name="Google Shape;238;p10"/>
          <p:cNvSpPr txBox="1"/>
          <p:nvPr/>
        </p:nvSpPr>
        <p:spPr>
          <a:xfrm>
            <a:off x="659396" y="1659285"/>
            <a:ext cx="10873208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 primeira maneira, a função </a:t>
            </a: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range()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recebe um parâmetro o qual indica a quantidade </a:t>
            </a: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números a serem gerados, onde </a:t>
            </a: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deve ser </a:t>
            </a: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maior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</a:t>
            </a: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Para ficar claro como se dá a execução da primeira maneira, apresentaremos um exemplo utilizando uma lista, assunto que será abordado em aulas seguintes. Veja: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print(list(</a:t>
            </a:r>
            <a:r>
              <a:rPr b="1"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range(3)</a:t>
            </a:r>
            <a:r>
              <a:rPr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))		#Saída: [0, 1, 2]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saída dessa instrução é uma lista contendo 3 números: </a:t>
            </a: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detalhe importante é que o primeiro número da sequência gerada é o 0 e o último é o 2. Portanto, a instrução </a:t>
            </a: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range(N)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gera uma lista com </a:t>
            </a: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números, onde o primeiro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número é </a:t>
            </a: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o último é </a:t>
            </a: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– 1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A Função range()</a:t>
            </a:r>
            <a:endParaRPr/>
          </a:p>
        </p:txBody>
      </p:sp>
      <p:sp>
        <p:nvSpPr>
          <p:cNvPr id="244" name="Google Shape;244;p11"/>
          <p:cNvSpPr txBox="1"/>
          <p:nvPr/>
        </p:nvSpPr>
        <p:spPr>
          <a:xfrm>
            <a:off x="659396" y="1659285"/>
            <a:ext cx="10873208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outro lado, a segunda maneira de executar a função </a:t>
            </a: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range()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possui três parâmetros distintos: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&lt;início_da_faixa&gt;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&lt;fim_da_faixa&gt;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&lt;incremento&gt;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(opcional).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&lt;início_da_faixa&gt;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determina o primeiro número que deve ser gerado na faixa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&lt;incremento&gt; 	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indica a razão (positiva ou negativa) da PA e, quando não 				especificado, seu valor padrão é 1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&lt;fim_da_faixa&gt;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está associado à razão da sequência</a:t>
            </a:r>
            <a:endParaRPr b="1"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A Função range()</a:t>
            </a:r>
            <a:endParaRPr/>
          </a:p>
        </p:txBody>
      </p:sp>
      <p:sp>
        <p:nvSpPr>
          <p:cNvPr id="250" name="Google Shape;250;p12"/>
          <p:cNvSpPr txBox="1"/>
          <p:nvPr/>
        </p:nvSpPr>
        <p:spPr>
          <a:xfrm>
            <a:off x="659396" y="1659285"/>
            <a:ext cx="10873208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print(list(range(10, 16)))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#Incremento = 1: [10, 11, 12, 13, 14, 15]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print(list(range(10, 16, 2)))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#Incremento = 2: [10, 12, 14]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print(list(range(16, 10, -1)))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#Incremento = -1: [16, 15, 14, 13, 12, 11]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print(list(range(16, 10, -2)))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#Incremento = -2: [16, 14, 12]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Quando </a:t>
            </a: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&lt;incremento&gt;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b="1" i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positivo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&lt;início_da_faixa&gt;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b="1" i="1" lang="pt-B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menor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</a:t>
            </a: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&lt;fim_da_faixa&gt;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No entanto, quando </a:t>
            </a: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&lt;incremento&gt;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b="1" i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negativo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&lt;início_da_faixa&gt;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b="1" i="1" lang="pt-B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maior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</a:t>
            </a: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&lt;fim_da_faixa&gt;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Exemplos de uso do Laço for</a:t>
            </a:r>
            <a:endParaRPr/>
          </a:p>
        </p:txBody>
      </p:sp>
      <p:pic>
        <p:nvPicPr>
          <p:cNvPr id="256" name="Google Shape;2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485" y="5094982"/>
            <a:ext cx="7031691" cy="1651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475" y="1471625"/>
            <a:ext cx="4635734" cy="1447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5475" y="3128632"/>
            <a:ext cx="7641011" cy="1651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Exemplos de uso do Laço for</a:t>
            </a:r>
            <a:endParaRPr/>
          </a:p>
        </p:txBody>
      </p:sp>
      <p:pic>
        <p:nvPicPr>
          <p:cNvPr id="264" name="Google Shape;26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512" y="2138349"/>
            <a:ext cx="3843338" cy="1512133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4"/>
          <p:cNvSpPr txBox="1"/>
          <p:nvPr/>
        </p:nvSpPr>
        <p:spPr>
          <a:xfrm>
            <a:off x="577512" y="1633928"/>
            <a:ext cx="384938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Exibir os valores de uma lista.</a:t>
            </a:r>
            <a:endParaRPr/>
          </a:p>
        </p:txBody>
      </p:sp>
      <p:pic>
        <p:nvPicPr>
          <p:cNvPr id="266" name="Google Shape;26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090" y="4673423"/>
            <a:ext cx="11385173" cy="1246416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4"/>
          <p:cNvSpPr txBox="1"/>
          <p:nvPr/>
        </p:nvSpPr>
        <p:spPr>
          <a:xfrm>
            <a:off x="471119" y="4244131"/>
            <a:ext cx="60935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>
                <a:solidFill>
                  <a:srgbClr val="404040"/>
                </a:solidFill>
                <a:latin typeface="Lato"/>
                <a:ea typeface="Lato"/>
                <a:cs typeface="Lato"/>
                <a:sym typeface="Lato"/>
              </a:rPr>
              <a:t>Em dicionários podemos fazer assim: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Estruturas de repetição – Laço for</a:t>
            </a:r>
            <a:endParaRPr/>
          </a:p>
        </p:txBody>
      </p:sp>
      <p:sp>
        <p:nvSpPr>
          <p:cNvPr id="273" name="Google Shape;273;p15"/>
          <p:cNvSpPr txBox="1"/>
          <p:nvPr/>
        </p:nvSpPr>
        <p:spPr>
          <a:xfrm>
            <a:off x="712923" y="1700888"/>
            <a:ext cx="10678978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pt-BR" sz="24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pt-BR" sz="24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pt-BR" sz="24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"Digite a quantidade de números: "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soma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pt-BR" sz="24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1" sz="24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pt-BR" sz="24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pt-BR" sz="24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cont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pt-BR" sz="24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pt-BR" sz="24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pt-BR" sz="2400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1" lang="pt-BR" sz="24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pt-BR" sz="24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pt-BR" sz="24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pt-BR" sz="24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"Digite um número: "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1" lang="pt-BR" sz="24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soma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+= </a:t>
            </a:r>
            <a:r>
              <a:rPr b="1" lang="pt-BR" sz="24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num</a:t>
            </a:r>
            <a:endParaRPr b="1" sz="24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media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pt-BR" sz="24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soma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/ </a:t>
            </a:r>
            <a:r>
              <a:rPr b="1" lang="pt-BR" sz="2400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pt-BR" sz="24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"Média= ", </a:t>
            </a:r>
            <a:r>
              <a:rPr b="1" lang="pt-BR" sz="2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pt-BR" sz="24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media</a:t>
            </a:r>
            <a:r>
              <a:rPr b="1" lang="pt-BR" sz="2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:.2f}</a:t>
            </a:r>
            <a:r>
              <a:rPr b="1" lang="pt-BR" sz="24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6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Desvios Incondicionais </a:t>
            </a:r>
            <a:endParaRPr/>
          </a:p>
        </p:txBody>
      </p:sp>
      <p:pic>
        <p:nvPicPr>
          <p:cNvPr id="279" name="Google Shape;2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309" y="1557727"/>
            <a:ext cx="10738546" cy="239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0115" y="5000481"/>
            <a:ext cx="6151645" cy="1546408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6"/>
          <p:cNvSpPr txBox="1"/>
          <p:nvPr/>
        </p:nvSpPr>
        <p:spPr>
          <a:xfrm>
            <a:off x="249678" y="4542021"/>
            <a:ext cx="63221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Exemplo:  Digitar uma palavra...até que opção SAIR seja escolhida.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7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Desvio Incondicional -  Break  </a:t>
            </a:r>
            <a:endParaRPr/>
          </a:p>
        </p:txBody>
      </p:sp>
      <p:sp>
        <p:nvSpPr>
          <p:cNvPr id="287" name="Google Shape;287;p17"/>
          <p:cNvSpPr txBox="1"/>
          <p:nvPr/>
        </p:nvSpPr>
        <p:spPr>
          <a:xfrm>
            <a:off x="1025795" y="1490620"/>
            <a:ext cx="9544050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b="1" lang="pt-BR" sz="3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break</a:t>
            </a:r>
            <a:r>
              <a:rPr b="1"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serve para forçar uma saída do laço de repetição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pt-BR" sz="24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"*** Operação de divisão ***"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pt-BR" sz="2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1" lang="pt-BR" sz="24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n1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pt-BR" sz="24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pt-BR" sz="24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pt-BR" sz="24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"Informe o primeiro número: "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1" lang="pt-BR" sz="24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n2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pt-BR" sz="24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pt-BR" sz="24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pt-BR" sz="24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"Informe o segundo número: "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1" lang="pt-BR" sz="24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pt-BR" sz="24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n2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b="1" lang="pt-BR" sz="24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1" lang="pt-BR" sz="24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pt-BR" sz="24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"Divisor = 0.</a:t>
            </a:r>
            <a:r>
              <a:rPr b="1" lang="pt-BR" sz="2400">
                <a:solidFill>
                  <a:srgbClr val="D7BA7D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b="1" lang="pt-BR" sz="24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Programa encerrado..."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1" lang="pt-BR" sz="24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endParaRPr b="1" sz="24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1" lang="pt-BR" sz="24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pt-BR" sz="2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b="1" lang="pt-BR" sz="24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pt-BR" sz="2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pt-BR" sz="24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n1</a:t>
            </a:r>
            <a:r>
              <a:rPr b="1" lang="pt-BR" sz="2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1" lang="pt-BR" sz="24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/ </a:t>
            </a:r>
            <a:r>
              <a:rPr b="1" lang="pt-BR" sz="2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pt-BR" sz="24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n2</a:t>
            </a:r>
            <a:r>
              <a:rPr b="1" lang="pt-BR" sz="2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1" lang="pt-BR" sz="24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pt-BR" sz="2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pt-BR" sz="24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n1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lang="pt-BR" sz="24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n2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1" lang="pt-BR" sz="2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:.2f}</a:t>
            </a:r>
            <a:r>
              <a:rPr b="1" lang="pt-BR" sz="24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pt-BR" sz="24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"*** Fim da operação de divisão ***"</a:t>
            </a:r>
            <a:r>
              <a:rPr b="1"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8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Desvio Incondicional - Continue  </a:t>
            </a:r>
            <a:endParaRPr/>
          </a:p>
        </p:txBody>
      </p:sp>
      <p:sp>
        <p:nvSpPr>
          <p:cNvPr id="293" name="Google Shape;293;p18"/>
          <p:cNvSpPr txBox="1"/>
          <p:nvPr/>
        </p:nvSpPr>
        <p:spPr>
          <a:xfrm>
            <a:off x="1023257" y="1444308"/>
            <a:ext cx="10368643" cy="4493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pt-BR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continue</a:t>
            </a: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serve para, a partir do momento que é atingindo, pular para a próxima iteração do laço, ignorando os procedimentos abaixo dele. O exemplo a seguir exibe apenas números ímpares.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		num</a:t>
            </a:r>
            <a:r>
              <a:rPr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pt-BR" sz="24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br>
              <a:rPr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lang="pt-BR" sz="24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24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pt-BR" sz="24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			</a:t>
            </a:r>
            <a:r>
              <a:rPr lang="pt-BR" sz="24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+= </a:t>
            </a:r>
            <a:r>
              <a:rPr lang="pt-BR" sz="24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24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			</a:t>
            </a:r>
            <a:r>
              <a:rPr lang="pt-BR" sz="24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24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% </a:t>
            </a:r>
            <a:r>
              <a:rPr lang="pt-BR" sz="24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lang="pt-BR" sz="24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			</a:t>
            </a:r>
            <a:r>
              <a:rPr lang="pt-BR" sz="24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continue</a:t>
            </a:r>
            <a:endParaRPr sz="24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			</a:t>
            </a:r>
            <a:r>
              <a:rPr lang="pt-BR" sz="24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24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lang="pt-BR" sz="24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24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'Acabou!'</a:t>
            </a:r>
            <a:r>
              <a:rPr lang="pt-BR" sz="24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 sz="3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9"/>
          <p:cNvSpPr txBox="1"/>
          <p:nvPr>
            <p:ph type="title"/>
          </p:nvPr>
        </p:nvSpPr>
        <p:spPr>
          <a:xfrm>
            <a:off x="641138" y="182562"/>
            <a:ext cx="9285218" cy="6015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Exercícios com Repetição</a:t>
            </a:r>
            <a:endParaRPr/>
          </a:p>
        </p:txBody>
      </p:sp>
      <p:sp>
        <p:nvSpPr>
          <p:cNvPr id="299" name="Google Shape;299;p19"/>
          <p:cNvSpPr txBox="1"/>
          <p:nvPr>
            <p:ph idx="12" type="sldNum"/>
          </p:nvPr>
        </p:nvSpPr>
        <p:spPr>
          <a:xfrm>
            <a:off x="11622251" y="0"/>
            <a:ext cx="5697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00" name="Google Shape;300;p19"/>
          <p:cNvSpPr txBox="1"/>
          <p:nvPr/>
        </p:nvSpPr>
        <p:spPr>
          <a:xfrm>
            <a:off x="641138" y="1640547"/>
            <a:ext cx="10676436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1) Escrever um programa que imprima a tabuada de um número informado pelo usuário.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2) Escrever um programa que leia 10 números inteiros e, ao final, apresente a soma de todos os números lidos.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3) Escreva um programa que leia 10 valores inteiros e encontre o maior e o menor deles.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4) Escreva um programa que lido um número, calcule e informe o seu fatorial.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Exemplo: 5! = 5 * 4 * 3 * 2 * 1 = 120.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0"/>
          <p:cNvSpPr txBox="1"/>
          <p:nvPr/>
        </p:nvSpPr>
        <p:spPr>
          <a:xfrm>
            <a:off x="659396" y="1659285"/>
            <a:ext cx="10873208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5) Desenvolva um script Python que lê vários números positivos via teclado. Quando o número lido for -1, o script deve parar e exibir a soma de todos os números positivos inseridos, a média desses números, o menor e o maior número digitado.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0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Praticando com o Python...</a:t>
            </a:r>
            <a:endParaRPr/>
          </a:p>
        </p:txBody>
      </p:sp>
      <p:sp>
        <p:nvSpPr>
          <p:cNvPr id="307" name="Google Shape;307;p20"/>
          <p:cNvSpPr txBox="1"/>
          <p:nvPr/>
        </p:nvSpPr>
        <p:spPr>
          <a:xfrm>
            <a:off x="659396" y="3038380"/>
            <a:ext cx="10873208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6) Elabore um programa que leia um número inteiro e indique se o número é primo ou não. Lembrando que os números primos são divisíveis somente por 1 e por ele mesmo. No entanto, o número 1 não é primo.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7) Para construir o programa a seguir, considere que os usuários só informarão números inteiros positivos. Crie um programa que receba 10 números digitados e exiba todos os números pares e ímpares.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1"/>
          <p:cNvSpPr txBox="1"/>
          <p:nvPr>
            <p:ph idx="12" type="sldNum"/>
          </p:nvPr>
        </p:nvSpPr>
        <p:spPr>
          <a:xfrm>
            <a:off x="11622251" y="0"/>
            <a:ext cx="5697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13" name="Google Shape;313;p21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Praticando com o Python...</a:t>
            </a:r>
            <a:endParaRPr/>
          </a:p>
        </p:txBody>
      </p:sp>
      <p:sp>
        <p:nvSpPr>
          <p:cNvPr id="314" name="Google Shape;314;p21"/>
          <p:cNvSpPr txBox="1"/>
          <p:nvPr/>
        </p:nvSpPr>
        <p:spPr>
          <a:xfrm>
            <a:off x="633512" y="1321925"/>
            <a:ext cx="11103786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8) Para construir o programa a seguir, considere que os usuários só informarão números inteiros positivos. Crie um programa que receba 10 números digitados e exiba todos os números pares e ímpares.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9) Faça um programa que peça nome e nota do aluno (entre zero e dez). Mostre uma mensagem caso o valor nota seja inválido e continue pedindo até que o usuário informe um valor válido.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2"/>
          <p:cNvSpPr txBox="1"/>
          <p:nvPr>
            <p:ph idx="12" type="sldNum"/>
          </p:nvPr>
        </p:nvSpPr>
        <p:spPr>
          <a:xfrm>
            <a:off x="11622251" y="0"/>
            <a:ext cx="5697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20" name="Google Shape;320;p22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Praticando com o Python...</a:t>
            </a:r>
            <a:endParaRPr/>
          </a:p>
        </p:txBody>
      </p:sp>
      <p:sp>
        <p:nvSpPr>
          <p:cNvPr id="321" name="Google Shape;321;p22"/>
          <p:cNvSpPr txBox="1"/>
          <p:nvPr/>
        </p:nvSpPr>
        <p:spPr>
          <a:xfrm>
            <a:off x="633512" y="1321925"/>
            <a:ext cx="11103786" cy="3600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10)</a:t>
            </a:r>
            <a:r>
              <a:rPr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Faça um programa que leia um nome de usuário e a sua senha e não aceite a senha igual ao nome do usuário, mostrando uma mensagem de erro e voltando a pedir as informações.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11) Faça um programa que leia e valide as seguintes informações: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Nome: maior que 3 caracteres;       Idade: entre 0 e 100;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Salário: maior que zero;                    Sexo: ‘F' ou ‘M';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Estado Civil: ‘S', ‘C’, ‘V', ‘D';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3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Praticando com o Python...</a:t>
            </a:r>
            <a:endParaRPr/>
          </a:p>
        </p:txBody>
      </p:sp>
      <p:sp>
        <p:nvSpPr>
          <p:cNvPr id="327" name="Google Shape;327;p23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3"/>
          <p:cNvSpPr txBox="1"/>
          <p:nvPr/>
        </p:nvSpPr>
        <p:spPr>
          <a:xfrm>
            <a:off x="911678" y="1375423"/>
            <a:ext cx="10368643" cy="4985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12) Faça um programa que apresente um menu de opções para o cálculo das seguintes operações entre dois números: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7" marL="32004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adição (opção 1) </a:t>
            </a:r>
            <a:endParaRPr/>
          </a:p>
          <a:p>
            <a:pPr indent="0" lvl="7" marL="32004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subtração (opção 2) </a:t>
            </a:r>
            <a:endParaRPr/>
          </a:p>
          <a:p>
            <a:pPr indent="0" lvl="7" marL="32004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multiplicação (opção 3) </a:t>
            </a:r>
            <a:endParaRPr/>
          </a:p>
          <a:p>
            <a:pPr indent="0" lvl="7" marL="32004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divisão (opção 4)</a:t>
            </a:r>
            <a:endParaRPr/>
          </a:p>
          <a:p>
            <a:pPr indent="0" lvl="7" marL="32004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saída (opção 5)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programa deve possibilitar ao usuário a escolha da operação desejada, a exibição do resultado e a volta ao menu de opções. O programa somente termina quando for escolhida a opção de saída (opção 5).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4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Praticando com o Python...</a:t>
            </a:r>
            <a:endParaRPr/>
          </a:p>
        </p:txBody>
      </p:sp>
      <p:sp>
        <p:nvSpPr>
          <p:cNvPr id="334" name="Google Shape;334;p24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4"/>
          <p:cNvSpPr txBox="1"/>
          <p:nvPr/>
        </p:nvSpPr>
        <p:spPr>
          <a:xfrm>
            <a:off x="800100" y="1543872"/>
            <a:ext cx="10368643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13) Uma empresa, que presta serviço à companhia de energia elétrica do estado, necessita de um programa que auxilie os seus eletricistas no cálculo das principais grandezas da eletricidade que são: Tensão, Resistência e Corrente. Sabe-se que U=Ri, onde, U é a Tensão (em V), R é a Resistência (em Ώ) e i a Corrente (em A).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Você foi contratado(a) pela empresa para atender a essa solicitação. Construa um programa que apresente o seguinte menu: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5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Praticando com o Python...</a:t>
            </a:r>
            <a:endParaRPr/>
          </a:p>
        </p:txBody>
      </p:sp>
      <p:sp>
        <p:nvSpPr>
          <p:cNvPr id="341" name="Google Shape;341;p25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5"/>
          <p:cNvSpPr txBox="1"/>
          <p:nvPr/>
        </p:nvSpPr>
        <p:spPr>
          <a:xfrm>
            <a:off x="800100" y="1720840"/>
            <a:ext cx="10368643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************************************************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CÁLCULO DE GRANDEZAS ELÉTRICAS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************************************************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Tensão (em Volt)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Resistência (em Ohm)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Corrente (em Ampére)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************************************************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 grandeza deseja calcular?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6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Praticando com o Python...</a:t>
            </a:r>
            <a:endParaRPr/>
          </a:p>
        </p:txBody>
      </p:sp>
      <p:sp>
        <p:nvSpPr>
          <p:cNvPr id="348" name="Google Shape;348;p26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6"/>
          <p:cNvSpPr txBox="1"/>
          <p:nvPr/>
        </p:nvSpPr>
        <p:spPr>
          <a:xfrm>
            <a:off x="800100" y="1676046"/>
            <a:ext cx="10368600" cy="30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 seguida, o programa deve solicitar que o eletricista informe o valor das outras duas grandezas para realizar o cálculo. Quando o eletricista escolher: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</a:t>
            </a:r>
            <a:r>
              <a:rPr b="1"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Tensão</a:t>
            </a: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 programa deve solicitar que ele informe os valores da Resistência e da Corrente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</a:t>
            </a:r>
            <a:r>
              <a:rPr b="1"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Resistência</a:t>
            </a: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 programa deve solicitar que ele informe os valores da Tensão e da Corrente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</a:t>
            </a:r>
            <a:r>
              <a:rPr b="1"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Corrente</a:t>
            </a: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 programa deve solicitar que ele informe os valores da Tensão e da Resistência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fim, o programa deve calcular e apresentar o valor encontrado para a grandeza escolhida.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m para Obrigado" id="355" name="Google Shape;35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6014" y="1691721"/>
            <a:ext cx="5827052" cy="3858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2019-07-27T22:06:45Z</dcterms:created>
  <dc:creator>Vagner Da Silva Rodrigues</dc:creator>
</cp:coreProperties>
</file>